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9695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9A84C"/>
          </a:solidFill>
          <a:ln w="12700">
            <a:solidFill>
              <a:srgbClr val="C9A84C"/>
            </a:solidFill>
            <a:prstDash val="solid"/>
          </a:ln>
        </p:spPr>
      </p:sp>
      <p:sp>
        <p:nvSpPr>
          <p:cNvPr id="3" name="Shape 1"/>
          <p:cNvSpPr/>
          <p:nvPr/>
        </p:nvSpPr>
        <p:spPr>
          <a:xfrm>
            <a:off x="8046720" y="0"/>
            <a:ext cx="4114800" cy="6858000"/>
          </a:xfrm>
          <a:prstGeom prst="rect">
            <a:avLst/>
          </a:prstGeom>
          <a:solidFill>
            <a:srgbClr val="0F2855"/>
          </a:solidFill>
          <a:ln w="12700">
            <a:solidFill>
              <a:srgbClr val="0F2855"/>
            </a:solidFill>
            <a:prstDash val="solid"/>
          </a:ln>
        </p:spPr>
      </p:sp>
      <p:sp>
        <p:nvSpPr>
          <p:cNvPr id="4" name="Shape 2"/>
          <p:cNvSpPr/>
          <p:nvPr/>
        </p:nvSpPr>
        <p:spPr>
          <a:xfrm>
            <a:off x="8412480" y="0"/>
            <a:ext cx="54864" cy="6858000"/>
          </a:xfrm>
          <a:prstGeom prst="rect">
            <a:avLst/>
          </a:prstGeom>
          <a:solidFill>
            <a:srgbClr val="C9A84C"/>
          </a:solidFill>
          <a:ln w="12700">
            <a:solidFill>
              <a:srgbClr val="C9A84C"/>
            </a:solidFill>
            <a:prstDash val="solid"/>
          </a:ln>
        </p:spPr>
      </p:sp>
      <p:pic>
        <p:nvPicPr>
          <p:cNvPr id="5" name="Image 0" descr="preencoded.png"/>
          <p:cNvPicPr>
            <a:picLocks noChangeAspect="1"/>
          </p:cNvPicPr>
          <p:nvPr/>
        </p:nvPicPr>
        <p:blipFill>
          <a:blip r:embed="rId3"/>
          <a:stretch>
            <a:fillRect/>
          </a:stretch>
        </p:blipFill>
        <p:spPr>
          <a:xfrm>
            <a:off x="8686800" y="1234440"/>
            <a:ext cx="2979868" cy="3017520"/>
          </a:xfrm>
          <a:prstGeom prst="ellipse">
            <a:avLst/>
          </a:prstGeom>
        </p:spPr>
      </p:pic>
      <p:sp>
        <p:nvSpPr>
          <p:cNvPr id="6" name="Text 3"/>
          <p:cNvSpPr/>
          <p:nvPr/>
        </p:nvSpPr>
        <p:spPr>
          <a:xfrm>
            <a:off x="914400" y="914400"/>
            <a:ext cx="6858000" cy="822960"/>
          </a:xfrm>
          <a:prstGeom prst="rect">
            <a:avLst/>
          </a:prstGeom>
          <a:noFill/>
          <a:ln/>
        </p:spPr>
        <p:txBody>
          <a:bodyPr wrap="square" lIns="0" tIns="0" rIns="0" bIns="0" rtlCol="0" anchor="ctr"/>
          <a:lstStyle/>
          <a:p>
            <a:pPr marL="0" indent="0">
              <a:buNone/>
            </a:pPr>
            <a:r>
              <a:rPr lang="en-US" sz="6000" b="1" kern="0" spc="1400" dirty="0">
                <a:solidFill>
                  <a:srgbClr val="FFFFFF"/>
                </a:solidFill>
                <a:latin typeface="Calibri" pitchFamily="34" charset="0"/>
                <a:ea typeface="Calibri" pitchFamily="34" charset="-122"/>
                <a:cs typeface="Calibri" pitchFamily="34" charset="-120"/>
              </a:rPr>
              <a:t>LUXE</a:t>
            </a:r>
            <a:endParaRPr lang="en-US" sz="6000" dirty="0"/>
          </a:p>
        </p:txBody>
      </p:sp>
      <p:sp>
        <p:nvSpPr>
          <p:cNvPr id="7" name="Text 4"/>
          <p:cNvSpPr/>
          <p:nvPr/>
        </p:nvSpPr>
        <p:spPr>
          <a:xfrm>
            <a:off x="914400" y="1737360"/>
            <a:ext cx="7498080" cy="822960"/>
          </a:xfrm>
          <a:prstGeom prst="rect">
            <a:avLst/>
          </a:prstGeom>
          <a:noFill/>
          <a:ln/>
        </p:spPr>
        <p:txBody>
          <a:bodyPr wrap="square" lIns="0" tIns="0" rIns="0" bIns="0" rtlCol="0" anchor="ctr"/>
          <a:lstStyle/>
          <a:p>
            <a:pPr marL="0" indent="0">
              <a:buNone/>
            </a:pPr>
            <a:r>
              <a:rPr lang="en-US" sz="5600" b="1" kern="0" spc="800" dirty="0">
                <a:solidFill>
                  <a:srgbClr val="C9A84C"/>
                </a:solidFill>
                <a:latin typeface="Calibri" pitchFamily="34" charset="0"/>
                <a:ea typeface="Calibri" pitchFamily="34" charset="-122"/>
                <a:cs typeface="Calibri" pitchFamily="34" charset="-120"/>
              </a:rPr>
              <a:t>INTELLIGENCE</a:t>
            </a:r>
            <a:endParaRPr lang="en-US" sz="5600" dirty="0"/>
          </a:p>
        </p:txBody>
      </p:sp>
      <p:sp>
        <p:nvSpPr>
          <p:cNvPr id="8" name="Shape 5"/>
          <p:cNvSpPr/>
          <p:nvPr/>
        </p:nvSpPr>
        <p:spPr>
          <a:xfrm>
            <a:off x="914400" y="2633472"/>
            <a:ext cx="5486400" cy="45720"/>
          </a:xfrm>
          <a:prstGeom prst="rect">
            <a:avLst/>
          </a:prstGeom>
          <a:solidFill>
            <a:srgbClr val="C9A84C"/>
          </a:solidFill>
          <a:ln w="12700">
            <a:solidFill>
              <a:srgbClr val="C9A84C"/>
            </a:solidFill>
            <a:prstDash val="solid"/>
          </a:ln>
        </p:spPr>
      </p:sp>
      <p:sp>
        <p:nvSpPr>
          <p:cNvPr id="9" name="Text 6"/>
          <p:cNvSpPr/>
          <p:nvPr/>
        </p:nvSpPr>
        <p:spPr>
          <a:xfrm>
            <a:off x="914400" y="2743200"/>
            <a:ext cx="6858000" cy="420624"/>
          </a:xfrm>
          <a:prstGeom prst="rect">
            <a:avLst/>
          </a:prstGeom>
          <a:noFill/>
          <a:ln/>
        </p:spPr>
        <p:txBody>
          <a:bodyPr wrap="square" lIns="0" tIns="0" rIns="0" bIns="0" rtlCol="0" anchor="ctr"/>
          <a:lstStyle/>
          <a:p>
            <a:pPr marL="0" indent="0">
              <a:buNone/>
            </a:pPr>
            <a:r>
              <a:rPr lang="en-US" sz="1900" dirty="0">
                <a:solidFill>
                  <a:srgbClr val="CADCFC"/>
                </a:solidFill>
                <a:latin typeface="Calibri" pitchFamily="34" charset="0"/>
                <a:ea typeface="Calibri" pitchFamily="34" charset="-122"/>
                <a:cs typeface="Calibri" pitchFamily="34" charset="-120"/>
              </a:rPr>
              <a:t>End-to-End Analytics &amp; AI Ecosystem</a:t>
            </a:r>
            <a:endParaRPr lang="en-US" sz="1900" dirty="0"/>
          </a:p>
        </p:txBody>
      </p:sp>
      <p:sp>
        <p:nvSpPr>
          <p:cNvPr id="10" name="Text 7"/>
          <p:cNvSpPr/>
          <p:nvPr/>
        </p:nvSpPr>
        <p:spPr>
          <a:xfrm>
            <a:off x="914400" y="3218688"/>
            <a:ext cx="6858000" cy="329184"/>
          </a:xfrm>
          <a:prstGeom prst="rect">
            <a:avLst/>
          </a:prstGeom>
          <a:noFill/>
          <a:ln/>
        </p:spPr>
        <p:txBody>
          <a:bodyPr wrap="square" lIns="0" tIns="0" rIns="0" bIns="0" rtlCol="0" anchor="ctr"/>
          <a:lstStyle/>
          <a:p>
            <a:pPr marL="0" indent="0">
              <a:buNone/>
            </a:pPr>
            <a:r>
              <a:rPr lang="en-US" sz="1300" dirty="0">
                <a:solidFill>
                  <a:srgbClr val="8A9AB5"/>
                </a:solidFill>
                <a:latin typeface="Calibri" pitchFamily="34" charset="0"/>
                <a:ea typeface="Calibri" pitchFamily="34" charset="-122"/>
                <a:cs typeface="Calibri" pitchFamily="34" charset="-120"/>
              </a:rPr>
              <a:t>F. Schumacher &amp; Co.  ·  Trade Analytics  ·  Full Year 2025</a:t>
            </a:r>
            <a:endParaRPr lang="en-US" sz="1300" dirty="0"/>
          </a:p>
        </p:txBody>
      </p:sp>
      <p:sp>
        <p:nvSpPr>
          <p:cNvPr id="11" name="Shape 8"/>
          <p:cNvSpPr/>
          <p:nvPr/>
        </p:nvSpPr>
        <p:spPr>
          <a:xfrm>
            <a:off x="914400" y="4663440"/>
            <a:ext cx="1920240" cy="914400"/>
          </a:xfrm>
          <a:prstGeom prst="rect">
            <a:avLst/>
          </a:prstGeom>
          <a:solidFill>
            <a:srgbClr val="132445"/>
          </a:solidFill>
          <a:ln w="6350">
            <a:solidFill>
              <a:srgbClr val="C9A84C"/>
            </a:solidFill>
            <a:prstDash val="solid"/>
          </a:ln>
        </p:spPr>
      </p:sp>
      <p:sp>
        <p:nvSpPr>
          <p:cNvPr id="12" name="Text 9"/>
          <p:cNvSpPr/>
          <p:nvPr/>
        </p:nvSpPr>
        <p:spPr>
          <a:xfrm>
            <a:off x="914400" y="4736592"/>
            <a:ext cx="1920240" cy="420624"/>
          </a:xfrm>
          <a:prstGeom prst="rect">
            <a:avLst/>
          </a:prstGeom>
          <a:noFill/>
          <a:ln/>
        </p:spPr>
        <p:txBody>
          <a:bodyPr wrap="square" lIns="0" tIns="0" rIns="0" bIns="0" rtlCol="0" anchor="ctr"/>
          <a:lstStyle/>
          <a:p>
            <a:pPr marL="0" indent="0" algn="ctr">
              <a:buNone/>
            </a:pPr>
            <a:r>
              <a:rPr lang="en-US" sz="2000" b="1" dirty="0">
                <a:solidFill>
                  <a:srgbClr val="C9A84C"/>
                </a:solidFill>
                <a:latin typeface="Calibri" pitchFamily="34" charset="0"/>
                <a:ea typeface="Calibri" pitchFamily="34" charset="-122"/>
                <a:cs typeface="Calibri" pitchFamily="34" charset="-120"/>
              </a:rPr>
              <a:t>1,983,549</a:t>
            </a:r>
            <a:endParaRPr lang="en-US" sz="2000" dirty="0"/>
          </a:p>
        </p:txBody>
      </p:sp>
      <p:sp>
        <p:nvSpPr>
          <p:cNvPr id="13" name="Text 10"/>
          <p:cNvSpPr/>
          <p:nvPr/>
        </p:nvSpPr>
        <p:spPr>
          <a:xfrm>
            <a:off x="914400" y="5157216"/>
            <a:ext cx="1920240" cy="274320"/>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Total Transactions</a:t>
            </a:r>
            <a:endParaRPr lang="en-US" sz="900" dirty="0"/>
          </a:p>
        </p:txBody>
      </p:sp>
      <p:sp>
        <p:nvSpPr>
          <p:cNvPr id="14" name="Shape 11"/>
          <p:cNvSpPr/>
          <p:nvPr/>
        </p:nvSpPr>
        <p:spPr>
          <a:xfrm>
            <a:off x="3017520" y="4663440"/>
            <a:ext cx="1920240" cy="914400"/>
          </a:xfrm>
          <a:prstGeom prst="rect">
            <a:avLst/>
          </a:prstGeom>
          <a:solidFill>
            <a:srgbClr val="132445"/>
          </a:solidFill>
          <a:ln w="6350">
            <a:solidFill>
              <a:srgbClr val="C9A84C"/>
            </a:solidFill>
            <a:prstDash val="solid"/>
          </a:ln>
        </p:spPr>
      </p:sp>
      <p:sp>
        <p:nvSpPr>
          <p:cNvPr id="15" name="Text 12"/>
          <p:cNvSpPr/>
          <p:nvPr/>
        </p:nvSpPr>
        <p:spPr>
          <a:xfrm>
            <a:off x="3017520" y="4736592"/>
            <a:ext cx="1920240" cy="420624"/>
          </a:xfrm>
          <a:prstGeom prst="rect">
            <a:avLst/>
          </a:prstGeom>
          <a:noFill/>
          <a:ln/>
        </p:spPr>
        <p:txBody>
          <a:bodyPr wrap="square" lIns="0" tIns="0" rIns="0" bIns="0" rtlCol="0" anchor="ctr"/>
          <a:lstStyle/>
          <a:p>
            <a:pPr marL="0" indent="0" algn="ctr">
              <a:buNone/>
            </a:pPr>
            <a:r>
              <a:rPr lang="en-US" sz="2000" b="1" dirty="0">
                <a:solidFill>
                  <a:srgbClr val="C9A84C"/>
                </a:solidFill>
                <a:latin typeface="Calibri" pitchFamily="34" charset="0"/>
                <a:ea typeface="Calibri" pitchFamily="34" charset="-122"/>
                <a:cs typeface="Calibri" pitchFamily="34" charset="-120"/>
              </a:rPr>
              <a:t>27,374</a:t>
            </a:r>
            <a:endParaRPr lang="en-US" sz="2000" dirty="0"/>
          </a:p>
        </p:txBody>
      </p:sp>
      <p:sp>
        <p:nvSpPr>
          <p:cNvPr id="16" name="Text 13"/>
          <p:cNvSpPr/>
          <p:nvPr/>
        </p:nvSpPr>
        <p:spPr>
          <a:xfrm>
            <a:off x="3017520" y="5157216"/>
            <a:ext cx="1920240" cy="274320"/>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Trade Accounts</a:t>
            </a:r>
            <a:endParaRPr lang="en-US" sz="900" dirty="0"/>
          </a:p>
        </p:txBody>
      </p:sp>
      <p:sp>
        <p:nvSpPr>
          <p:cNvPr id="17" name="Shape 14"/>
          <p:cNvSpPr/>
          <p:nvPr/>
        </p:nvSpPr>
        <p:spPr>
          <a:xfrm>
            <a:off x="5120640" y="4663440"/>
            <a:ext cx="1920240" cy="914400"/>
          </a:xfrm>
          <a:prstGeom prst="rect">
            <a:avLst/>
          </a:prstGeom>
          <a:solidFill>
            <a:srgbClr val="132445"/>
          </a:solidFill>
          <a:ln w="6350">
            <a:solidFill>
              <a:srgbClr val="C9A84C"/>
            </a:solidFill>
            <a:prstDash val="solid"/>
          </a:ln>
        </p:spPr>
      </p:sp>
      <p:sp>
        <p:nvSpPr>
          <p:cNvPr id="18" name="Text 15"/>
          <p:cNvSpPr/>
          <p:nvPr/>
        </p:nvSpPr>
        <p:spPr>
          <a:xfrm>
            <a:off x="5120640" y="4736592"/>
            <a:ext cx="1920240" cy="420624"/>
          </a:xfrm>
          <a:prstGeom prst="rect">
            <a:avLst/>
          </a:prstGeom>
          <a:noFill/>
          <a:ln/>
        </p:spPr>
        <p:txBody>
          <a:bodyPr wrap="square" lIns="0" tIns="0" rIns="0" bIns="0" rtlCol="0" anchor="ctr"/>
          <a:lstStyle/>
          <a:p>
            <a:pPr marL="0" indent="0" algn="ctr">
              <a:buNone/>
            </a:pPr>
            <a:r>
              <a:rPr lang="en-US" sz="2000" b="1" dirty="0">
                <a:solidFill>
                  <a:srgbClr val="C9A84C"/>
                </a:solidFill>
                <a:latin typeface="Calibri" pitchFamily="34" charset="0"/>
                <a:ea typeface="Calibri" pitchFamily="34" charset="-122"/>
                <a:cs typeface="Calibri" pitchFamily="34" charset="-120"/>
              </a:rPr>
              <a:t>$10,680</a:t>
            </a:r>
            <a:endParaRPr lang="en-US" sz="2000" dirty="0"/>
          </a:p>
        </p:txBody>
      </p:sp>
      <p:sp>
        <p:nvSpPr>
          <p:cNvPr id="19" name="Text 16"/>
          <p:cNvSpPr/>
          <p:nvPr/>
        </p:nvSpPr>
        <p:spPr>
          <a:xfrm>
            <a:off x="5120640" y="5157216"/>
            <a:ext cx="1920240" cy="274320"/>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Champions Avg Rev</a:t>
            </a:r>
            <a:endParaRPr lang="en-US" sz="900" dirty="0"/>
          </a:p>
        </p:txBody>
      </p:sp>
      <p:sp>
        <p:nvSpPr>
          <p:cNvPr id="20" name="Shape 17"/>
          <p:cNvSpPr/>
          <p:nvPr/>
        </p:nvSpPr>
        <p:spPr>
          <a:xfrm>
            <a:off x="7223760" y="4663440"/>
            <a:ext cx="1920240" cy="914400"/>
          </a:xfrm>
          <a:prstGeom prst="rect">
            <a:avLst/>
          </a:prstGeom>
          <a:solidFill>
            <a:srgbClr val="132445"/>
          </a:solidFill>
          <a:ln w="6350">
            <a:solidFill>
              <a:srgbClr val="C9A84C"/>
            </a:solidFill>
            <a:prstDash val="solid"/>
          </a:ln>
        </p:spPr>
      </p:sp>
      <p:sp>
        <p:nvSpPr>
          <p:cNvPr id="21" name="Text 18"/>
          <p:cNvSpPr/>
          <p:nvPr/>
        </p:nvSpPr>
        <p:spPr>
          <a:xfrm>
            <a:off x="7223760" y="4736592"/>
            <a:ext cx="1920240" cy="420624"/>
          </a:xfrm>
          <a:prstGeom prst="rect">
            <a:avLst/>
          </a:prstGeom>
          <a:noFill/>
          <a:ln/>
        </p:spPr>
        <p:txBody>
          <a:bodyPr wrap="square" lIns="0" tIns="0" rIns="0" bIns="0" rtlCol="0" anchor="ctr"/>
          <a:lstStyle/>
          <a:p>
            <a:pPr marL="0" indent="0" algn="ctr">
              <a:buNone/>
            </a:pPr>
            <a:r>
              <a:rPr lang="en-US" sz="2000" b="1" dirty="0">
                <a:solidFill>
                  <a:srgbClr val="C9A84C"/>
                </a:solidFill>
                <a:latin typeface="Calibri" pitchFamily="34" charset="0"/>
                <a:ea typeface="Calibri" pitchFamily="34" charset="-122"/>
                <a:cs typeface="Calibri" pitchFamily="34" charset="-120"/>
              </a:rPr>
              <a:t>0.926</a:t>
            </a:r>
            <a:endParaRPr lang="en-US" sz="2000" dirty="0"/>
          </a:p>
        </p:txBody>
      </p:sp>
      <p:sp>
        <p:nvSpPr>
          <p:cNvPr id="22" name="Text 19"/>
          <p:cNvSpPr/>
          <p:nvPr/>
        </p:nvSpPr>
        <p:spPr>
          <a:xfrm>
            <a:off x="7223760" y="5157216"/>
            <a:ext cx="1920240" cy="274320"/>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XGBoost AUCPR</a:t>
            </a:r>
            <a:endParaRPr lang="en-US" sz="900" dirty="0"/>
          </a:p>
        </p:txBody>
      </p:sp>
      <p:sp>
        <p:nvSpPr>
          <p:cNvPr id="23" name="Shape 20"/>
          <p:cNvSpPr/>
          <p:nvPr/>
        </p:nvSpPr>
        <p:spPr>
          <a:xfrm>
            <a:off x="9326880" y="4663440"/>
            <a:ext cx="1920240" cy="914400"/>
          </a:xfrm>
          <a:prstGeom prst="rect">
            <a:avLst/>
          </a:prstGeom>
          <a:solidFill>
            <a:srgbClr val="132445"/>
          </a:solidFill>
          <a:ln w="6350">
            <a:solidFill>
              <a:srgbClr val="C9A84C"/>
            </a:solidFill>
            <a:prstDash val="solid"/>
          </a:ln>
        </p:spPr>
      </p:sp>
      <p:sp>
        <p:nvSpPr>
          <p:cNvPr id="24" name="Text 21"/>
          <p:cNvSpPr/>
          <p:nvPr/>
        </p:nvSpPr>
        <p:spPr>
          <a:xfrm>
            <a:off x="9326880" y="4736592"/>
            <a:ext cx="1920240" cy="420624"/>
          </a:xfrm>
          <a:prstGeom prst="rect">
            <a:avLst/>
          </a:prstGeom>
          <a:noFill/>
          <a:ln/>
        </p:spPr>
        <p:txBody>
          <a:bodyPr wrap="square" lIns="0" tIns="0" rIns="0" bIns="0" rtlCol="0" anchor="ctr"/>
          <a:lstStyle/>
          <a:p>
            <a:pPr marL="0" indent="0" algn="ctr">
              <a:buNone/>
            </a:pPr>
            <a:r>
              <a:rPr lang="en-US" sz="2000" b="1" dirty="0">
                <a:solidFill>
                  <a:srgbClr val="C9A84C"/>
                </a:solidFill>
                <a:latin typeface="Calibri" pitchFamily="34" charset="0"/>
                <a:ea typeface="Calibri" pitchFamily="34" charset="-122"/>
                <a:cs typeface="Calibri" pitchFamily="34" charset="-120"/>
              </a:rPr>
              <a:t>76.6%</a:t>
            </a:r>
            <a:endParaRPr lang="en-US" sz="2000" dirty="0"/>
          </a:p>
        </p:txBody>
      </p:sp>
      <p:sp>
        <p:nvSpPr>
          <p:cNvPr id="25" name="Text 22"/>
          <p:cNvSpPr/>
          <p:nvPr/>
        </p:nvSpPr>
        <p:spPr>
          <a:xfrm>
            <a:off x="9326880" y="5157216"/>
            <a:ext cx="1920240" cy="274320"/>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Revenue Concentration</a:t>
            </a:r>
            <a:endParaRPr lang="en-US" sz="900" dirty="0"/>
          </a:p>
        </p:txBody>
      </p:sp>
      <p:sp>
        <p:nvSpPr>
          <p:cNvPr id="26" name="Text 23"/>
          <p:cNvSpPr/>
          <p:nvPr/>
        </p:nvSpPr>
        <p:spPr>
          <a:xfrm>
            <a:off x="914400" y="5989320"/>
            <a:ext cx="6400800" cy="256032"/>
          </a:xfrm>
          <a:prstGeom prst="rect">
            <a:avLst/>
          </a:prstGeom>
          <a:noFill/>
          <a:ln/>
        </p:spPr>
        <p:txBody>
          <a:bodyPr wrap="square" lIns="0" tIns="0" rIns="0" bIns="0" rtlCol="0" anchor="ctr"/>
          <a:lstStyle/>
          <a:p>
            <a:pPr marL="0" indent="0">
              <a:buNone/>
            </a:pPr>
            <a:r>
              <a:rPr lang="en-US" sz="1000" dirty="0">
                <a:solidFill>
                  <a:srgbClr val="8A9AB5"/>
                </a:solidFill>
                <a:latin typeface="Calibri" pitchFamily="34" charset="0"/>
                <a:ea typeface="Calibri" pitchFamily="34" charset="-122"/>
                <a:cs typeface="Calibri" pitchFamily="34" charset="-120"/>
              </a:rPr>
              <a:t>Avinash Patnaik  ·  CSA Research Italy  ·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Project Objective &amp; Data Audit</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01</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Shape 6"/>
          <p:cNvSpPr/>
          <p:nvPr/>
        </p:nvSpPr>
        <p:spPr>
          <a:xfrm>
            <a:off x="274320" y="822960"/>
            <a:ext cx="5120640" cy="484632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9" name="Shape 7"/>
          <p:cNvSpPr/>
          <p:nvPr/>
        </p:nvSpPr>
        <p:spPr>
          <a:xfrm>
            <a:off x="274320" y="822960"/>
            <a:ext cx="5120640" cy="411480"/>
          </a:xfrm>
          <a:prstGeom prst="rect">
            <a:avLst/>
          </a:prstGeom>
          <a:solidFill>
            <a:srgbClr val="0B1C3F"/>
          </a:solidFill>
          <a:ln w="12700">
            <a:solidFill>
              <a:srgbClr val="0B1C3F"/>
            </a:solidFill>
            <a:prstDash val="solid"/>
          </a:ln>
        </p:spPr>
      </p:sp>
      <p:sp>
        <p:nvSpPr>
          <p:cNvPr id="10" name="Text 8"/>
          <p:cNvSpPr/>
          <p:nvPr/>
        </p:nvSpPr>
        <p:spPr>
          <a:xfrm>
            <a:off x="411480" y="850392"/>
            <a:ext cx="4846320" cy="347472"/>
          </a:xfrm>
          <a:prstGeom prst="rect">
            <a:avLst/>
          </a:prstGeom>
          <a:noFill/>
          <a:ln/>
        </p:spPr>
        <p:txBody>
          <a:bodyPr wrap="square" lIns="0" tIns="0" rIns="0" bIns="0" rtlCol="0" anchor="ctr"/>
          <a:lstStyle/>
          <a:p>
            <a:pPr marL="0" indent="0">
              <a:buNone/>
            </a:pPr>
            <a:r>
              <a:rPr lang="en-US" sz="1100" b="1" dirty="0">
                <a:solidFill>
                  <a:srgbClr val="C9A84C"/>
                </a:solidFill>
                <a:latin typeface="Calibri" pitchFamily="34" charset="0"/>
                <a:ea typeface="Calibri" pitchFamily="34" charset="-122"/>
                <a:cs typeface="Calibri" pitchFamily="34" charset="-120"/>
              </a:rPr>
              <a:t>MISSION STATEMENT</a:t>
            </a:r>
            <a:endParaRPr lang="en-US" sz="1100" dirty="0"/>
          </a:p>
        </p:txBody>
      </p:sp>
      <p:sp>
        <p:nvSpPr>
          <p:cNvPr id="11" name="Text 9"/>
          <p:cNvSpPr/>
          <p:nvPr/>
        </p:nvSpPr>
        <p:spPr>
          <a:xfrm>
            <a:off x="411480" y="1325880"/>
            <a:ext cx="4846320" cy="128016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To transform high-volume transactional and behavioural data into a 360° Designer Intelligence Suite — bridging the gap between sample intent and purchase reality to optimise conversion velocity, personalise the luxury customer journey, and equip the sales team with predictive tools that drive measurable revenue growth.</a:t>
            </a:r>
            <a:endParaRPr lang="en-US" sz="1200" dirty="0"/>
          </a:p>
        </p:txBody>
      </p:sp>
      <p:sp>
        <p:nvSpPr>
          <p:cNvPr id="12" name="Shape 10"/>
          <p:cNvSpPr/>
          <p:nvPr/>
        </p:nvSpPr>
        <p:spPr>
          <a:xfrm>
            <a:off x="411480" y="2697480"/>
            <a:ext cx="4846320" cy="594360"/>
          </a:xfrm>
          <a:prstGeom prst="rect">
            <a:avLst/>
          </a:prstGeom>
          <a:solidFill>
            <a:srgbClr val="0B1C3F"/>
          </a:solidFill>
          <a:ln w="12700">
            <a:solidFill>
              <a:srgbClr val="0B1C3F"/>
            </a:solidFill>
            <a:prstDash val="solid"/>
          </a:ln>
          <a:effectLst>
            <a:outerShdw blurRad="101600" dist="38100" dir="8100000" algn="bl" rotWithShape="0">
              <a:srgbClr val="000000">
                <a:alpha val="12000"/>
              </a:srgbClr>
            </a:outerShdw>
          </a:effectLst>
        </p:spPr>
      </p:sp>
      <p:sp>
        <p:nvSpPr>
          <p:cNvPr id="13" name="Text 11"/>
          <p:cNvSpPr/>
          <p:nvPr/>
        </p:nvSpPr>
        <p:spPr>
          <a:xfrm>
            <a:off x="548640" y="2734056"/>
            <a:ext cx="4572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Conversion Optimisation</a:t>
            </a:r>
            <a:endParaRPr lang="en-US" sz="1100" dirty="0"/>
          </a:p>
        </p:txBody>
      </p:sp>
      <p:sp>
        <p:nvSpPr>
          <p:cNvPr id="14" name="Text 12"/>
          <p:cNvSpPr/>
          <p:nvPr/>
        </p:nvSpPr>
        <p:spPr>
          <a:xfrm>
            <a:off x="548640" y="2990088"/>
            <a:ext cx="4572000" cy="25603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Quantify sample-to-sale lag</a:t>
            </a:r>
            <a:endParaRPr lang="en-US" sz="900" dirty="0"/>
          </a:p>
          <a:p>
            <a:pPr marL="0" indent="0">
              <a:buNone/>
            </a:pPr>
            <a:r>
              <a:rPr lang="en-US" sz="900" dirty="0">
                <a:solidFill>
                  <a:srgbClr val="CADCFC"/>
                </a:solidFill>
                <a:latin typeface="Calibri" pitchFamily="34" charset="0"/>
                <a:ea typeface="Calibri" pitchFamily="34" charset="-122"/>
                <a:cs typeface="Calibri" pitchFamily="34" charset="-120"/>
              </a:rPr>
              <a:t>and funnel bottlenecks</a:t>
            </a:r>
            <a:endParaRPr lang="en-US" sz="900" dirty="0"/>
          </a:p>
        </p:txBody>
      </p:sp>
      <p:sp>
        <p:nvSpPr>
          <p:cNvPr id="15" name="Shape 13"/>
          <p:cNvSpPr/>
          <p:nvPr/>
        </p:nvSpPr>
        <p:spPr>
          <a:xfrm>
            <a:off x="411480" y="3355848"/>
            <a:ext cx="4846320" cy="594360"/>
          </a:xfrm>
          <a:prstGeom prst="rect">
            <a:avLst/>
          </a:prstGeom>
          <a:solidFill>
            <a:srgbClr val="1B6B3A"/>
          </a:solidFill>
          <a:ln w="12700">
            <a:solidFill>
              <a:srgbClr val="1B6B3A"/>
            </a:solidFill>
            <a:prstDash val="solid"/>
          </a:ln>
          <a:effectLst>
            <a:outerShdw blurRad="101600" dist="38100" dir="8100000" algn="bl" rotWithShape="0">
              <a:srgbClr val="000000">
                <a:alpha val="12000"/>
              </a:srgbClr>
            </a:outerShdw>
          </a:effectLst>
        </p:spPr>
      </p:sp>
      <p:sp>
        <p:nvSpPr>
          <p:cNvPr id="16" name="Text 14"/>
          <p:cNvSpPr/>
          <p:nvPr/>
        </p:nvSpPr>
        <p:spPr>
          <a:xfrm>
            <a:off x="548640" y="3392424"/>
            <a:ext cx="4572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Precision Segmentation</a:t>
            </a:r>
            <a:endParaRPr lang="en-US" sz="1100" dirty="0"/>
          </a:p>
        </p:txBody>
      </p:sp>
      <p:sp>
        <p:nvSpPr>
          <p:cNvPr id="17" name="Text 15"/>
          <p:cNvSpPr/>
          <p:nvPr/>
        </p:nvSpPr>
        <p:spPr>
          <a:xfrm>
            <a:off x="548640" y="3648456"/>
            <a:ext cx="4572000" cy="25603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RFM + K-Means clustering</a:t>
            </a:r>
            <a:endParaRPr lang="en-US" sz="900" dirty="0"/>
          </a:p>
          <a:p>
            <a:pPr marL="0" indent="0">
              <a:buNone/>
            </a:pPr>
            <a:r>
              <a:rPr lang="en-US" sz="900" dirty="0">
                <a:solidFill>
                  <a:srgbClr val="CADCFC"/>
                </a:solidFill>
                <a:latin typeface="Calibri" pitchFamily="34" charset="0"/>
                <a:ea typeface="Calibri" pitchFamily="34" charset="-122"/>
                <a:cs typeface="Calibri" pitchFamily="34" charset="-120"/>
              </a:rPr>
              <a:t>for hyper-personalised CRM</a:t>
            </a:r>
            <a:endParaRPr lang="en-US" sz="900" dirty="0"/>
          </a:p>
        </p:txBody>
      </p:sp>
      <p:sp>
        <p:nvSpPr>
          <p:cNvPr id="18" name="Shape 16"/>
          <p:cNvSpPr/>
          <p:nvPr/>
        </p:nvSpPr>
        <p:spPr>
          <a:xfrm>
            <a:off x="411480" y="4014216"/>
            <a:ext cx="4846320" cy="594360"/>
          </a:xfrm>
          <a:prstGeom prst="rect">
            <a:avLst/>
          </a:prstGeom>
          <a:solidFill>
            <a:srgbClr val="065A82"/>
          </a:solidFill>
          <a:ln w="12700">
            <a:solidFill>
              <a:srgbClr val="065A82"/>
            </a:solidFill>
            <a:prstDash val="solid"/>
          </a:ln>
          <a:effectLst>
            <a:outerShdw blurRad="101600" dist="38100" dir="8100000" algn="bl" rotWithShape="0">
              <a:srgbClr val="000000">
                <a:alpha val="12000"/>
              </a:srgbClr>
            </a:outerShdw>
          </a:effectLst>
        </p:spPr>
      </p:sp>
      <p:sp>
        <p:nvSpPr>
          <p:cNvPr id="19" name="Text 17"/>
          <p:cNvSpPr/>
          <p:nvPr/>
        </p:nvSpPr>
        <p:spPr>
          <a:xfrm>
            <a:off x="548640" y="4050792"/>
            <a:ext cx="4572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Propensity Scoring</a:t>
            </a:r>
            <a:endParaRPr lang="en-US" sz="1100" dirty="0"/>
          </a:p>
        </p:txBody>
      </p:sp>
      <p:sp>
        <p:nvSpPr>
          <p:cNvPr id="20" name="Text 18"/>
          <p:cNvSpPr/>
          <p:nvPr/>
        </p:nvSpPr>
        <p:spPr>
          <a:xfrm>
            <a:off x="548640" y="4306824"/>
            <a:ext cx="4572000" cy="25603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XGBoost lead scoring:</a:t>
            </a:r>
            <a:endParaRPr lang="en-US" sz="900" dirty="0"/>
          </a:p>
          <a:p>
            <a:pPr marL="0" indent="0">
              <a:buNone/>
            </a:pPr>
            <a:r>
              <a:rPr lang="en-US" sz="900" dirty="0">
                <a:solidFill>
                  <a:srgbClr val="CADCFC"/>
                </a:solidFill>
                <a:latin typeface="Calibri" pitchFamily="34" charset="0"/>
                <a:ea typeface="Calibri" pitchFamily="34" charset="-122"/>
                <a:cs typeface="Calibri" pitchFamily="34" charset="-120"/>
              </a:rPr>
              <a:t>AUCPR 0.926</a:t>
            </a:r>
            <a:endParaRPr lang="en-US" sz="900" dirty="0"/>
          </a:p>
        </p:txBody>
      </p:sp>
      <p:sp>
        <p:nvSpPr>
          <p:cNvPr id="21" name="Shape 19"/>
          <p:cNvSpPr/>
          <p:nvPr/>
        </p:nvSpPr>
        <p:spPr>
          <a:xfrm>
            <a:off x="411480" y="4672584"/>
            <a:ext cx="4846320" cy="594360"/>
          </a:xfrm>
          <a:prstGeom prst="rect">
            <a:avLst/>
          </a:prstGeom>
          <a:solidFill>
            <a:srgbClr val="B45309"/>
          </a:solidFill>
          <a:ln w="12700">
            <a:solidFill>
              <a:srgbClr val="B45309"/>
            </a:solidFill>
            <a:prstDash val="solid"/>
          </a:ln>
          <a:effectLst>
            <a:outerShdw blurRad="101600" dist="38100" dir="8100000" algn="bl" rotWithShape="0">
              <a:srgbClr val="000000">
                <a:alpha val="12000"/>
              </a:srgbClr>
            </a:outerShdw>
          </a:effectLst>
        </p:spPr>
      </p:sp>
      <p:sp>
        <p:nvSpPr>
          <p:cNvPr id="22" name="Text 20"/>
          <p:cNvSpPr/>
          <p:nvPr/>
        </p:nvSpPr>
        <p:spPr>
          <a:xfrm>
            <a:off x="548640" y="4709160"/>
            <a:ext cx="45720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AI Recommendation</a:t>
            </a:r>
            <a:endParaRPr lang="en-US" sz="1100" dirty="0"/>
          </a:p>
        </p:txBody>
      </p:sp>
      <p:sp>
        <p:nvSpPr>
          <p:cNvPr id="23" name="Text 21"/>
          <p:cNvSpPr/>
          <p:nvPr/>
        </p:nvSpPr>
        <p:spPr>
          <a:xfrm>
            <a:off x="548640" y="4965192"/>
            <a:ext cx="4572000" cy="25603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ChromaDB + Vision AI</a:t>
            </a:r>
            <a:endParaRPr lang="en-US" sz="900" dirty="0"/>
          </a:p>
          <a:p>
            <a:pPr marL="0" indent="0">
              <a:buNone/>
            </a:pPr>
            <a:r>
              <a:rPr lang="en-US" sz="900" dirty="0">
                <a:solidFill>
                  <a:srgbClr val="CADCFC"/>
                </a:solidFill>
                <a:latin typeface="Calibri" pitchFamily="34" charset="0"/>
                <a:ea typeface="Calibri" pitchFamily="34" charset="-122"/>
                <a:cs typeface="Calibri" pitchFamily="34" charset="-120"/>
              </a:rPr>
              <a:t>curated designer selections</a:t>
            </a:r>
            <a:endParaRPr lang="en-US" sz="900" dirty="0"/>
          </a:p>
        </p:txBody>
      </p:sp>
      <p:sp>
        <p:nvSpPr>
          <p:cNvPr id="24" name="Shape 22"/>
          <p:cNvSpPr/>
          <p:nvPr/>
        </p:nvSpPr>
        <p:spPr>
          <a:xfrm>
            <a:off x="5623560" y="822960"/>
            <a:ext cx="6217920" cy="219456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5" name="Shape 23"/>
          <p:cNvSpPr/>
          <p:nvPr/>
        </p:nvSpPr>
        <p:spPr>
          <a:xfrm>
            <a:off x="5623560" y="822960"/>
            <a:ext cx="6217920" cy="411480"/>
          </a:xfrm>
          <a:prstGeom prst="rect">
            <a:avLst/>
          </a:prstGeom>
          <a:solidFill>
            <a:srgbClr val="132445"/>
          </a:solidFill>
          <a:ln w="12700">
            <a:solidFill>
              <a:srgbClr val="132445"/>
            </a:solidFill>
            <a:prstDash val="solid"/>
          </a:ln>
        </p:spPr>
      </p:sp>
      <p:sp>
        <p:nvSpPr>
          <p:cNvPr id="26" name="Text 24"/>
          <p:cNvSpPr/>
          <p:nvPr/>
        </p:nvSpPr>
        <p:spPr>
          <a:xfrm>
            <a:off x="5760720" y="850392"/>
            <a:ext cx="5943600" cy="347472"/>
          </a:xfrm>
          <a:prstGeom prst="rect">
            <a:avLst/>
          </a:prstGeom>
          <a:noFill/>
          <a:ln/>
        </p:spPr>
        <p:txBody>
          <a:bodyPr wrap="square" lIns="0" tIns="0" rIns="0" bIns="0" rtlCol="0" anchor="ctr"/>
          <a:lstStyle/>
          <a:p>
            <a:pPr marL="0" indent="0">
              <a:buNone/>
            </a:pPr>
            <a:r>
              <a:rPr lang="en-US" sz="1100" b="1" dirty="0">
                <a:solidFill>
                  <a:srgbClr val="C9A84C"/>
                </a:solidFill>
                <a:latin typeface="Calibri" pitchFamily="34" charset="0"/>
                <a:ea typeface="Calibri" pitchFamily="34" charset="-122"/>
                <a:cs typeface="Calibri" pitchFamily="34" charset="-120"/>
              </a:rPr>
              <a:t>DATA FOUNDATION</a:t>
            </a:r>
            <a:endParaRPr lang="en-US" sz="1100" dirty="0"/>
          </a:p>
        </p:txBody>
      </p:sp>
      <p:sp>
        <p:nvSpPr>
          <p:cNvPr id="27" name="Shape 25"/>
          <p:cNvSpPr/>
          <p:nvPr/>
        </p:nvSpPr>
        <p:spPr>
          <a:xfrm>
            <a:off x="5760720" y="1316736"/>
            <a:ext cx="5943600" cy="475488"/>
          </a:xfrm>
          <a:prstGeom prst="rect">
            <a:avLst/>
          </a:prstGeom>
          <a:solidFill>
            <a:srgbClr val="E8EDF4"/>
          </a:solidFill>
          <a:ln w="12700">
            <a:solidFill>
              <a:srgbClr val="E8EDF4"/>
            </a:solidFill>
            <a:prstDash val="solid"/>
          </a:ln>
        </p:spPr>
      </p:sp>
      <p:sp>
        <p:nvSpPr>
          <p:cNvPr id="28" name="Shape 26"/>
          <p:cNvSpPr/>
          <p:nvPr/>
        </p:nvSpPr>
        <p:spPr>
          <a:xfrm>
            <a:off x="5760720" y="1316736"/>
            <a:ext cx="54864" cy="475488"/>
          </a:xfrm>
          <a:prstGeom prst="rect">
            <a:avLst/>
          </a:prstGeom>
          <a:solidFill>
            <a:srgbClr val="0B1C3F"/>
          </a:solidFill>
          <a:ln w="12700">
            <a:solidFill>
              <a:srgbClr val="0B1C3F"/>
            </a:solidFill>
            <a:prstDash val="solid"/>
          </a:ln>
        </p:spPr>
      </p:sp>
      <p:sp>
        <p:nvSpPr>
          <p:cNvPr id="29" name="Text 27"/>
          <p:cNvSpPr/>
          <p:nvPr/>
        </p:nvSpPr>
        <p:spPr>
          <a:xfrm>
            <a:off x="5943600" y="1371600"/>
            <a:ext cx="2286000" cy="347472"/>
          </a:xfrm>
          <a:prstGeom prst="rect">
            <a:avLst/>
          </a:prstGeom>
          <a:noFill/>
          <a:ln/>
        </p:spPr>
        <p:txBody>
          <a:bodyPr wrap="square" lIns="0" tIns="0" rIns="0" bIns="0" rtlCol="0" anchor="ctr"/>
          <a:lstStyle/>
          <a:p>
            <a:pPr marL="0" indent="0">
              <a:buNone/>
            </a:pPr>
            <a:r>
              <a:rPr lang="en-US" sz="1100" b="1" dirty="0">
                <a:solidFill>
                  <a:srgbClr val="2B2B2B"/>
                </a:solidFill>
                <a:latin typeface="Calibri" pitchFamily="34" charset="0"/>
                <a:ea typeface="Calibri" pitchFamily="34" charset="-122"/>
                <a:cs typeface="Calibri" pitchFamily="34" charset="-120"/>
              </a:rPr>
              <a:t>Transactions</a:t>
            </a:r>
            <a:endParaRPr lang="en-US" sz="1100" dirty="0"/>
          </a:p>
        </p:txBody>
      </p:sp>
      <p:sp>
        <p:nvSpPr>
          <p:cNvPr id="30" name="Text 28"/>
          <p:cNvSpPr/>
          <p:nvPr/>
        </p:nvSpPr>
        <p:spPr>
          <a:xfrm>
            <a:off x="8686800" y="1371600"/>
            <a:ext cx="1371600" cy="347472"/>
          </a:xfrm>
          <a:prstGeom prst="rect">
            <a:avLst/>
          </a:prstGeom>
          <a:noFill/>
          <a:ln/>
        </p:spPr>
        <p:txBody>
          <a:bodyPr wrap="square" lIns="0" tIns="0" rIns="0" bIns="0" rtlCol="0" anchor="ctr"/>
          <a:lstStyle/>
          <a:p>
            <a:pPr marL="0" indent="0" algn="ctr">
              <a:buNone/>
            </a:pPr>
            <a:r>
              <a:rPr lang="en-US" sz="1300" b="1" dirty="0">
                <a:solidFill>
                  <a:srgbClr val="0B1C3F"/>
                </a:solidFill>
                <a:latin typeface="Calibri" pitchFamily="34" charset="0"/>
                <a:ea typeface="Calibri" pitchFamily="34" charset="-122"/>
                <a:cs typeface="Calibri" pitchFamily="34" charset="-120"/>
              </a:rPr>
              <a:t>1,983,549</a:t>
            </a:r>
            <a:endParaRPr lang="en-US" sz="1300" dirty="0"/>
          </a:p>
        </p:txBody>
      </p:sp>
      <p:sp>
        <p:nvSpPr>
          <p:cNvPr id="31" name="Text 29"/>
          <p:cNvSpPr/>
          <p:nvPr/>
        </p:nvSpPr>
        <p:spPr>
          <a:xfrm>
            <a:off x="10241280" y="1371600"/>
            <a:ext cx="1371600" cy="347472"/>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9 columns</a:t>
            </a:r>
            <a:endParaRPr lang="en-US" sz="1000" dirty="0"/>
          </a:p>
        </p:txBody>
      </p:sp>
      <p:sp>
        <p:nvSpPr>
          <p:cNvPr id="32" name="Shape 30"/>
          <p:cNvSpPr/>
          <p:nvPr/>
        </p:nvSpPr>
        <p:spPr>
          <a:xfrm>
            <a:off x="5760720" y="1865376"/>
            <a:ext cx="5943600" cy="475488"/>
          </a:xfrm>
          <a:prstGeom prst="rect">
            <a:avLst/>
          </a:prstGeom>
          <a:solidFill>
            <a:srgbClr val="E8EDF4"/>
          </a:solidFill>
          <a:ln w="12700">
            <a:solidFill>
              <a:srgbClr val="E8EDF4"/>
            </a:solidFill>
            <a:prstDash val="solid"/>
          </a:ln>
        </p:spPr>
      </p:sp>
      <p:sp>
        <p:nvSpPr>
          <p:cNvPr id="33" name="Shape 31"/>
          <p:cNvSpPr/>
          <p:nvPr/>
        </p:nvSpPr>
        <p:spPr>
          <a:xfrm>
            <a:off x="5760720" y="1865376"/>
            <a:ext cx="54864" cy="475488"/>
          </a:xfrm>
          <a:prstGeom prst="rect">
            <a:avLst/>
          </a:prstGeom>
          <a:solidFill>
            <a:srgbClr val="1B6B3A"/>
          </a:solidFill>
          <a:ln w="12700">
            <a:solidFill>
              <a:srgbClr val="1B6B3A"/>
            </a:solidFill>
            <a:prstDash val="solid"/>
          </a:ln>
        </p:spPr>
      </p:sp>
      <p:sp>
        <p:nvSpPr>
          <p:cNvPr id="34" name="Text 32"/>
          <p:cNvSpPr/>
          <p:nvPr/>
        </p:nvSpPr>
        <p:spPr>
          <a:xfrm>
            <a:off x="5943600" y="1920240"/>
            <a:ext cx="2286000" cy="347472"/>
          </a:xfrm>
          <a:prstGeom prst="rect">
            <a:avLst/>
          </a:prstGeom>
          <a:noFill/>
          <a:ln/>
        </p:spPr>
        <p:txBody>
          <a:bodyPr wrap="square" lIns="0" tIns="0" rIns="0" bIns="0" rtlCol="0" anchor="ctr"/>
          <a:lstStyle/>
          <a:p>
            <a:pPr marL="0" indent="0">
              <a:buNone/>
            </a:pPr>
            <a:r>
              <a:rPr lang="en-US" sz="1100" b="1" dirty="0">
                <a:solidFill>
                  <a:srgbClr val="2B2B2B"/>
                </a:solidFill>
                <a:latin typeface="Calibri" pitchFamily="34" charset="0"/>
                <a:ea typeface="Calibri" pitchFamily="34" charset="-122"/>
                <a:cs typeface="Calibri" pitchFamily="34" charset="-120"/>
              </a:rPr>
              <a:t>Item Master</a:t>
            </a:r>
            <a:endParaRPr lang="en-US" sz="1100" dirty="0"/>
          </a:p>
        </p:txBody>
      </p:sp>
      <p:sp>
        <p:nvSpPr>
          <p:cNvPr id="35" name="Text 33"/>
          <p:cNvSpPr/>
          <p:nvPr/>
        </p:nvSpPr>
        <p:spPr>
          <a:xfrm>
            <a:off x="8686800" y="1920240"/>
            <a:ext cx="1371600" cy="347472"/>
          </a:xfrm>
          <a:prstGeom prst="rect">
            <a:avLst/>
          </a:prstGeom>
          <a:noFill/>
          <a:ln/>
        </p:spPr>
        <p:txBody>
          <a:bodyPr wrap="square" lIns="0" tIns="0" rIns="0" bIns="0" rtlCol="0" anchor="ctr"/>
          <a:lstStyle/>
          <a:p>
            <a:pPr marL="0" indent="0" algn="ctr">
              <a:buNone/>
            </a:pPr>
            <a:r>
              <a:rPr lang="en-US" sz="1300" b="1" dirty="0">
                <a:solidFill>
                  <a:srgbClr val="1B6B3A"/>
                </a:solidFill>
                <a:latin typeface="Calibri" pitchFamily="34" charset="0"/>
                <a:ea typeface="Calibri" pitchFamily="34" charset="-122"/>
                <a:cs typeface="Calibri" pitchFamily="34" charset="-120"/>
              </a:rPr>
              <a:t>16,064</a:t>
            </a:r>
            <a:endParaRPr lang="en-US" sz="1300" dirty="0"/>
          </a:p>
        </p:txBody>
      </p:sp>
      <p:sp>
        <p:nvSpPr>
          <p:cNvPr id="36" name="Text 34"/>
          <p:cNvSpPr/>
          <p:nvPr/>
        </p:nvSpPr>
        <p:spPr>
          <a:xfrm>
            <a:off x="10241280" y="1920240"/>
            <a:ext cx="1371600" cy="347472"/>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10 columns</a:t>
            </a:r>
            <a:endParaRPr lang="en-US" sz="1000" dirty="0"/>
          </a:p>
        </p:txBody>
      </p:sp>
      <p:sp>
        <p:nvSpPr>
          <p:cNvPr id="37" name="Shape 35"/>
          <p:cNvSpPr/>
          <p:nvPr/>
        </p:nvSpPr>
        <p:spPr>
          <a:xfrm>
            <a:off x="5760720" y="2414016"/>
            <a:ext cx="5943600" cy="475488"/>
          </a:xfrm>
          <a:prstGeom prst="rect">
            <a:avLst/>
          </a:prstGeom>
          <a:solidFill>
            <a:srgbClr val="E8EDF4"/>
          </a:solidFill>
          <a:ln w="12700">
            <a:solidFill>
              <a:srgbClr val="E8EDF4"/>
            </a:solidFill>
            <a:prstDash val="solid"/>
          </a:ln>
        </p:spPr>
      </p:sp>
      <p:sp>
        <p:nvSpPr>
          <p:cNvPr id="38" name="Shape 36"/>
          <p:cNvSpPr/>
          <p:nvPr/>
        </p:nvSpPr>
        <p:spPr>
          <a:xfrm>
            <a:off x="5760720" y="2414016"/>
            <a:ext cx="54864" cy="475488"/>
          </a:xfrm>
          <a:prstGeom prst="rect">
            <a:avLst/>
          </a:prstGeom>
          <a:solidFill>
            <a:srgbClr val="065A82"/>
          </a:solidFill>
          <a:ln w="12700">
            <a:solidFill>
              <a:srgbClr val="065A82"/>
            </a:solidFill>
            <a:prstDash val="solid"/>
          </a:ln>
        </p:spPr>
      </p:sp>
      <p:sp>
        <p:nvSpPr>
          <p:cNvPr id="39" name="Text 37"/>
          <p:cNvSpPr/>
          <p:nvPr/>
        </p:nvSpPr>
        <p:spPr>
          <a:xfrm>
            <a:off x="5943600" y="2468880"/>
            <a:ext cx="2286000" cy="347472"/>
          </a:xfrm>
          <a:prstGeom prst="rect">
            <a:avLst/>
          </a:prstGeom>
          <a:noFill/>
          <a:ln/>
        </p:spPr>
        <p:txBody>
          <a:bodyPr wrap="square" lIns="0" tIns="0" rIns="0" bIns="0" rtlCol="0" anchor="ctr"/>
          <a:lstStyle/>
          <a:p>
            <a:pPr marL="0" indent="0">
              <a:buNone/>
            </a:pPr>
            <a:r>
              <a:rPr lang="en-US" sz="1100" b="1" dirty="0">
                <a:solidFill>
                  <a:srgbClr val="2B2B2B"/>
                </a:solidFill>
                <a:latin typeface="Calibri" pitchFamily="34" charset="0"/>
                <a:ea typeface="Calibri" pitchFamily="34" charset="-122"/>
                <a:cs typeface="Calibri" pitchFamily="34" charset="-120"/>
              </a:rPr>
              <a:t>Customer Master</a:t>
            </a:r>
            <a:endParaRPr lang="en-US" sz="1100" dirty="0"/>
          </a:p>
        </p:txBody>
      </p:sp>
      <p:sp>
        <p:nvSpPr>
          <p:cNvPr id="40" name="Text 38"/>
          <p:cNvSpPr/>
          <p:nvPr/>
        </p:nvSpPr>
        <p:spPr>
          <a:xfrm>
            <a:off x="8686800" y="2468880"/>
            <a:ext cx="1371600" cy="347472"/>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29,691</a:t>
            </a:r>
            <a:endParaRPr lang="en-US" sz="1300" dirty="0"/>
          </a:p>
        </p:txBody>
      </p:sp>
      <p:sp>
        <p:nvSpPr>
          <p:cNvPr id="41" name="Text 39"/>
          <p:cNvSpPr/>
          <p:nvPr/>
        </p:nvSpPr>
        <p:spPr>
          <a:xfrm>
            <a:off x="10241280" y="2468880"/>
            <a:ext cx="1371600" cy="347472"/>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4 columns</a:t>
            </a:r>
            <a:endParaRPr lang="en-US" sz="1000" dirty="0"/>
          </a:p>
        </p:txBody>
      </p:sp>
      <p:pic>
        <p:nvPicPr>
          <p:cNvPr id="42" name="Image 0" descr="preencoded.png"/>
          <p:cNvPicPr>
            <a:picLocks noChangeAspect="1"/>
          </p:cNvPicPr>
          <p:nvPr/>
        </p:nvPicPr>
        <p:blipFill>
          <a:blip r:embed="rId3"/>
          <a:srcRect/>
          <a:stretch/>
        </p:blipFill>
        <p:spPr>
          <a:xfrm>
            <a:off x="5623560" y="3154680"/>
            <a:ext cx="6217920" cy="2743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Conversion Funnel Analysis — The Halo Effect</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02</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Shape 6"/>
          <p:cNvSpPr/>
          <p:nvPr/>
        </p:nvSpPr>
        <p:spPr>
          <a:xfrm>
            <a:off x="274320" y="777240"/>
            <a:ext cx="11612880" cy="804672"/>
          </a:xfrm>
          <a:prstGeom prst="rect">
            <a:avLst/>
          </a:prstGeom>
          <a:solidFill>
            <a:srgbClr val="0B1C3F"/>
          </a:solidFill>
          <a:ln w="12700">
            <a:solidFill>
              <a:srgbClr val="0B1C3F"/>
            </a:solidFill>
            <a:prstDash val="solid"/>
          </a:ln>
          <a:effectLst>
            <a:outerShdw blurRad="101600" dist="38100" dir="8100000" algn="bl" rotWithShape="0">
              <a:srgbClr val="000000">
                <a:alpha val="12000"/>
              </a:srgbClr>
            </a:outerShdw>
          </a:effectLst>
        </p:spPr>
      </p:sp>
      <p:sp>
        <p:nvSpPr>
          <p:cNvPr id="9" name="Text 7"/>
          <p:cNvSpPr/>
          <p:nvPr/>
        </p:nvSpPr>
        <p:spPr>
          <a:xfrm>
            <a:off x="457200" y="804672"/>
            <a:ext cx="11430000" cy="749808"/>
          </a:xfrm>
          <a:prstGeom prst="rect">
            <a:avLst/>
          </a:prstGeom>
          <a:noFill/>
          <a:ln/>
        </p:spPr>
        <p:txBody>
          <a:bodyPr wrap="square" lIns="0" tIns="0" rIns="0" bIns="0" rtlCol="0" anchor="ctr"/>
          <a:lstStyle/>
          <a:p>
            <a:pPr marL="0" indent="0">
              <a:buNone/>
            </a:pPr>
            <a:r>
              <a:rPr lang="en-US" sz="1500" b="1" dirty="0">
                <a:solidFill>
                  <a:srgbClr val="C9A84C"/>
                </a:solidFill>
                <a:latin typeface="Calibri" pitchFamily="34" charset="0"/>
                <a:ea typeface="Calibri" pitchFamily="34" charset="-122"/>
                <a:cs typeface="Calibri" pitchFamily="34" charset="-120"/>
              </a:rPr>
              <a:t>THE HALO EFFECT:  </a:t>
            </a:r>
            <a:r>
              <a:rPr lang="en-US" sz="1300" dirty="0">
                <a:solidFill>
                  <a:srgbClr val="FFFFFF"/>
                </a:solidFill>
                <a:latin typeface="Calibri" pitchFamily="34" charset="0"/>
                <a:ea typeface="Calibri" pitchFamily="34" charset="-122"/>
                <a:cs typeface="Calibri" pitchFamily="34" charset="-120"/>
              </a:rPr>
              <a:t>A sample request is a high-intent signal. Even when the specific SKU is not purchased, the account remains 70% likely to buy an alternative. Item-level conversion: 2%.  Account-level conversion: 70%.</a:t>
            </a:r>
            <a:endParaRPr lang="en-US" sz="1500" dirty="0"/>
          </a:p>
        </p:txBody>
      </p:sp>
      <p:pic>
        <p:nvPicPr>
          <p:cNvPr id="10" name="Image 0" descr="preencoded.png"/>
          <p:cNvPicPr>
            <a:picLocks noChangeAspect="1"/>
          </p:cNvPicPr>
          <p:nvPr/>
        </p:nvPicPr>
        <p:blipFill>
          <a:blip r:embed="rId3"/>
          <a:srcRect/>
          <a:stretch/>
        </p:blipFill>
        <p:spPr>
          <a:xfrm>
            <a:off x="274320" y="1691640"/>
            <a:ext cx="5852160" cy="1828800"/>
          </a:xfrm>
          <a:prstGeom prst="rect">
            <a:avLst/>
          </a:prstGeom>
        </p:spPr>
      </p:pic>
      <p:pic>
        <p:nvPicPr>
          <p:cNvPr id="11" name="Image 1" descr="preencoded.png"/>
          <p:cNvPicPr>
            <a:picLocks noChangeAspect="1"/>
          </p:cNvPicPr>
          <p:nvPr/>
        </p:nvPicPr>
        <p:blipFill>
          <a:blip r:embed="rId4"/>
          <a:srcRect/>
          <a:stretch/>
        </p:blipFill>
        <p:spPr>
          <a:xfrm>
            <a:off x="274320" y="3611880"/>
            <a:ext cx="5852160" cy="1737360"/>
          </a:xfrm>
          <a:prstGeom prst="rect">
            <a:avLst/>
          </a:prstGeom>
        </p:spPr>
      </p:pic>
      <p:pic>
        <p:nvPicPr>
          <p:cNvPr id="12" name="Image 2" descr="preencoded.png"/>
          <p:cNvPicPr>
            <a:picLocks noChangeAspect="1"/>
          </p:cNvPicPr>
          <p:nvPr/>
        </p:nvPicPr>
        <p:blipFill>
          <a:blip r:embed="rId5"/>
          <a:srcRect/>
          <a:stretch/>
        </p:blipFill>
        <p:spPr>
          <a:xfrm>
            <a:off x="6309360" y="1691640"/>
            <a:ext cx="5577840" cy="2743200"/>
          </a:xfrm>
          <a:prstGeom prst="rect">
            <a:avLst/>
          </a:prstGeom>
        </p:spPr>
      </p:pic>
      <p:sp>
        <p:nvSpPr>
          <p:cNvPr id="13" name="Shape 8"/>
          <p:cNvSpPr/>
          <p:nvPr/>
        </p:nvSpPr>
        <p:spPr>
          <a:xfrm>
            <a:off x="6309360" y="4617720"/>
            <a:ext cx="3520440" cy="100584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4" name="Shape 9"/>
          <p:cNvSpPr/>
          <p:nvPr/>
        </p:nvSpPr>
        <p:spPr>
          <a:xfrm>
            <a:off x="6309360" y="4617720"/>
            <a:ext cx="54864" cy="1005840"/>
          </a:xfrm>
          <a:prstGeom prst="rect">
            <a:avLst/>
          </a:prstGeom>
          <a:solidFill>
            <a:srgbClr val="C9A84C"/>
          </a:solidFill>
          <a:ln w="12700">
            <a:solidFill>
              <a:srgbClr val="C9A84C"/>
            </a:solidFill>
            <a:prstDash val="solid"/>
          </a:ln>
        </p:spPr>
      </p:sp>
      <p:sp>
        <p:nvSpPr>
          <p:cNvPr id="15" name="Text 10"/>
          <p:cNvSpPr/>
          <p:nvPr/>
        </p:nvSpPr>
        <p:spPr>
          <a:xfrm>
            <a:off x="6446520" y="4736592"/>
            <a:ext cx="3337560" cy="452628"/>
          </a:xfrm>
          <a:prstGeom prst="rect">
            <a:avLst/>
          </a:prstGeom>
          <a:noFill/>
          <a:ln/>
        </p:spPr>
        <p:txBody>
          <a:bodyPr wrap="square" lIns="0" tIns="0" rIns="0" bIns="0" rtlCol="0" anchor="ctr"/>
          <a:lstStyle/>
          <a:p>
            <a:pPr marL="0" indent="0">
              <a:buNone/>
            </a:pPr>
            <a:r>
              <a:rPr lang="en-US" sz="2800" b="1" dirty="0">
                <a:solidFill>
                  <a:srgbClr val="C9A84C"/>
                </a:solidFill>
                <a:latin typeface="Calibri" pitchFamily="34" charset="0"/>
                <a:ea typeface="Calibri" pitchFamily="34" charset="-122"/>
                <a:cs typeface="Calibri" pitchFamily="34" charset="-120"/>
              </a:rPr>
              <a:t>37</a:t>
            </a:r>
            <a:endParaRPr lang="en-US" sz="2800" dirty="0"/>
          </a:p>
        </p:txBody>
      </p:sp>
      <p:sp>
        <p:nvSpPr>
          <p:cNvPr id="16" name="Text 11"/>
          <p:cNvSpPr/>
          <p:nvPr/>
        </p:nvSpPr>
        <p:spPr>
          <a:xfrm>
            <a:off x="6446520" y="5140757"/>
            <a:ext cx="3337560" cy="274320"/>
          </a:xfrm>
          <a:prstGeom prst="rect">
            <a:avLst/>
          </a:prstGeom>
          <a:noFill/>
          <a:ln/>
        </p:spPr>
        <p:txBody>
          <a:bodyPr wrap="square" lIns="0" tIns="0" rIns="0" bIns="0" rtlCol="0" anchor="ctr"/>
          <a:lstStyle/>
          <a:p>
            <a:pPr marL="0" indent="0">
              <a:buNone/>
            </a:pPr>
            <a:r>
              <a:rPr lang="en-US" sz="1100" b="1" dirty="0">
                <a:solidFill>
                  <a:srgbClr val="2B2B2B"/>
                </a:solidFill>
                <a:latin typeface="Calibri" pitchFamily="34" charset="0"/>
                <a:ea typeface="Calibri" pitchFamily="34" charset="-122"/>
                <a:cs typeface="Calibri" pitchFamily="34" charset="-120"/>
              </a:rPr>
              <a:t>Avg Samples to First Sale</a:t>
            </a:r>
            <a:endParaRPr lang="en-US" sz="1100" dirty="0"/>
          </a:p>
        </p:txBody>
      </p:sp>
      <p:sp>
        <p:nvSpPr>
          <p:cNvPr id="17" name="Text 12"/>
          <p:cNvSpPr/>
          <p:nvPr/>
        </p:nvSpPr>
        <p:spPr>
          <a:xfrm>
            <a:off x="6446520" y="5341925"/>
            <a:ext cx="3337560" cy="256032"/>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Customer Acquisition Cost in physical goods</a:t>
            </a:r>
            <a:endParaRPr lang="en-US" sz="900" dirty="0"/>
          </a:p>
        </p:txBody>
      </p:sp>
      <p:sp>
        <p:nvSpPr>
          <p:cNvPr id="18" name="Shape 13"/>
          <p:cNvSpPr/>
          <p:nvPr/>
        </p:nvSpPr>
        <p:spPr>
          <a:xfrm>
            <a:off x="10012680" y="4617720"/>
            <a:ext cx="1874520" cy="100584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9" name="Shape 14"/>
          <p:cNvSpPr/>
          <p:nvPr/>
        </p:nvSpPr>
        <p:spPr>
          <a:xfrm>
            <a:off x="10012680" y="4617720"/>
            <a:ext cx="54864" cy="1005840"/>
          </a:xfrm>
          <a:prstGeom prst="rect">
            <a:avLst/>
          </a:prstGeom>
          <a:solidFill>
            <a:srgbClr val="1B6B3A"/>
          </a:solidFill>
          <a:ln w="12700">
            <a:solidFill>
              <a:srgbClr val="1B6B3A"/>
            </a:solidFill>
            <a:prstDash val="solid"/>
          </a:ln>
        </p:spPr>
      </p:sp>
      <p:sp>
        <p:nvSpPr>
          <p:cNvPr id="20" name="Text 15"/>
          <p:cNvSpPr/>
          <p:nvPr/>
        </p:nvSpPr>
        <p:spPr>
          <a:xfrm>
            <a:off x="10149840" y="4736592"/>
            <a:ext cx="1691640" cy="452628"/>
          </a:xfrm>
          <a:prstGeom prst="rect">
            <a:avLst/>
          </a:prstGeom>
          <a:noFill/>
          <a:ln/>
        </p:spPr>
        <p:txBody>
          <a:bodyPr wrap="square" lIns="0" tIns="0" rIns="0" bIns="0" rtlCol="0" anchor="ctr"/>
          <a:lstStyle/>
          <a:p>
            <a:pPr marL="0" indent="0">
              <a:buNone/>
            </a:pPr>
            <a:r>
              <a:rPr lang="en-US" sz="2800" b="1" dirty="0">
                <a:solidFill>
                  <a:srgbClr val="1B6B3A"/>
                </a:solidFill>
                <a:latin typeface="Calibri" pitchFamily="34" charset="0"/>
                <a:ea typeface="Calibri" pitchFamily="34" charset="-122"/>
                <a:cs typeface="Calibri" pitchFamily="34" charset="-120"/>
              </a:rPr>
              <a:t>70%</a:t>
            </a:r>
            <a:endParaRPr lang="en-US" sz="2800" dirty="0"/>
          </a:p>
        </p:txBody>
      </p:sp>
      <p:sp>
        <p:nvSpPr>
          <p:cNvPr id="21" name="Text 16"/>
          <p:cNvSpPr/>
          <p:nvPr/>
        </p:nvSpPr>
        <p:spPr>
          <a:xfrm>
            <a:off x="10149840" y="5140757"/>
            <a:ext cx="1691640" cy="274320"/>
          </a:xfrm>
          <a:prstGeom prst="rect">
            <a:avLst/>
          </a:prstGeom>
          <a:noFill/>
          <a:ln/>
        </p:spPr>
        <p:txBody>
          <a:bodyPr wrap="square" lIns="0" tIns="0" rIns="0" bIns="0" rtlCol="0" anchor="ctr"/>
          <a:lstStyle/>
          <a:p>
            <a:pPr marL="0" indent="0">
              <a:buNone/>
            </a:pPr>
            <a:r>
              <a:rPr lang="en-US" sz="1100" b="1" dirty="0">
                <a:solidFill>
                  <a:srgbClr val="2B2B2B"/>
                </a:solidFill>
                <a:latin typeface="Calibri" pitchFamily="34" charset="0"/>
                <a:ea typeface="Calibri" pitchFamily="34" charset="-122"/>
                <a:cs typeface="Calibri" pitchFamily="34" charset="-120"/>
              </a:rPr>
              <a:t>Account Conversion</a:t>
            </a:r>
            <a:endParaRPr lang="en-US" sz="1100" dirty="0"/>
          </a:p>
        </p:txBody>
      </p:sp>
      <p:sp>
        <p:nvSpPr>
          <p:cNvPr id="22" name="Text 17"/>
          <p:cNvSpPr/>
          <p:nvPr/>
        </p:nvSpPr>
        <p:spPr>
          <a:xfrm>
            <a:off x="10149840" y="5341925"/>
            <a:ext cx="1691640" cy="256032"/>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Halo effect rate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Channel Efficiency &amp; Sales Velocity</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02</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Text 6"/>
          <p:cNvSpPr/>
          <p:nvPr/>
        </p:nvSpPr>
        <p:spPr>
          <a:xfrm>
            <a:off x="274320" y="777240"/>
            <a:ext cx="5669280" cy="320040"/>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Attributed Conversion Rate by Origin</a:t>
            </a:r>
            <a:endParaRPr lang="en-US" sz="1100" dirty="0"/>
          </a:p>
        </p:txBody>
      </p:sp>
      <p:pic>
        <p:nvPicPr>
          <p:cNvPr id="9" name="Image 0" descr="preencoded.png"/>
          <p:cNvPicPr>
            <a:picLocks noChangeAspect="1"/>
          </p:cNvPicPr>
          <p:nvPr/>
        </p:nvPicPr>
        <p:blipFill>
          <a:blip r:embed="rId3"/>
          <a:srcRect/>
          <a:stretch/>
        </p:blipFill>
        <p:spPr>
          <a:xfrm>
            <a:off x="274320" y="1143000"/>
            <a:ext cx="5669280" cy="2560320"/>
          </a:xfrm>
          <a:prstGeom prst="rect">
            <a:avLst/>
          </a:prstGeom>
        </p:spPr>
      </p:pic>
      <p:sp>
        <p:nvSpPr>
          <p:cNvPr id="10" name="Text 7"/>
          <p:cNvSpPr/>
          <p:nvPr/>
        </p:nvSpPr>
        <p:spPr>
          <a:xfrm>
            <a:off x="274320" y="3840480"/>
            <a:ext cx="5669280" cy="320040"/>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Median Days to Convert by Origin</a:t>
            </a:r>
            <a:endParaRPr lang="en-US" sz="1100" dirty="0"/>
          </a:p>
        </p:txBody>
      </p:sp>
      <p:pic>
        <p:nvPicPr>
          <p:cNvPr id="11" name="Image 1" descr="preencoded.png"/>
          <p:cNvPicPr>
            <a:picLocks noChangeAspect="1"/>
          </p:cNvPicPr>
          <p:nvPr/>
        </p:nvPicPr>
        <p:blipFill>
          <a:blip r:embed="rId4"/>
          <a:srcRect/>
          <a:stretch/>
        </p:blipFill>
        <p:spPr>
          <a:xfrm>
            <a:off x="274320" y="4206240"/>
            <a:ext cx="5669280" cy="2194560"/>
          </a:xfrm>
          <a:prstGeom prst="rect">
            <a:avLst/>
          </a:prstGeom>
        </p:spPr>
      </p:pic>
      <p:sp>
        <p:nvSpPr>
          <p:cNvPr id="12" name="Shape 8"/>
          <p:cNvSpPr/>
          <p:nvPr/>
        </p:nvSpPr>
        <p:spPr>
          <a:xfrm>
            <a:off x="6309360" y="777240"/>
            <a:ext cx="5577840" cy="137160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3" name="Shape 9"/>
          <p:cNvSpPr/>
          <p:nvPr/>
        </p:nvSpPr>
        <p:spPr>
          <a:xfrm>
            <a:off x="6309360" y="777240"/>
            <a:ext cx="64008" cy="1371600"/>
          </a:xfrm>
          <a:prstGeom prst="rect">
            <a:avLst/>
          </a:prstGeom>
          <a:solidFill>
            <a:srgbClr val="1B6B3A"/>
          </a:solidFill>
          <a:ln w="12700">
            <a:solidFill>
              <a:srgbClr val="1B6B3A"/>
            </a:solidFill>
            <a:prstDash val="solid"/>
          </a:ln>
        </p:spPr>
      </p:sp>
      <p:sp>
        <p:nvSpPr>
          <p:cNvPr id="14" name="Text 10"/>
          <p:cNvSpPr/>
          <p:nvPr/>
        </p:nvSpPr>
        <p:spPr>
          <a:xfrm>
            <a:off x="6492240" y="886968"/>
            <a:ext cx="5212080" cy="274320"/>
          </a:xfrm>
          <a:prstGeom prst="rect">
            <a:avLst/>
          </a:prstGeom>
          <a:noFill/>
          <a:ln/>
        </p:spPr>
        <p:txBody>
          <a:bodyPr wrap="square" lIns="0" tIns="0" rIns="0" bIns="0" rtlCol="0" anchor="ctr"/>
          <a:lstStyle/>
          <a:p>
            <a:pPr marL="0" indent="0">
              <a:buNone/>
            </a:pPr>
            <a:r>
              <a:rPr lang="en-US" sz="1200" b="1" dirty="0">
                <a:solidFill>
                  <a:srgbClr val="1B6B3A"/>
                </a:solidFill>
                <a:latin typeface="Calibri" pitchFamily="34" charset="0"/>
                <a:ea typeface="Calibri" pitchFamily="34" charset="-122"/>
                <a:cs typeface="Calibri" pitchFamily="34" charset="-120"/>
              </a:rPr>
              <a:t>Showroom Champion</a:t>
            </a:r>
            <a:endParaRPr lang="en-US" sz="1200" dirty="0"/>
          </a:p>
        </p:txBody>
      </p:sp>
      <p:sp>
        <p:nvSpPr>
          <p:cNvPr id="15" name="Text 11"/>
          <p:cNvSpPr/>
          <p:nvPr/>
        </p:nvSpPr>
        <p:spPr>
          <a:xfrm>
            <a:off x="6492240" y="1197864"/>
            <a:ext cx="5212080" cy="822960"/>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Converting 1 in 5 leads in just 44 days — the most efficient channel in the portfolio. Validates continued investment in physical showroom infrastructure.</a:t>
            </a:r>
            <a:endParaRPr lang="en-US" sz="1050" dirty="0"/>
          </a:p>
        </p:txBody>
      </p:sp>
      <p:sp>
        <p:nvSpPr>
          <p:cNvPr id="16" name="Shape 12"/>
          <p:cNvSpPr/>
          <p:nvPr/>
        </p:nvSpPr>
        <p:spPr>
          <a:xfrm>
            <a:off x="6309360" y="2240280"/>
            <a:ext cx="5577840" cy="137160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7" name="Shape 13"/>
          <p:cNvSpPr/>
          <p:nvPr/>
        </p:nvSpPr>
        <p:spPr>
          <a:xfrm>
            <a:off x="6309360" y="2240280"/>
            <a:ext cx="64008" cy="1371600"/>
          </a:xfrm>
          <a:prstGeom prst="rect">
            <a:avLst/>
          </a:prstGeom>
          <a:solidFill>
            <a:srgbClr val="B45309"/>
          </a:solidFill>
          <a:ln w="12700">
            <a:solidFill>
              <a:srgbClr val="B45309"/>
            </a:solidFill>
            <a:prstDash val="solid"/>
          </a:ln>
        </p:spPr>
      </p:sp>
      <p:sp>
        <p:nvSpPr>
          <p:cNvPr id="18" name="Text 14"/>
          <p:cNvSpPr/>
          <p:nvPr/>
        </p:nvSpPr>
        <p:spPr>
          <a:xfrm>
            <a:off x="6492240" y="2350008"/>
            <a:ext cx="5212080" cy="274320"/>
          </a:xfrm>
          <a:prstGeom prst="rect">
            <a:avLst/>
          </a:prstGeom>
          <a:noFill/>
          <a:ln/>
        </p:spPr>
        <p:txBody>
          <a:bodyPr wrap="square" lIns="0" tIns="0" rIns="0" bIns="0" rtlCol="0" anchor="ctr"/>
          <a:lstStyle/>
          <a:p>
            <a:pPr marL="0" indent="0">
              <a:buNone/>
            </a:pPr>
            <a:r>
              <a:rPr lang="en-US" sz="1200" b="1" dirty="0">
                <a:solidFill>
                  <a:srgbClr val="B45309"/>
                </a:solidFill>
                <a:latin typeface="Calibri" pitchFamily="34" charset="0"/>
                <a:ea typeface="Calibri" pitchFamily="34" charset="-122"/>
                <a:cs typeface="Calibri" pitchFamily="34" charset="-120"/>
              </a:rPr>
              <a:t>The Web Gap</a:t>
            </a:r>
            <a:endParaRPr lang="en-US" sz="1200" dirty="0"/>
          </a:p>
        </p:txBody>
      </p:sp>
      <p:sp>
        <p:nvSpPr>
          <p:cNvPr id="19" name="Text 15"/>
          <p:cNvSpPr/>
          <p:nvPr/>
        </p:nvSpPr>
        <p:spPr>
          <a:xfrm>
            <a:off x="6492240" y="2660904"/>
            <a:ext cx="5212080" cy="822960"/>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Web leads convert at only 13.6% and take 7+ more days than Showroom. Represents the largest single opportunity for a digital "White Glove" upgrade.</a:t>
            </a:r>
            <a:endParaRPr lang="en-US" sz="1050" dirty="0"/>
          </a:p>
        </p:txBody>
      </p:sp>
      <p:sp>
        <p:nvSpPr>
          <p:cNvPr id="20" name="Shape 16"/>
          <p:cNvSpPr/>
          <p:nvPr/>
        </p:nvSpPr>
        <p:spPr>
          <a:xfrm>
            <a:off x="6309360" y="3703320"/>
            <a:ext cx="5577840" cy="137160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1" name="Shape 17"/>
          <p:cNvSpPr/>
          <p:nvPr/>
        </p:nvSpPr>
        <p:spPr>
          <a:xfrm>
            <a:off x="6309360" y="3703320"/>
            <a:ext cx="64008" cy="1371600"/>
          </a:xfrm>
          <a:prstGeom prst="rect">
            <a:avLst/>
          </a:prstGeom>
          <a:solidFill>
            <a:srgbClr val="0B1C3F"/>
          </a:solidFill>
          <a:ln w="12700">
            <a:solidFill>
              <a:srgbClr val="0B1C3F"/>
            </a:solidFill>
            <a:prstDash val="solid"/>
          </a:ln>
        </p:spPr>
      </p:sp>
      <p:sp>
        <p:nvSpPr>
          <p:cNvPr id="22" name="Text 18"/>
          <p:cNvSpPr/>
          <p:nvPr/>
        </p:nvSpPr>
        <p:spPr>
          <a:xfrm>
            <a:off x="6492240" y="3813048"/>
            <a:ext cx="5212080" cy="274320"/>
          </a:xfrm>
          <a:prstGeom prst="rect">
            <a:avLst/>
          </a:prstGeom>
          <a:noFill/>
          <a:ln/>
        </p:spPr>
        <p:txBody>
          <a:bodyPr wrap="square" lIns="0" tIns="0" rIns="0" bIns="0" rtlCol="0" anchor="ctr"/>
          <a:lstStyle/>
          <a:p>
            <a:pPr marL="0" indent="0">
              <a:buNone/>
            </a:pPr>
            <a:r>
              <a:rPr lang="en-US" sz="1200" b="1" dirty="0">
                <a:solidFill>
                  <a:srgbClr val="0B1C3F"/>
                </a:solidFill>
                <a:latin typeface="Calibri" pitchFamily="34" charset="0"/>
                <a:ea typeface="Calibri" pitchFamily="34" charset="-122"/>
                <a:cs typeface="Calibri" pitchFamily="34" charset="-120"/>
              </a:rPr>
              <a:t>Customer Commitment</a:t>
            </a:r>
            <a:endParaRPr lang="en-US" sz="1200" dirty="0"/>
          </a:p>
        </p:txBody>
      </p:sp>
      <p:sp>
        <p:nvSpPr>
          <p:cNvPr id="23" name="Text 19"/>
          <p:cNvSpPr/>
          <p:nvPr/>
        </p:nvSpPr>
        <p:spPr>
          <a:xfrm>
            <a:off x="6492240" y="4123944"/>
            <a:ext cx="5212080" cy="822960"/>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Successful sales are preceded by an average of 2.5 unique sample requests, signalling high buyer focus and intentionality once the process begins.</a:t>
            </a:r>
            <a:endParaRPr lang="en-US" sz="1050" dirty="0"/>
          </a:p>
        </p:txBody>
      </p:sp>
      <p:sp>
        <p:nvSpPr>
          <p:cNvPr id="24" name="Shape 20"/>
          <p:cNvSpPr/>
          <p:nvPr/>
        </p:nvSpPr>
        <p:spPr>
          <a:xfrm>
            <a:off x="6309360" y="5166360"/>
            <a:ext cx="5577840" cy="137160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5" name="Shape 21"/>
          <p:cNvSpPr/>
          <p:nvPr/>
        </p:nvSpPr>
        <p:spPr>
          <a:xfrm>
            <a:off x="6309360" y="5166360"/>
            <a:ext cx="64008" cy="1371600"/>
          </a:xfrm>
          <a:prstGeom prst="rect">
            <a:avLst/>
          </a:prstGeom>
          <a:solidFill>
            <a:srgbClr val="065A82"/>
          </a:solidFill>
          <a:ln w="12700">
            <a:solidFill>
              <a:srgbClr val="065A82"/>
            </a:solidFill>
            <a:prstDash val="solid"/>
          </a:ln>
        </p:spPr>
      </p:sp>
      <p:sp>
        <p:nvSpPr>
          <p:cNvPr id="26" name="Text 22"/>
          <p:cNvSpPr/>
          <p:nvPr/>
        </p:nvSpPr>
        <p:spPr>
          <a:xfrm>
            <a:off x="6492240" y="5276088"/>
            <a:ext cx="5212080" cy="274320"/>
          </a:xfrm>
          <a:prstGeom prst="rect">
            <a:avLst/>
          </a:prstGeom>
          <a:noFill/>
          <a:ln/>
        </p:spPr>
        <p:txBody>
          <a:bodyPr wrap="square" lIns="0" tIns="0" rIns="0" bIns="0" rtlCol="0" anchor="ctr"/>
          <a:lstStyle/>
          <a:p>
            <a:pPr marL="0" indent="0">
              <a:buNone/>
            </a:pPr>
            <a:r>
              <a:rPr lang="en-US" sz="1200" b="1" dirty="0">
                <a:solidFill>
                  <a:srgbClr val="065A82"/>
                </a:solidFill>
                <a:latin typeface="Calibri" pitchFamily="34" charset="0"/>
                <a:ea typeface="Calibri" pitchFamily="34" charset="-122"/>
                <a:cs typeface="Calibri" pitchFamily="34" charset="-120"/>
              </a:rPr>
              <a:t>Human Touch Premium</a:t>
            </a:r>
            <a:endParaRPr lang="en-US" sz="1200" dirty="0"/>
          </a:p>
        </p:txBody>
      </p:sp>
      <p:sp>
        <p:nvSpPr>
          <p:cNvPr id="27" name="Text 23"/>
          <p:cNvSpPr/>
          <p:nvPr/>
        </p:nvSpPr>
        <p:spPr>
          <a:xfrm>
            <a:off x="6492240" y="5586984"/>
            <a:ext cx="5212080" cy="822960"/>
          </a:xfrm>
          <a:prstGeom prst="rect">
            <a:avLst/>
          </a:prstGeom>
          <a:noFill/>
          <a:ln/>
        </p:spPr>
        <p:txBody>
          <a:bodyPr wrap="square" lIns="0" tIns="0" rIns="0" bIns="0" rtlCol="0" anchor="ctr"/>
          <a:lstStyle/>
          <a:p>
            <a:pPr marL="0" indent="0">
              <a:buNone/>
            </a:pPr>
            <a:r>
              <a:rPr lang="en-US" sz="1050" dirty="0">
                <a:solidFill>
                  <a:srgbClr val="2B2B2B"/>
                </a:solidFill>
                <a:latin typeface="Calibri" pitchFamily="34" charset="0"/>
                <a:ea typeface="Calibri" pitchFamily="34" charset="-122"/>
                <a:cs typeface="Calibri" pitchFamily="34" charset="-120"/>
              </a:rPr>
              <a:t>Strong correlation between human interaction and both conversion speed and probability. Recommendation: increase touchpoint frequency for mid-tier leads.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Regional Market Penetration &amp; Conversion Velocity</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02</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Text 6"/>
          <p:cNvSpPr/>
          <p:nvPr/>
        </p:nvSpPr>
        <p:spPr>
          <a:xfrm>
            <a:off x="274320" y="777240"/>
            <a:ext cx="7589520" cy="320040"/>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Total Samples vs. Sales by Territory</a:t>
            </a:r>
            <a:endParaRPr lang="en-US" sz="1100" dirty="0"/>
          </a:p>
        </p:txBody>
      </p:sp>
      <p:pic>
        <p:nvPicPr>
          <p:cNvPr id="9" name="Image 0" descr="preencoded.png"/>
          <p:cNvPicPr>
            <a:picLocks noChangeAspect="1"/>
          </p:cNvPicPr>
          <p:nvPr/>
        </p:nvPicPr>
        <p:blipFill>
          <a:blip r:embed="rId3"/>
          <a:srcRect/>
          <a:stretch/>
        </p:blipFill>
        <p:spPr>
          <a:xfrm>
            <a:off x="274320" y="1143000"/>
            <a:ext cx="7589520" cy="2468880"/>
          </a:xfrm>
          <a:prstGeom prst="rect">
            <a:avLst/>
          </a:prstGeom>
        </p:spPr>
      </p:pic>
      <p:sp>
        <p:nvSpPr>
          <p:cNvPr id="10" name="Text 7"/>
          <p:cNvSpPr/>
          <p:nvPr/>
        </p:nvSpPr>
        <p:spPr>
          <a:xfrm>
            <a:off x="274320" y="3749040"/>
            <a:ext cx="7589520" cy="320040"/>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Designer Engagement: Avg Samples per Account</a:t>
            </a:r>
            <a:endParaRPr lang="en-US" sz="1100" dirty="0"/>
          </a:p>
        </p:txBody>
      </p:sp>
      <p:pic>
        <p:nvPicPr>
          <p:cNvPr id="11" name="Image 1" descr="preencoded.png"/>
          <p:cNvPicPr>
            <a:picLocks noChangeAspect="1"/>
          </p:cNvPicPr>
          <p:nvPr/>
        </p:nvPicPr>
        <p:blipFill>
          <a:blip r:embed="rId4"/>
          <a:srcRect/>
          <a:stretch/>
        </p:blipFill>
        <p:spPr>
          <a:xfrm>
            <a:off x="274320" y="4114800"/>
            <a:ext cx="7589520" cy="2423160"/>
          </a:xfrm>
          <a:prstGeom prst="rect">
            <a:avLst/>
          </a:prstGeom>
        </p:spPr>
      </p:pic>
      <p:sp>
        <p:nvSpPr>
          <p:cNvPr id="12" name="Text 8"/>
          <p:cNvSpPr/>
          <p:nvPr/>
        </p:nvSpPr>
        <p:spPr>
          <a:xfrm>
            <a:off x="8092440" y="777240"/>
            <a:ext cx="3794760" cy="320040"/>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Conversion Velocity Map</a:t>
            </a:r>
            <a:endParaRPr lang="en-US" sz="1100" dirty="0"/>
          </a:p>
        </p:txBody>
      </p:sp>
      <p:pic>
        <p:nvPicPr>
          <p:cNvPr id="13" name="Image 2" descr="preencoded.png"/>
          <p:cNvPicPr>
            <a:picLocks noChangeAspect="1"/>
          </p:cNvPicPr>
          <p:nvPr/>
        </p:nvPicPr>
        <p:blipFill>
          <a:blip r:embed="rId5"/>
          <a:srcRect/>
          <a:stretch/>
        </p:blipFill>
        <p:spPr>
          <a:xfrm>
            <a:off x="8092440" y="1143000"/>
            <a:ext cx="3794760" cy="1965960"/>
          </a:xfrm>
          <a:prstGeom prst="rect">
            <a:avLst/>
          </a:prstGeom>
        </p:spPr>
      </p:pic>
      <p:sp>
        <p:nvSpPr>
          <p:cNvPr id="14" name="Shape 9"/>
          <p:cNvSpPr/>
          <p:nvPr/>
        </p:nvSpPr>
        <p:spPr>
          <a:xfrm>
            <a:off x="8092440" y="3246120"/>
            <a:ext cx="3794760" cy="795528"/>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5" name="Shape 10"/>
          <p:cNvSpPr/>
          <p:nvPr/>
        </p:nvSpPr>
        <p:spPr>
          <a:xfrm>
            <a:off x="8092440" y="3246120"/>
            <a:ext cx="54864" cy="795528"/>
          </a:xfrm>
          <a:prstGeom prst="rect">
            <a:avLst/>
          </a:prstGeom>
          <a:solidFill>
            <a:srgbClr val="0B1C3F"/>
          </a:solidFill>
          <a:ln w="12700">
            <a:solidFill>
              <a:srgbClr val="0B1C3F"/>
            </a:solidFill>
            <a:prstDash val="solid"/>
          </a:ln>
        </p:spPr>
      </p:sp>
      <p:sp>
        <p:nvSpPr>
          <p:cNvPr id="16" name="Text 11"/>
          <p:cNvSpPr/>
          <p:nvPr/>
        </p:nvSpPr>
        <p:spPr>
          <a:xfrm>
            <a:off x="8229600" y="3300984"/>
            <a:ext cx="3520440" cy="237744"/>
          </a:xfrm>
          <a:prstGeom prst="rect">
            <a:avLst/>
          </a:prstGeom>
          <a:noFill/>
          <a:ln/>
        </p:spPr>
        <p:txBody>
          <a:bodyPr wrap="square" lIns="0" tIns="0" rIns="0" bIns="0" rtlCol="0" anchor="ctr"/>
          <a:lstStyle/>
          <a:p>
            <a:pPr marL="0" indent="0">
              <a:buNone/>
            </a:pPr>
            <a:r>
              <a:rPr lang="en-US" sz="1000" b="1" dirty="0">
                <a:solidFill>
                  <a:srgbClr val="0B1C3F"/>
                </a:solidFill>
                <a:latin typeface="Calibri" pitchFamily="34" charset="0"/>
                <a:ea typeface="Calibri" pitchFamily="34" charset="-122"/>
                <a:cs typeface="Calibri" pitchFamily="34" charset="-120"/>
              </a:rPr>
              <a:t>Big Three</a:t>
            </a:r>
            <a:endParaRPr lang="en-US" sz="1000" dirty="0"/>
          </a:p>
        </p:txBody>
      </p:sp>
      <p:sp>
        <p:nvSpPr>
          <p:cNvPr id="17" name="Text 12"/>
          <p:cNvSpPr/>
          <p:nvPr/>
        </p:nvSpPr>
        <p:spPr>
          <a:xfrm>
            <a:off x="8229600" y="3566160"/>
            <a:ext cx="3520440" cy="41148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Tri-State (289K txns), Florida (194K), Central US (169K) dominate volume</a:t>
            </a:r>
            <a:endParaRPr lang="en-US" sz="900" dirty="0"/>
          </a:p>
        </p:txBody>
      </p:sp>
      <p:sp>
        <p:nvSpPr>
          <p:cNvPr id="18" name="Shape 13"/>
          <p:cNvSpPr/>
          <p:nvPr/>
        </p:nvSpPr>
        <p:spPr>
          <a:xfrm>
            <a:off x="8092440" y="4114800"/>
            <a:ext cx="3794760" cy="795528"/>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9" name="Shape 14"/>
          <p:cNvSpPr/>
          <p:nvPr/>
        </p:nvSpPr>
        <p:spPr>
          <a:xfrm>
            <a:off x="8092440" y="4114800"/>
            <a:ext cx="54864" cy="795528"/>
          </a:xfrm>
          <a:prstGeom prst="rect">
            <a:avLst/>
          </a:prstGeom>
          <a:solidFill>
            <a:srgbClr val="1B6B3A"/>
          </a:solidFill>
          <a:ln w="12700">
            <a:solidFill>
              <a:srgbClr val="1B6B3A"/>
            </a:solidFill>
            <a:prstDash val="solid"/>
          </a:ln>
        </p:spPr>
      </p:sp>
      <p:sp>
        <p:nvSpPr>
          <p:cNvPr id="20" name="Text 15"/>
          <p:cNvSpPr/>
          <p:nvPr/>
        </p:nvSpPr>
        <p:spPr>
          <a:xfrm>
            <a:off x="8229600" y="4169664"/>
            <a:ext cx="3520440" cy="237744"/>
          </a:xfrm>
          <a:prstGeom prst="rect">
            <a:avLst/>
          </a:prstGeom>
          <a:noFill/>
          <a:ln/>
        </p:spPr>
        <p:txBody>
          <a:bodyPr wrap="square" lIns="0" tIns="0" rIns="0" bIns="0" rtlCol="0" anchor="ctr"/>
          <a:lstStyle/>
          <a:p>
            <a:pPr marL="0" indent="0">
              <a:buNone/>
            </a:pPr>
            <a:r>
              <a:rPr lang="en-US" sz="1000" b="1" dirty="0">
                <a:solidFill>
                  <a:srgbClr val="1B6B3A"/>
                </a:solidFill>
                <a:latin typeface="Calibri" pitchFamily="34" charset="0"/>
                <a:ea typeface="Calibri" pitchFamily="34" charset="-122"/>
                <a:cs typeface="Calibri" pitchFamily="34" charset="-120"/>
              </a:rPr>
              <a:t>High-Velocity</a:t>
            </a:r>
            <a:endParaRPr lang="en-US" sz="1000" dirty="0"/>
          </a:p>
        </p:txBody>
      </p:sp>
      <p:sp>
        <p:nvSpPr>
          <p:cNvPr id="21" name="Text 16"/>
          <p:cNvSpPr/>
          <p:nvPr/>
        </p:nvSpPr>
        <p:spPr>
          <a:xfrm>
            <a:off x="8229600" y="4434840"/>
            <a:ext cx="3520440" cy="41148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Gulf Coast &amp; Heartland — highest sample-to-sale efficiency. Prioritise rep staffing here</a:t>
            </a:r>
            <a:endParaRPr lang="en-US" sz="900" dirty="0"/>
          </a:p>
        </p:txBody>
      </p:sp>
      <p:sp>
        <p:nvSpPr>
          <p:cNvPr id="22" name="Shape 17"/>
          <p:cNvSpPr/>
          <p:nvPr/>
        </p:nvSpPr>
        <p:spPr>
          <a:xfrm>
            <a:off x="8092440" y="4983480"/>
            <a:ext cx="3794760" cy="795528"/>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3" name="Shape 18"/>
          <p:cNvSpPr/>
          <p:nvPr/>
        </p:nvSpPr>
        <p:spPr>
          <a:xfrm>
            <a:off x="8092440" y="4983480"/>
            <a:ext cx="54864" cy="795528"/>
          </a:xfrm>
          <a:prstGeom prst="rect">
            <a:avLst/>
          </a:prstGeom>
          <a:solidFill>
            <a:srgbClr val="7C2D12"/>
          </a:solidFill>
          <a:ln w="12700">
            <a:solidFill>
              <a:srgbClr val="7C2D12"/>
            </a:solidFill>
            <a:prstDash val="solid"/>
          </a:ln>
        </p:spPr>
      </p:sp>
      <p:sp>
        <p:nvSpPr>
          <p:cNvPr id="24" name="Text 19"/>
          <p:cNvSpPr/>
          <p:nvPr/>
        </p:nvSpPr>
        <p:spPr>
          <a:xfrm>
            <a:off x="8229600" y="5038344"/>
            <a:ext cx="3520440" cy="237744"/>
          </a:xfrm>
          <a:prstGeom prst="rect">
            <a:avLst/>
          </a:prstGeom>
          <a:noFill/>
          <a:ln/>
        </p:spPr>
        <p:txBody>
          <a:bodyPr wrap="square" lIns="0" tIns="0" rIns="0" bIns="0" rtlCol="0" anchor="ctr"/>
          <a:lstStyle/>
          <a:p>
            <a:pPr marL="0" indent="0">
              <a:buNone/>
            </a:pPr>
            <a:r>
              <a:rPr lang="en-US" sz="1000" b="1" dirty="0">
                <a:solidFill>
                  <a:srgbClr val="7C2D12"/>
                </a:solidFill>
                <a:latin typeface="Calibri" pitchFamily="34" charset="0"/>
                <a:ea typeface="Calibri" pitchFamily="34" charset="-122"/>
                <a:cs typeface="Calibri" pitchFamily="34" charset="-120"/>
              </a:rPr>
              <a:t>Low-Velocity</a:t>
            </a:r>
            <a:endParaRPr lang="en-US" sz="1000" dirty="0"/>
          </a:p>
        </p:txBody>
      </p:sp>
      <p:sp>
        <p:nvSpPr>
          <p:cNvPr id="25" name="Text 20"/>
          <p:cNvSpPr/>
          <p:nvPr/>
        </p:nvSpPr>
        <p:spPr>
          <a:xfrm>
            <a:off x="8229600" y="5303520"/>
            <a:ext cx="3520440" cy="41148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Pacific Northwest, Southwest, Tri-State — high churn. Targeted CRM intervention needed</a:t>
            </a:r>
            <a:endParaRPr lang="en-US" sz="900" dirty="0"/>
          </a:p>
        </p:txBody>
      </p:sp>
      <p:sp>
        <p:nvSpPr>
          <p:cNvPr id="26" name="Shape 21"/>
          <p:cNvSpPr/>
          <p:nvPr/>
        </p:nvSpPr>
        <p:spPr>
          <a:xfrm>
            <a:off x="8092440" y="5852160"/>
            <a:ext cx="3794760" cy="795528"/>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7" name="Shape 22"/>
          <p:cNvSpPr/>
          <p:nvPr/>
        </p:nvSpPr>
        <p:spPr>
          <a:xfrm>
            <a:off x="8092440" y="5852160"/>
            <a:ext cx="54864" cy="795528"/>
          </a:xfrm>
          <a:prstGeom prst="rect">
            <a:avLst/>
          </a:prstGeom>
          <a:solidFill>
            <a:srgbClr val="B45309"/>
          </a:solidFill>
          <a:ln w="12700">
            <a:solidFill>
              <a:srgbClr val="B45309"/>
            </a:solidFill>
            <a:prstDash val="solid"/>
          </a:ln>
        </p:spPr>
      </p:sp>
      <p:sp>
        <p:nvSpPr>
          <p:cNvPr id="28" name="Text 23"/>
          <p:cNvSpPr/>
          <p:nvPr/>
        </p:nvSpPr>
        <p:spPr>
          <a:xfrm>
            <a:off x="8229600" y="5907024"/>
            <a:ext cx="3520440" cy="237744"/>
          </a:xfrm>
          <a:prstGeom prst="rect">
            <a:avLst/>
          </a:prstGeom>
          <a:noFill/>
          <a:ln/>
        </p:spPr>
        <p:txBody>
          <a:bodyPr wrap="square" lIns="0" tIns="0" rIns="0" bIns="0" rtlCol="0" anchor="ctr"/>
          <a:lstStyle/>
          <a:p>
            <a:pPr marL="0" indent="0">
              <a:buNone/>
            </a:pPr>
            <a:r>
              <a:rPr lang="en-US" sz="1000" b="1" dirty="0">
                <a:solidFill>
                  <a:srgbClr val="B45309"/>
                </a:solidFill>
                <a:latin typeface="Calibri" pitchFamily="34" charset="0"/>
                <a:ea typeface="Calibri" pitchFamily="34" charset="-122"/>
                <a:cs typeface="Calibri" pitchFamily="34" charset="-120"/>
              </a:rPr>
              <a:t>Floridian Insight</a:t>
            </a:r>
            <a:endParaRPr lang="en-US" sz="1000" dirty="0"/>
          </a:p>
        </p:txBody>
      </p:sp>
      <p:sp>
        <p:nvSpPr>
          <p:cNvPr id="29" name="Text 24"/>
          <p:cNvSpPr/>
          <p:nvPr/>
        </p:nvSpPr>
        <p:spPr>
          <a:xfrm>
            <a:off x="8229600" y="6172200"/>
            <a:ext cx="3520440" cy="41148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90+ samples/account — 1.5× the Tri-State rate. Deeper project engagement, higher commitment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RFM Analysis &amp; Strategic Segmentation</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03</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Shape 6"/>
          <p:cNvSpPr/>
          <p:nvPr/>
        </p:nvSpPr>
        <p:spPr>
          <a:xfrm>
            <a:off x="274320" y="777240"/>
            <a:ext cx="2194560" cy="1417320"/>
          </a:xfrm>
          <a:prstGeom prst="rect">
            <a:avLst/>
          </a:prstGeom>
          <a:solidFill>
            <a:srgbClr val="0B1C3F"/>
          </a:solidFill>
          <a:ln w="12700">
            <a:solidFill>
              <a:srgbClr val="0B1C3F"/>
            </a:solidFill>
            <a:prstDash val="solid"/>
          </a:ln>
          <a:effectLst>
            <a:outerShdw blurRad="101600" dist="38100" dir="8100000" algn="bl" rotWithShape="0">
              <a:srgbClr val="000000">
                <a:alpha val="12000"/>
              </a:srgbClr>
            </a:outerShdw>
          </a:effectLst>
        </p:spPr>
      </p:sp>
      <p:sp>
        <p:nvSpPr>
          <p:cNvPr id="9" name="Text 7"/>
          <p:cNvSpPr/>
          <p:nvPr/>
        </p:nvSpPr>
        <p:spPr>
          <a:xfrm>
            <a:off x="365760" y="822960"/>
            <a:ext cx="64008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R</a:t>
            </a:r>
            <a:endParaRPr lang="en-US" sz="4400" dirty="0"/>
          </a:p>
        </p:txBody>
      </p:sp>
      <p:sp>
        <p:nvSpPr>
          <p:cNvPr id="10" name="Text 8"/>
          <p:cNvSpPr/>
          <p:nvPr/>
        </p:nvSpPr>
        <p:spPr>
          <a:xfrm>
            <a:off x="1051560" y="868680"/>
            <a:ext cx="132588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Recency</a:t>
            </a:r>
            <a:endParaRPr lang="en-US" sz="1400" dirty="0"/>
          </a:p>
        </p:txBody>
      </p:sp>
      <p:sp>
        <p:nvSpPr>
          <p:cNvPr id="11" name="Text 9"/>
          <p:cNvSpPr/>
          <p:nvPr/>
        </p:nvSpPr>
        <p:spPr>
          <a:xfrm>
            <a:off x="1051560" y="1207008"/>
            <a:ext cx="1325880" cy="896112"/>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Days since last order</a:t>
            </a:r>
            <a:endParaRPr lang="en-US" sz="950" dirty="0"/>
          </a:p>
          <a:p>
            <a:pPr marL="0" indent="0">
              <a:buNone/>
            </a:pPr>
            <a:r>
              <a:rPr lang="en-US" sz="950" dirty="0">
                <a:solidFill>
                  <a:srgbClr val="CADCFC"/>
                </a:solidFill>
                <a:latin typeface="Calibri" pitchFamily="34" charset="0"/>
                <a:ea typeface="Calibri" pitchFamily="34" charset="-122"/>
                <a:cs typeface="Calibri" pitchFamily="34" charset="-120"/>
              </a:rPr>
              <a:t>→ Snapshot date − max(shipped_dt)</a:t>
            </a:r>
            <a:endParaRPr lang="en-US" sz="950" dirty="0"/>
          </a:p>
        </p:txBody>
      </p:sp>
      <p:sp>
        <p:nvSpPr>
          <p:cNvPr id="12" name="Shape 10"/>
          <p:cNvSpPr/>
          <p:nvPr/>
        </p:nvSpPr>
        <p:spPr>
          <a:xfrm>
            <a:off x="2651760" y="777240"/>
            <a:ext cx="2194560" cy="1417320"/>
          </a:xfrm>
          <a:prstGeom prst="rect">
            <a:avLst/>
          </a:prstGeom>
          <a:solidFill>
            <a:srgbClr val="1B6B3A"/>
          </a:solidFill>
          <a:ln w="12700">
            <a:solidFill>
              <a:srgbClr val="1B6B3A"/>
            </a:solidFill>
            <a:prstDash val="solid"/>
          </a:ln>
          <a:effectLst>
            <a:outerShdw blurRad="101600" dist="38100" dir="8100000" algn="bl" rotWithShape="0">
              <a:srgbClr val="000000">
                <a:alpha val="12000"/>
              </a:srgbClr>
            </a:outerShdw>
          </a:effectLst>
        </p:spPr>
      </p:sp>
      <p:sp>
        <p:nvSpPr>
          <p:cNvPr id="13" name="Text 11"/>
          <p:cNvSpPr/>
          <p:nvPr/>
        </p:nvSpPr>
        <p:spPr>
          <a:xfrm>
            <a:off x="2743200" y="822960"/>
            <a:ext cx="64008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F</a:t>
            </a:r>
            <a:endParaRPr lang="en-US" sz="4400" dirty="0"/>
          </a:p>
        </p:txBody>
      </p:sp>
      <p:sp>
        <p:nvSpPr>
          <p:cNvPr id="14" name="Text 12"/>
          <p:cNvSpPr/>
          <p:nvPr/>
        </p:nvSpPr>
        <p:spPr>
          <a:xfrm>
            <a:off x="3429000" y="868680"/>
            <a:ext cx="132588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Frequency</a:t>
            </a:r>
            <a:endParaRPr lang="en-US" sz="1400" dirty="0"/>
          </a:p>
        </p:txBody>
      </p:sp>
      <p:sp>
        <p:nvSpPr>
          <p:cNvPr id="15" name="Text 13"/>
          <p:cNvSpPr/>
          <p:nvPr/>
        </p:nvSpPr>
        <p:spPr>
          <a:xfrm>
            <a:off x="3429000" y="1207008"/>
            <a:ext cx="1325880" cy="896112"/>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Unique orders placed</a:t>
            </a:r>
            <a:endParaRPr lang="en-US" sz="950" dirty="0"/>
          </a:p>
          <a:p>
            <a:pPr marL="0" indent="0">
              <a:buNone/>
            </a:pPr>
            <a:r>
              <a:rPr lang="en-US" sz="950" dirty="0">
                <a:solidFill>
                  <a:srgbClr val="CADCFC"/>
                </a:solidFill>
                <a:latin typeface="Calibri" pitchFamily="34" charset="0"/>
                <a:ea typeface="Calibri" pitchFamily="34" charset="-122"/>
                <a:cs typeface="Calibri" pitchFamily="34" charset="-120"/>
              </a:rPr>
              <a:t>→ COUNT DISTINCT order_id</a:t>
            </a:r>
            <a:endParaRPr lang="en-US" sz="950" dirty="0"/>
          </a:p>
        </p:txBody>
      </p:sp>
      <p:sp>
        <p:nvSpPr>
          <p:cNvPr id="16" name="Shape 14"/>
          <p:cNvSpPr/>
          <p:nvPr/>
        </p:nvSpPr>
        <p:spPr>
          <a:xfrm>
            <a:off x="5029200" y="777240"/>
            <a:ext cx="2194560" cy="1417320"/>
          </a:xfrm>
          <a:prstGeom prst="rect">
            <a:avLst/>
          </a:prstGeom>
          <a:solidFill>
            <a:srgbClr val="C9A84C"/>
          </a:solidFill>
          <a:ln w="12700">
            <a:solidFill>
              <a:srgbClr val="C9A84C"/>
            </a:solidFill>
            <a:prstDash val="solid"/>
          </a:ln>
          <a:effectLst>
            <a:outerShdw blurRad="101600" dist="38100" dir="8100000" algn="bl" rotWithShape="0">
              <a:srgbClr val="000000">
                <a:alpha val="12000"/>
              </a:srgbClr>
            </a:outerShdw>
          </a:effectLst>
        </p:spPr>
      </p:sp>
      <p:sp>
        <p:nvSpPr>
          <p:cNvPr id="17" name="Text 15"/>
          <p:cNvSpPr/>
          <p:nvPr/>
        </p:nvSpPr>
        <p:spPr>
          <a:xfrm>
            <a:off x="5120640" y="822960"/>
            <a:ext cx="640080" cy="82296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M</a:t>
            </a:r>
            <a:endParaRPr lang="en-US" sz="4400" dirty="0"/>
          </a:p>
        </p:txBody>
      </p:sp>
      <p:sp>
        <p:nvSpPr>
          <p:cNvPr id="18" name="Text 16"/>
          <p:cNvSpPr/>
          <p:nvPr/>
        </p:nvSpPr>
        <p:spPr>
          <a:xfrm>
            <a:off x="5806440" y="868680"/>
            <a:ext cx="1325880" cy="32918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Monetary</a:t>
            </a:r>
            <a:endParaRPr lang="en-US" sz="1400" dirty="0"/>
          </a:p>
        </p:txBody>
      </p:sp>
      <p:sp>
        <p:nvSpPr>
          <p:cNvPr id="19" name="Text 17"/>
          <p:cNvSpPr/>
          <p:nvPr/>
        </p:nvSpPr>
        <p:spPr>
          <a:xfrm>
            <a:off x="5806440" y="1207008"/>
            <a:ext cx="1325880" cy="896112"/>
          </a:xfrm>
          <a:prstGeom prst="rect">
            <a:avLst/>
          </a:prstGeom>
          <a:noFill/>
          <a:ln/>
        </p:spPr>
        <p:txBody>
          <a:bodyPr wrap="square" lIns="0" tIns="0" rIns="0" bIns="0" rtlCol="0" anchor="ctr"/>
          <a:lstStyle/>
          <a:p>
            <a:pPr marL="0" indent="0">
              <a:buNone/>
            </a:pPr>
            <a:r>
              <a:rPr lang="en-US" sz="950" dirty="0">
                <a:solidFill>
                  <a:srgbClr val="CADCFC"/>
                </a:solidFill>
                <a:latin typeface="Calibri" pitchFamily="34" charset="0"/>
                <a:ea typeface="Calibri" pitchFamily="34" charset="-122"/>
                <a:cs typeface="Calibri" pitchFamily="34" charset="-120"/>
              </a:rPr>
              <a:t>Total net revenue</a:t>
            </a:r>
            <a:endParaRPr lang="en-US" sz="950" dirty="0"/>
          </a:p>
          <a:p>
            <a:pPr marL="0" indent="0">
              <a:buNone/>
            </a:pPr>
            <a:r>
              <a:rPr lang="en-US" sz="950" dirty="0">
                <a:solidFill>
                  <a:srgbClr val="CADCFC"/>
                </a:solidFill>
                <a:latin typeface="Calibri" pitchFamily="34" charset="0"/>
                <a:ea typeface="Calibri" pitchFamily="34" charset="-122"/>
                <a:cs typeface="Calibri" pitchFamily="34" charset="-120"/>
              </a:rPr>
              <a:t>→ SUM(netrevenue)</a:t>
            </a:r>
            <a:endParaRPr lang="en-US" sz="950" dirty="0"/>
          </a:p>
        </p:txBody>
      </p:sp>
      <p:sp>
        <p:nvSpPr>
          <p:cNvPr id="20" name="Shape 18"/>
          <p:cNvSpPr/>
          <p:nvPr/>
        </p:nvSpPr>
        <p:spPr>
          <a:xfrm>
            <a:off x="274320" y="2331720"/>
            <a:ext cx="5440680" cy="420624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1" name="Shape 19"/>
          <p:cNvSpPr/>
          <p:nvPr/>
        </p:nvSpPr>
        <p:spPr>
          <a:xfrm>
            <a:off x="274320" y="2331720"/>
            <a:ext cx="5440680" cy="384048"/>
          </a:xfrm>
          <a:prstGeom prst="rect">
            <a:avLst/>
          </a:prstGeom>
          <a:solidFill>
            <a:srgbClr val="0B1C3F"/>
          </a:solidFill>
          <a:ln w="12700">
            <a:solidFill>
              <a:srgbClr val="0B1C3F"/>
            </a:solidFill>
            <a:prstDash val="solid"/>
          </a:ln>
        </p:spPr>
      </p:sp>
      <p:sp>
        <p:nvSpPr>
          <p:cNvPr id="22" name="Text 20"/>
          <p:cNvSpPr/>
          <p:nvPr/>
        </p:nvSpPr>
        <p:spPr>
          <a:xfrm>
            <a:off x="411480" y="2404872"/>
            <a:ext cx="1554480" cy="274320"/>
          </a:xfrm>
          <a:prstGeom prst="rect">
            <a:avLst/>
          </a:prstGeom>
          <a:noFill/>
          <a:ln/>
        </p:spPr>
        <p:txBody>
          <a:bodyPr wrap="square" lIns="0" tIns="0" rIns="0" bIns="0" rtlCol="0" anchor="ctr"/>
          <a:lstStyle/>
          <a:p>
            <a:pPr marL="0" indent="0">
              <a:buNone/>
            </a:pPr>
            <a:r>
              <a:rPr lang="en-US" sz="1000" b="1" dirty="0">
                <a:solidFill>
                  <a:srgbClr val="C9A84C"/>
                </a:solidFill>
                <a:latin typeface="Calibri" pitchFamily="34" charset="0"/>
                <a:ea typeface="Calibri" pitchFamily="34" charset="-122"/>
                <a:cs typeface="Calibri" pitchFamily="34" charset="-120"/>
              </a:rPr>
              <a:t>Segment</a:t>
            </a:r>
            <a:endParaRPr lang="en-US" sz="1000" dirty="0"/>
          </a:p>
        </p:txBody>
      </p:sp>
      <p:sp>
        <p:nvSpPr>
          <p:cNvPr id="23" name="Text 21"/>
          <p:cNvSpPr/>
          <p:nvPr/>
        </p:nvSpPr>
        <p:spPr>
          <a:xfrm>
            <a:off x="1965960" y="2404872"/>
            <a:ext cx="1280160" cy="274320"/>
          </a:xfrm>
          <a:prstGeom prst="rect">
            <a:avLst/>
          </a:prstGeom>
          <a:noFill/>
          <a:ln/>
        </p:spPr>
        <p:txBody>
          <a:bodyPr wrap="square" lIns="0" tIns="0" rIns="0" bIns="0" rtlCol="0" anchor="ctr"/>
          <a:lstStyle/>
          <a:p>
            <a:pPr marL="0" indent="0">
              <a:buNone/>
            </a:pPr>
            <a:r>
              <a:rPr lang="en-US" sz="1000" b="1" dirty="0">
                <a:solidFill>
                  <a:srgbClr val="C9A84C"/>
                </a:solidFill>
                <a:latin typeface="Calibri" pitchFamily="34" charset="0"/>
                <a:ea typeface="Calibri" pitchFamily="34" charset="-122"/>
                <a:cs typeface="Calibri" pitchFamily="34" charset="-120"/>
              </a:rPr>
              <a:t>Score Logic</a:t>
            </a:r>
            <a:endParaRPr lang="en-US" sz="1000" dirty="0"/>
          </a:p>
        </p:txBody>
      </p:sp>
      <p:sp>
        <p:nvSpPr>
          <p:cNvPr id="24" name="Text 22"/>
          <p:cNvSpPr/>
          <p:nvPr/>
        </p:nvSpPr>
        <p:spPr>
          <a:xfrm>
            <a:off x="3246120" y="2404872"/>
            <a:ext cx="2423160" cy="274320"/>
          </a:xfrm>
          <a:prstGeom prst="rect">
            <a:avLst/>
          </a:prstGeom>
          <a:noFill/>
          <a:ln/>
        </p:spPr>
        <p:txBody>
          <a:bodyPr wrap="square" lIns="0" tIns="0" rIns="0" bIns="0" rtlCol="0" anchor="ctr"/>
          <a:lstStyle/>
          <a:p>
            <a:pPr marL="0" indent="0">
              <a:buNone/>
            </a:pPr>
            <a:r>
              <a:rPr lang="en-US" sz="1000" b="1" dirty="0">
                <a:solidFill>
                  <a:srgbClr val="C9A84C"/>
                </a:solidFill>
                <a:latin typeface="Calibri" pitchFamily="34" charset="0"/>
                <a:ea typeface="Calibri" pitchFamily="34" charset="-122"/>
                <a:cs typeface="Calibri" pitchFamily="34" charset="-120"/>
              </a:rPr>
              <a:t>Business Profile</a:t>
            </a:r>
            <a:endParaRPr lang="en-US" sz="1000" dirty="0"/>
          </a:p>
        </p:txBody>
      </p:sp>
      <p:sp>
        <p:nvSpPr>
          <p:cNvPr id="25" name="Shape 23"/>
          <p:cNvSpPr/>
          <p:nvPr/>
        </p:nvSpPr>
        <p:spPr>
          <a:xfrm>
            <a:off x="274320" y="2715768"/>
            <a:ext cx="5440680" cy="548640"/>
          </a:xfrm>
          <a:prstGeom prst="rect">
            <a:avLst/>
          </a:prstGeom>
          <a:solidFill>
            <a:srgbClr val="E8EDF4"/>
          </a:solidFill>
          <a:ln w="3810">
            <a:solidFill>
              <a:srgbClr val="E8EDF4"/>
            </a:solidFill>
            <a:prstDash val="solid"/>
          </a:ln>
        </p:spPr>
      </p:sp>
      <p:sp>
        <p:nvSpPr>
          <p:cNvPr id="26" name="Shape 24"/>
          <p:cNvSpPr/>
          <p:nvPr/>
        </p:nvSpPr>
        <p:spPr>
          <a:xfrm>
            <a:off x="274320" y="2715768"/>
            <a:ext cx="64008" cy="548640"/>
          </a:xfrm>
          <a:prstGeom prst="rect">
            <a:avLst/>
          </a:prstGeom>
          <a:solidFill>
            <a:srgbClr val="1B6B3A"/>
          </a:solidFill>
          <a:ln w="12700">
            <a:solidFill>
              <a:srgbClr val="1B6B3A"/>
            </a:solidFill>
            <a:prstDash val="solid"/>
          </a:ln>
        </p:spPr>
      </p:sp>
      <p:sp>
        <p:nvSpPr>
          <p:cNvPr id="27" name="Text 25"/>
          <p:cNvSpPr/>
          <p:nvPr/>
        </p:nvSpPr>
        <p:spPr>
          <a:xfrm>
            <a:off x="438912" y="2825496"/>
            <a:ext cx="1463040" cy="320040"/>
          </a:xfrm>
          <a:prstGeom prst="rect">
            <a:avLst/>
          </a:prstGeom>
          <a:noFill/>
          <a:ln/>
        </p:spPr>
        <p:txBody>
          <a:bodyPr wrap="square" lIns="0" tIns="0" rIns="0" bIns="0" rtlCol="0" anchor="ctr"/>
          <a:lstStyle/>
          <a:p>
            <a:pPr marL="0" indent="0">
              <a:buNone/>
            </a:pPr>
            <a:r>
              <a:rPr lang="en-US" sz="950" b="1" dirty="0">
                <a:solidFill>
                  <a:srgbClr val="1B6B3A"/>
                </a:solidFill>
                <a:latin typeface="Calibri" pitchFamily="34" charset="0"/>
                <a:ea typeface="Calibri" pitchFamily="34" charset="-122"/>
                <a:cs typeface="Calibri" pitchFamily="34" charset="-120"/>
              </a:rPr>
              <a:t>Champions (VIP)</a:t>
            </a:r>
            <a:endParaRPr lang="en-US" sz="950" dirty="0"/>
          </a:p>
        </p:txBody>
      </p:sp>
      <p:sp>
        <p:nvSpPr>
          <p:cNvPr id="28" name="Text 26"/>
          <p:cNvSpPr/>
          <p:nvPr/>
        </p:nvSpPr>
        <p:spPr>
          <a:xfrm>
            <a:off x="2011680" y="2825496"/>
            <a:ext cx="1188720" cy="320040"/>
          </a:xfrm>
          <a:prstGeom prst="rect">
            <a:avLst/>
          </a:prstGeom>
          <a:noFill/>
          <a:ln/>
        </p:spPr>
        <p:txBody>
          <a:bodyPr wrap="square" lIns="0" tIns="0" rIns="0" bIns="0" rtlCol="0" anchor="ctr"/>
          <a:lstStyle/>
          <a:p>
            <a:pPr marL="0" indent="0">
              <a:buNone/>
            </a:pPr>
            <a:r>
              <a:rPr lang="en-US" sz="900" i="1" dirty="0">
                <a:solidFill>
                  <a:srgbClr val="2B2B2B"/>
                </a:solidFill>
                <a:latin typeface="Calibri" pitchFamily="34" charset="0"/>
                <a:ea typeface="Calibri" pitchFamily="34" charset="-122"/>
                <a:cs typeface="Calibri" pitchFamily="34" charset="-120"/>
              </a:rPr>
              <a:t>R≥4, F≥4, M≥4</a:t>
            </a:r>
            <a:endParaRPr lang="en-US" sz="900" dirty="0"/>
          </a:p>
        </p:txBody>
      </p:sp>
      <p:sp>
        <p:nvSpPr>
          <p:cNvPr id="29" name="Text 27"/>
          <p:cNvSpPr/>
          <p:nvPr/>
        </p:nvSpPr>
        <p:spPr>
          <a:xfrm>
            <a:off x="3337560" y="2825496"/>
            <a:ext cx="2240280" cy="3200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Most valuable, active, loyal designers</a:t>
            </a:r>
            <a:endParaRPr lang="en-US" sz="900" dirty="0"/>
          </a:p>
        </p:txBody>
      </p:sp>
      <p:sp>
        <p:nvSpPr>
          <p:cNvPr id="30" name="Shape 28"/>
          <p:cNvSpPr/>
          <p:nvPr/>
        </p:nvSpPr>
        <p:spPr>
          <a:xfrm>
            <a:off x="274320" y="3300984"/>
            <a:ext cx="5440680" cy="548640"/>
          </a:xfrm>
          <a:prstGeom prst="rect">
            <a:avLst/>
          </a:prstGeom>
          <a:solidFill>
            <a:srgbClr val="FFFFFF"/>
          </a:solidFill>
          <a:ln w="3810">
            <a:solidFill>
              <a:srgbClr val="E8EDF4"/>
            </a:solidFill>
            <a:prstDash val="solid"/>
          </a:ln>
        </p:spPr>
      </p:sp>
      <p:sp>
        <p:nvSpPr>
          <p:cNvPr id="31" name="Shape 29"/>
          <p:cNvSpPr/>
          <p:nvPr/>
        </p:nvSpPr>
        <p:spPr>
          <a:xfrm>
            <a:off x="274320" y="3300984"/>
            <a:ext cx="64008" cy="548640"/>
          </a:xfrm>
          <a:prstGeom prst="rect">
            <a:avLst/>
          </a:prstGeom>
          <a:solidFill>
            <a:srgbClr val="0B1C3F"/>
          </a:solidFill>
          <a:ln w="12700">
            <a:solidFill>
              <a:srgbClr val="0B1C3F"/>
            </a:solidFill>
            <a:prstDash val="solid"/>
          </a:ln>
        </p:spPr>
      </p:sp>
      <p:sp>
        <p:nvSpPr>
          <p:cNvPr id="32" name="Text 30"/>
          <p:cNvSpPr/>
          <p:nvPr/>
        </p:nvSpPr>
        <p:spPr>
          <a:xfrm>
            <a:off x="438912" y="3410712"/>
            <a:ext cx="1463040" cy="320040"/>
          </a:xfrm>
          <a:prstGeom prst="rect">
            <a:avLst/>
          </a:prstGeom>
          <a:noFill/>
          <a:ln/>
        </p:spPr>
        <p:txBody>
          <a:bodyPr wrap="square" lIns="0" tIns="0" rIns="0" bIns="0" rtlCol="0" anchor="ctr"/>
          <a:lstStyle/>
          <a:p>
            <a:pPr marL="0" indent="0">
              <a:buNone/>
            </a:pPr>
            <a:r>
              <a:rPr lang="en-US" sz="950" b="1" dirty="0">
                <a:solidFill>
                  <a:srgbClr val="0B1C3F"/>
                </a:solidFill>
                <a:latin typeface="Calibri" pitchFamily="34" charset="0"/>
                <a:ea typeface="Calibri" pitchFamily="34" charset="-122"/>
                <a:cs typeface="Calibri" pitchFamily="34" charset="-120"/>
              </a:rPr>
              <a:t>Loyal Customers</a:t>
            </a:r>
            <a:endParaRPr lang="en-US" sz="950" dirty="0"/>
          </a:p>
        </p:txBody>
      </p:sp>
      <p:sp>
        <p:nvSpPr>
          <p:cNvPr id="33" name="Text 31"/>
          <p:cNvSpPr/>
          <p:nvPr/>
        </p:nvSpPr>
        <p:spPr>
          <a:xfrm>
            <a:off x="2011680" y="3410712"/>
            <a:ext cx="1188720" cy="320040"/>
          </a:xfrm>
          <a:prstGeom prst="rect">
            <a:avLst/>
          </a:prstGeom>
          <a:noFill/>
          <a:ln/>
        </p:spPr>
        <p:txBody>
          <a:bodyPr wrap="square" lIns="0" tIns="0" rIns="0" bIns="0" rtlCol="0" anchor="ctr"/>
          <a:lstStyle/>
          <a:p>
            <a:pPr marL="0" indent="0">
              <a:buNone/>
            </a:pPr>
            <a:r>
              <a:rPr lang="en-US" sz="900" i="1" dirty="0">
                <a:solidFill>
                  <a:srgbClr val="2B2B2B"/>
                </a:solidFill>
                <a:latin typeface="Calibri" pitchFamily="34" charset="0"/>
                <a:ea typeface="Calibri" pitchFamily="34" charset="-122"/>
                <a:cs typeface="Calibri" pitchFamily="34" charset="-120"/>
              </a:rPr>
              <a:t>R≥3, F≥3</a:t>
            </a:r>
            <a:endParaRPr lang="en-US" sz="900" dirty="0"/>
          </a:p>
        </p:txBody>
      </p:sp>
      <p:sp>
        <p:nvSpPr>
          <p:cNvPr id="34" name="Text 32"/>
          <p:cNvSpPr/>
          <p:nvPr/>
        </p:nvSpPr>
        <p:spPr>
          <a:xfrm>
            <a:off x="3337560" y="3410712"/>
            <a:ext cx="2240280" cy="3200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Consistent purchasers, business backbone</a:t>
            </a:r>
            <a:endParaRPr lang="en-US" sz="900" dirty="0"/>
          </a:p>
        </p:txBody>
      </p:sp>
      <p:sp>
        <p:nvSpPr>
          <p:cNvPr id="35" name="Shape 33"/>
          <p:cNvSpPr/>
          <p:nvPr/>
        </p:nvSpPr>
        <p:spPr>
          <a:xfrm>
            <a:off x="274320" y="3886200"/>
            <a:ext cx="5440680" cy="548640"/>
          </a:xfrm>
          <a:prstGeom prst="rect">
            <a:avLst/>
          </a:prstGeom>
          <a:solidFill>
            <a:srgbClr val="E8EDF4"/>
          </a:solidFill>
          <a:ln w="3810">
            <a:solidFill>
              <a:srgbClr val="E8EDF4"/>
            </a:solidFill>
            <a:prstDash val="solid"/>
          </a:ln>
        </p:spPr>
      </p:sp>
      <p:sp>
        <p:nvSpPr>
          <p:cNvPr id="36" name="Shape 34"/>
          <p:cNvSpPr/>
          <p:nvPr/>
        </p:nvSpPr>
        <p:spPr>
          <a:xfrm>
            <a:off x="274320" y="3886200"/>
            <a:ext cx="64008" cy="548640"/>
          </a:xfrm>
          <a:prstGeom prst="rect">
            <a:avLst/>
          </a:prstGeom>
          <a:solidFill>
            <a:srgbClr val="1D4ED8"/>
          </a:solidFill>
          <a:ln w="12700">
            <a:solidFill>
              <a:srgbClr val="1D4ED8"/>
            </a:solidFill>
            <a:prstDash val="solid"/>
          </a:ln>
        </p:spPr>
      </p:sp>
      <p:sp>
        <p:nvSpPr>
          <p:cNvPr id="37" name="Text 35"/>
          <p:cNvSpPr/>
          <p:nvPr/>
        </p:nvSpPr>
        <p:spPr>
          <a:xfrm>
            <a:off x="438912" y="3995928"/>
            <a:ext cx="1463040" cy="320040"/>
          </a:xfrm>
          <a:prstGeom prst="rect">
            <a:avLst/>
          </a:prstGeom>
          <a:noFill/>
          <a:ln/>
        </p:spPr>
        <p:txBody>
          <a:bodyPr wrap="square" lIns="0" tIns="0" rIns="0" bIns="0" rtlCol="0" anchor="ctr"/>
          <a:lstStyle/>
          <a:p>
            <a:pPr marL="0" indent="0">
              <a:buNone/>
            </a:pPr>
            <a:r>
              <a:rPr lang="en-US" sz="950" b="1" dirty="0">
                <a:solidFill>
                  <a:srgbClr val="1D4ED8"/>
                </a:solidFill>
                <a:latin typeface="Calibri" pitchFamily="34" charset="0"/>
                <a:ea typeface="Calibri" pitchFamily="34" charset="-122"/>
                <a:cs typeface="Calibri" pitchFamily="34" charset="-120"/>
              </a:rPr>
              <a:t>New/Recent Prospects</a:t>
            </a:r>
            <a:endParaRPr lang="en-US" sz="950" dirty="0"/>
          </a:p>
        </p:txBody>
      </p:sp>
      <p:sp>
        <p:nvSpPr>
          <p:cNvPr id="38" name="Text 36"/>
          <p:cNvSpPr/>
          <p:nvPr/>
        </p:nvSpPr>
        <p:spPr>
          <a:xfrm>
            <a:off x="2011680" y="3995928"/>
            <a:ext cx="1188720" cy="320040"/>
          </a:xfrm>
          <a:prstGeom prst="rect">
            <a:avLst/>
          </a:prstGeom>
          <a:noFill/>
          <a:ln/>
        </p:spPr>
        <p:txBody>
          <a:bodyPr wrap="square" lIns="0" tIns="0" rIns="0" bIns="0" rtlCol="0" anchor="ctr"/>
          <a:lstStyle/>
          <a:p>
            <a:pPr marL="0" indent="0">
              <a:buNone/>
            </a:pPr>
            <a:r>
              <a:rPr lang="en-US" sz="900" i="1" dirty="0">
                <a:solidFill>
                  <a:srgbClr val="2B2B2B"/>
                </a:solidFill>
                <a:latin typeface="Calibri" pitchFamily="34" charset="0"/>
                <a:ea typeface="Calibri" pitchFamily="34" charset="-122"/>
                <a:cs typeface="Calibri" pitchFamily="34" charset="-120"/>
              </a:rPr>
              <a:t>R≥4, F≤2</a:t>
            </a:r>
            <a:endParaRPr lang="en-US" sz="900" dirty="0"/>
          </a:p>
        </p:txBody>
      </p:sp>
      <p:sp>
        <p:nvSpPr>
          <p:cNvPr id="39" name="Text 37"/>
          <p:cNvSpPr/>
          <p:nvPr/>
        </p:nvSpPr>
        <p:spPr>
          <a:xfrm>
            <a:off x="3337560" y="3995928"/>
            <a:ext cx="2240280" cy="3200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Recently joined; first small purchase</a:t>
            </a:r>
            <a:endParaRPr lang="en-US" sz="900" dirty="0"/>
          </a:p>
        </p:txBody>
      </p:sp>
      <p:sp>
        <p:nvSpPr>
          <p:cNvPr id="40" name="Shape 38"/>
          <p:cNvSpPr/>
          <p:nvPr/>
        </p:nvSpPr>
        <p:spPr>
          <a:xfrm>
            <a:off x="274320" y="4471416"/>
            <a:ext cx="5440680" cy="548640"/>
          </a:xfrm>
          <a:prstGeom prst="rect">
            <a:avLst/>
          </a:prstGeom>
          <a:solidFill>
            <a:srgbClr val="FFFFFF"/>
          </a:solidFill>
          <a:ln w="3810">
            <a:solidFill>
              <a:srgbClr val="E8EDF4"/>
            </a:solidFill>
            <a:prstDash val="solid"/>
          </a:ln>
        </p:spPr>
      </p:sp>
      <p:sp>
        <p:nvSpPr>
          <p:cNvPr id="41" name="Shape 39"/>
          <p:cNvSpPr/>
          <p:nvPr/>
        </p:nvSpPr>
        <p:spPr>
          <a:xfrm>
            <a:off x="274320" y="4471416"/>
            <a:ext cx="64008" cy="548640"/>
          </a:xfrm>
          <a:prstGeom prst="rect">
            <a:avLst/>
          </a:prstGeom>
          <a:solidFill>
            <a:srgbClr val="B45309"/>
          </a:solidFill>
          <a:ln w="12700">
            <a:solidFill>
              <a:srgbClr val="B45309"/>
            </a:solidFill>
            <a:prstDash val="solid"/>
          </a:ln>
        </p:spPr>
      </p:sp>
      <p:sp>
        <p:nvSpPr>
          <p:cNvPr id="42" name="Text 40"/>
          <p:cNvSpPr/>
          <p:nvPr/>
        </p:nvSpPr>
        <p:spPr>
          <a:xfrm>
            <a:off x="438912" y="4581144"/>
            <a:ext cx="1463040" cy="320040"/>
          </a:xfrm>
          <a:prstGeom prst="rect">
            <a:avLst/>
          </a:prstGeom>
          <a:noFill/>
          <a:ln/>
        </p:spPr>
        <p:txBody>
          <a:bodyPr wrap="square" lIns="0" tIns="0" rIns="0" bIns="0" rtlCol="0" anchor="ctr"/>
          <a:lstStyle/>
          <a:p>
            <a:pPr marL="0" indent="0">
              <a:buNone/>
            </a:pPr>
            <a:r>
              <a:rPr lang="en-US" sz="950" b="1" dirty="0">
                <a:solidFill>
                  <a:srgbClr val="B45309"/>
                </a:solidFill>
                <a:latin typeface="Calibri" pitchFamily="34" charset="0"/>
                <a:ea typeface="Calibri" pitchFamily="34" charset="-122"/>
                <a:cs typeface="Calibri" pitchFamily="34" charset="-120"/>
              </a:rPr>
              <a:t>At Risk (High Value)</a:t>
            </a:r>
            <a:endParaRPr lang="en-US" sz="950" dirty="0"/>
          </a:p>
        </p:txBody>
      </p:sp>
      <p:sp>
        <p:nvSpPr>
          <p:cNvPr id="43" name="Text 41"/>
          <p:cNvSpPr/>
          <p:nvPr/>
        </p:nvSpPr>
        <p:spPr>
          <a:xfrm>
            <a:off x="2011680" y="4581144"/>
            <a:ext cx="1188720" cy="320040"/>
          </a:xfrm>
          <a:prstGeom prst="rect">
            <a:avLst/>
          </a:prstGeom>
          <a:noFill/>
          <a:ln/>
        </p:spPr>
        <p:txBody>
          <a:bodyPr wrap="square" lIns="0" tIns="0" rIns="0" bIns="0" rtlCol="0" anchor="ctr"/>
          <a:lstStyle/>
          <a:p>
            <a:pPr marL="0" indent="0">
              <a:buNone/>
            </a:pPr>
            <a:r>
              <a:rPr lang="en-US" sz="900" i="1" dirty="0">
                <a:solidFill>
                  <a:srgbClr val="2B2B2B"/>
                </a:solidFill>
                <a:latin typeface="Calibri" pitchFamily="34" charset="0"/>
                <a:ea typeface="Calibri" pitchFamily="34" charset="-122"/>
                <a:cs typeface="Calibri" pitchFamily="34" charset="-120"/>
              </a:rPr>
              <a:t>R≤2, M≥4</a:t>
            </a:r>
            <a:endParaRPr lang="en-US" sz="900" dirty="0"/>
          </a:p>
        </p:txBody>
      </p:sp>
      <p:sp>
        <p:nvSpPr>
          <p:cNvPr id="44" name="Text 42"/>
          <p:cNvSpPr/>
          <p:nvPr/>
        </p:nvSpPr>
        <p:spPr>
          <a:xfrm>
            <a:off x="3337560" y="4581144"/>
            <a:ext cx="2240280" cy="3200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Former big spenders drifting away</a:t>
            </a:r>
            <a:endParaRPr lang="en-US" sz="900" dirty="0"/>
          </a:p>
        </p:txBody>
      </p:sp>
      <p:sp>
        <p:nvSpPr>
          <p:cNvPr id="45" name="Shape 43"/>
          <p:cNvSpPr/>
          <p:nvPr/>
        </p:nvSpPr>
        <p:spPr>
          <a:xfrm>
            <a:off x="274320" y="5056632"/>
            <a:ext cx="5440680" cy="548640"/>
          </a:xfrm>
          <a:prstGeom prst="rect">
            <a:avLst/>
          </a:prstGeom>
          <a:solidFill>
            <a:srgbClr val="E8EDF4"/>
          </a:solidFill>
          <a:ln w="3810">
            <a:solidFill>
              <a:srgbClr val="E8EDF4"/>
            </a:solidFill>
            <a:prstDash val="solid"/>
          </a:ln>
        </p:spPr>
      </p:sp>
      <p:sp>
        <p:nvSpPr>
          <p:cNvPr id="46" name="Shape 44"/>
          <p:cNvSpPr/>
          <p:nvPr/>
        </p:nvSpPr>
        <p:spPr>
          <a:xfrm>
            <a:off x="274320" y="5056632"/>
            <a:ext cx="64008" cy="548640"/>
          </a:xfrm>
          <a:prstGeom prst="rect">
            <a:avLst/>
          </a:prstGeom>
          <a:solidFill>
            <a:srgbClr val="7C2D12"/>
          </a:solidFill>
          <a:ln w="12700">
            <a:solidFill>
              <a:srgbClr val="7C2D12"/>
            </a:solidFill>
            <a:prstDash val="solid"/>
          </a:ln>
        </p:spPr>
      </p:sp>
      <p:sp>
        <p:nvSpPr>
          <p:cNvPr id="47" name="Text 45"/>
          <p:cNvSpPr/>
          <p:nvPr/>
        </p:nvSpPr>
        <p:spPr>
          <a:xfrm>
            <a:off x="438912" y="5166360"/>
            <a:ext cx="1463040" cy="320040"/>
          </a:xfrm>
          <a:prstGeom prst="rect">
            <a:avLst/>
          </a:prstGeom>
          <a:noFill/>
          <a:ln/>
        </p:spPr>
        <p:txBody>
          <a:bodyPr wrap="square" lIns="0" tIns="0" rIns="0" bIns="0" rtlCol="0" anchor="ctr"/>
          <a:lstStyle/>
          <a:p>
            <a:pPr marL="0" indent="0">
              <a:buNone/>
            </a:pPr>
            <a:r>
              <a:rPr lang="en-US" sz="950" b="1" dirty="0">
                <a:solidFill>
                  <a:srgbClr val="7C2D12"/>
                </a:solidFill>
                <a:latin typeface="Calibri" pitchFamily="34" charset="0"/>
                <a:ea typeface="Calibri" pitchFamily="34" charset="-122"/>
                <a:cs typeface="Calibri" pitchFamily="34" charset="-120"/>
              </a:rPr>
              <a:t>Hibernating</a:t>
            </a:r>
            <a:endParaRPr lang="en-US" sz="950" dirty="0"/>
          </a:p>
        </p:txBody>
      </p:sp>
      <p:sp>
        <p:nvSpPr>
          <p:cNvPr id="48" name="Text 46"/>
          <p:cNvSpPr/>
          <p:nvPr/>
        </p:nvSpPr>
        <p:spPr>
          <a:xfrm>
            <a:off x="2011680" y="5166360"/>
            <a:ext cx="1188720" cy="320040"/>
          </a:xfrm>
          <a:prstGeom prst="rect">
            <a:avLst/>
          </a:prstGeom>
          <a:noFill/>
          <a:ln/>
        </p:spPr>
        <p:txBody>
          <a:bodyPr wrap="square" lIns="0" tIns="0" rIns="0" bIns="0" rtlCol="0" anchor="ctr"/>
          <a:lstStyle/>
          <a:p>
            <a:pPr marL="0" indent="0">
              <a:buNone/>
            </a:pPr>
            <a:r>
              <a:rPr lang="en-US" sz="900" i="1" dirty="0">
                <a:solidFill>
                  <a:srgbClr val="2B2B2B"/>
                </a:solidFill>
                <a:latin typeface="Calibri" pitchFamily="34" charset="0"/>
                <a:ea typeface="Calibri" pitchFamily="34" charset="-122"/>
                <a:cs typeface="Calibri" pitchFamily="34" charset="-120"/>
              </a:rPr>
              <a:t>R≤2, F≤2</a:t>
            </a:r>
            <a:endParaRPr lang="en-US" sz="900" dirty="0"/>
          </a:p>
        </p:txBody>
      </p:sp>
      <p:sp>
        <p:nvSpPr>
          <p:cNvPr id="49" name="Text 47"/>
          <p:cNvSpPr/>
          <p:nvPr/>
        </p:nvSpPr>
        <p:spPr>
          <a:xfrm>
            <a:off x="3337560" y="5166360"/>
            <a:ext cx="2240280" cy="3200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Inactive, near-zero lifetime value</a:t>
            </a:r>
            <a:endParaRPr lang="en-US" sz="900" dirty="0"/>
          </a:p>
        </p:txBody>
      </p:sp>
      <p:sp>
        <p:nvSpPr>
          <p:cNvPr id="50" name="Shape 48"/>
          <p:cNvSpPr/>
          <p:nvPr/>
        </p:nvSpPr>
        <p:spPr>
          <a:xfrm>
            <a:off x="274320" y="5641848"/>
            <a:ext cx="5440680" cy="548640"/>
          </a:xfrm>
          <a:prstGeom prst="rect">
            <a:avLst/>
          </a:prstGeom>
          <a:solidFill>
            <a:srgbClr val="FFFFFF"/>
          </a:solidFill>
          <a:ln w="3810">
            <a:solidFill>
              <a:srgbClr val="E8EDF4"/>
            </a:solidFill>
            <a:prstDash val="solid"/>
          </a:ln>
        </p:spPr>
      </p:sp>
      <p:sp>
        <p:nvSpPr>
          <p:cNvPr id="51" name="Shape 49"/>
          <p:cNvSpPr/>
          <p:nvPr/>
        </p:nvSpPr>
        <p:spPr>
          <a:xfrm>
            <a:off x="274320" y="5641848"/>
            <a:ext cx="64008" cy="548640"/>
          </a:xfrm>
          <a:prstGeom prst="rect">
            <a:avLst/>
          </a:prstGeom>
          <a:solidFill>
            <a:srgbClr val="4A5568"/>
          </a:solidFill>
          <a:ln w="12700">
            <a:solidFill>
              <a:srgbClr val="4A5568"/>
            </a:solidFill>
            <a:prstDash val="solid"/>
          </a:ln>
        </p:spPr>
      </p:sp>
      <p:sp>
        <p:nvSpPr>
          <p:cNvPr id="52" name="Text 50"/>
          <p:cNvSpPr/>
          <p:nvPr/>
        </p:nvSpPr>
        <p:spPr>
          <a:xfrm>
            <a:off x="438912" y="5751576"/>
            <a:ext cx="1463040" cy="320040"/>
          </a:xfrm>
          <a:prstGeom prst="rect">
            <a:avLst/>
          </a:prstGeom>
          <a:noFill/>
          <a:ln/>
        </p:spPr>
        <p:txBody>
          <a:bodyPr wrap="square" lIns="0" tIns="0" rIns="0" bIns="0" rtlCol="0" anchor="ctr"/>
          <a:lstStyle/>
          <a:p>
            <a:pPr marL="0" indent="0">
              <a:buNone/>
            </a:pPr>
            <a:r>
              <a:rPr lang="en-US" sz="950" b="1" dirty="0">
                <a:solidFill>
                  <a:srgbClr val="4A5568"/>
                </a:solidFill>
                <a:latin typeface="Calibri" pitchFamily="34" charset="0"/>
                <a:ea typeface="Calibri" pitchFamily="34" charset="-122"/>
                <a:cs typeface="Calibri" pitchFamily="34" charset="-120"/>
              </a:rPr>
              <a:t>General Trade</a:t>
            </a:r>
            <a:endParaRPr lang="en-US" sz="950" dirty="0"/>
          </a:p>
        </p:txBody>
      </p:sp>
      <p:sp>
        <p:nvSpPr>
          <p:cNvPr id="53" name="Text 51"/>
          <p:cNvSpPr/>
          <p:nvPr/>
        </p:nvSpPr>
        <p:spPr>
          <a:xfrm>
            <a:off x="2011680" y="5751576"/>
            <a:ext cx="1188720" cy="320040"/>
          </a:xfrm>
          <a:prstGeom prst="rect">
            <a:avLst/>
          </a:prstGeom>
          <a:noFill/>
          <a:ln/>
        </p:spPr>
        <p:txBody>
          <a:bodyPr wrap="square" lIns="0" tIns="0" rIns="0" bIns="0" rtlCol="0" anchor="ctr"/>
          <a:lstStyle/>
          <a:p>
            <a:pPr marL="0" indent="0">
              <a:buNone/>
            </a:pPr>
            <a:r>
              <a:rPr lang="en-US" sz="900" i="1" dirty="0">
                <a:solidFill>
                  <a:srgbClr val="2B2B2B"/>
                </a:solidFill>
                <a:latin typeface="Calibri" pitchFamily="34" charset="0"/>
                <a:ea typeface="Calibri" pitchFamily="34" charset="-122"/>
                <a:cs typeface="Calibri" pitchFamily="34" charset="-120"/>
              </a:rPr>
              <a:t>All others</a:t>
            </a:r>
            <a:endParaRPr lang="en-US" sz="900" dirty="0"/>
          </a:p>
        </p:txBody>
      </p:sp>
      <p:sp>
        <p:nvSpPr>
          <p:cNvPr id="54" name="Text 52"/>
          <p:cNvSpPr/>
          <p:nvPr/>
        </p:nvSpPr>
        <p:spPr>
          <a:xfrm>
            <a:off x="3337560" y="5751576"/>
            <a:ext cx="2240280" cy="32004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Standard mid-tier customer base</a:t>
            </a:r>
            <a:endParaRPr lang="en-US" sz="900" dirty="0"/>
          </a:p>
        </p:txBody>
      </p:sp>
      <p:sp>
        <p:nvSpPr>
          <p:cNvPr id="55" name="Text 53"/>
          <p:cNvSpPr/>
          <p:nvPr/>
        </p:nvSpPr>
        <p:spPr>
          <a:xfrm>
            <a:off x="7406640" y="1952244"/>
            <a:ext cx="3324113" cy="320040"/>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Trade Account Segmentation Distribution</a:t>
            </a:r>
            <a:endParaRPr lang="en-US" sz="1100" dirty="0"/>
          </a:p>
        </p:txBody>
      </p:sp>
      <p:pic>
        <p:nvPicPr>
          <p:cNvPr id="56" name="Image 0" descr="preencoded.png"/>
          <p:cNvPicPr>
            <a:picLocks noChangeAspect="1"/>
          </p:cNvPicPr>
          <p:nvPr/>
        </p:nvPicPr>
        <p:blipFill>
          <a:blip r:embed="rId3"/>
          <a:srcRect/>
          <a:stretch/>
        </p:blipFill>
        <p:spPr>
          <a:xfrm>
            <a:off x="5760720" y="2286000"/>
            <a:ext cx="6400800" cy="42519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K-Means Implementation — Bug Discovery &amp; Correction</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03  ·  CRITICAL FIX</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Shape 6"/>
          <p:cNvSpPr/>
          <p:nvPr/>
        </p:nvSpPr>
        <p:spPr>
          <a:xfrm>
            <a:off x="274320" y="777240"/>
            <a:ext cx="11612880" cy="658368"/>
          </a:xfrm>
          <a:prstGeom prst="rect">
            <a:avLst/>
          </a:prstGeom>
          <a:solidFill>
            <a:srgbClr val="0B1C3F"/>
          </a:solidFill>
          <a:ln w="12700">
            <a:solidFill>
              <a:srgbClr val="0B1C3F"/>
            </a:solidFill>
            <a:prstDash val="solid"/>
          </a:ln>
          <a:effectLst>
            <a:outerShdw blurRad="101600" dist="38100" dir="8100000" algn="bl" rotWithShape="0">
              <a:srgbClr val="000000">
                <a:alpha val="12000"/>
              </a:srgbClr>
            </a:outerShdw>
          </a:effectLst>
        </p:spPr>
      </p:sp>
      <p:sp>
        <p:nvSpPr>
          <p:cNvPr id="9" name="Text 7"/>
          <p:cNvSpPr/>
          <p:nvPr/>
        </p:nvSpPr>
        <p:spPr>
          <a:xfrm>
            <a:off x="457200" y="795528"/>
            <a:ext cx="11247120" cy="62179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During final code review, a critical methodological error was identified in cluster assignment. Every account was being labelled with its LEAST similar cluster — the exact inverse of correct assignment.</a:t>
            </a:r>
            <a:endParaRPr lang="en-US" sz="1200" dirty="0"/>
          </a:p>
        </p:txBody>
      </p:sp>
      <p:sp>
        <p:nvSpPr>
          <p:cNvPr id="10" name="Shape 8"/>
          <p:cNvSpPr/>
          <p:nvPr/>
        </p:nvSpPr>
        <p:spPr>
          <a:xfrm>
            <a:off x="274320" y="1572768"/>
            <a:ext cx="5486400" cy="4434840"/>
          </a:xfrm>
          <a:prstGeom prst="rect">
            <a:avLst/>
          </a:prstGeom>
          <a:solidFill>
            <a:srgbClr val="FFFFFF"/>
          </a:solidFill>
          <a:ln w="19050">
            <a:solidFill>
              <a:srgbClr val="FECACA"/>
            </a:solidFill>
            <a:prstDash val="solid"/>
          </a:ln>
          <a:effectLst>
            <a:outerShdw blurRad="101600" dist="38100" dir="8100000" algn="bl" rotWithShape="0">
              <a:srgbClr val="000000">
                <a:alpha val="12000"/>
              </a:srgbClr>
            </a:outerShdw>
          </a:effectLst>
        </p:spPr>
      </p:sp>
      <p:sp>
        <p:nvSpPr>
          <p:cNvPr id="11" name="Shape 9"/>
          <p:cNvSpPr/>
          <p:nvPr/>
        </p:nvSpPr>
        <p:spPr>
          <a:xfrm>
            <a:off x="274320" y="1572768"/>
            <a:ext cx="5486400" cy="411480"/>
          </a:xfrm>
          <a:prstGeom prst="rect">
            <a:avLst/>
          </a:prstGeom>
          <a:solidFill>
            <a:srgbClr val="991B1B"/>
          </a:solidFill>
          <a:ln w="12700">
            <a:solidFill>
              <a:srgbClr val="991B1B"/>
            </a:solidFill>
            <a:prstDash val="solid"/>
          </a:ln>
        </p:spPr>
      </p:sp>
      <p:sp>
        <p:nvSpPr>
          <p:cNvPr id="12" name="Text 10"/>
          <p:cNvSpPr/>
          <p:nvPr/>
        </p:nvSpPr>
        <p:spPr>
          <a:xfrm>
            <a:off x="411480" y="1600200"/>
            <a:ext cx="521208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ORIGINAL (INCORRECT)</a:t>
            </a:r>
            <a:endParaRPr lang="en-US" sz="1100" dirty="0"/>
          </a:p>
        </p:txBody>
      </p:sp>
      <p:sp>
        <p:nvSpPr>
          <p:cNvPr id="13" name="Shape 11"/>
          <p:cNvSpPr/>
          <p:nvPr/>
        </p:nvSpPr>
        <p:spPr>
          <a:xfrm>
            <a:off x="411480" y="2066544"/>
            <a:ext cx="5212080" cy="868680"/>
          </a:xfrm>
          <a:prstGeom prst="rect">
            <a:avLst/>
          </a:prstGeom>
          <a:solidFill>
            <a:srgbClr val="FEF2F2"/>
          </a:solidFill>
          <a:ln w="6350">
            <a:solidFill>
              <a:srgbClr val="FECACA"/>
            </a:solidFill>
            <a:prstDash val="solid"/>
          </a:ln>
        </p:spPr>
      </p:sp>
      <p:sp>
        <p:nvSpPr>
          <p:cNvPr id="14" name="Text 12"/>
          <p:cNvSpPr/>
          <p:nvPr/>
        </p:nvSpPr>
        <p:spPr>
          <a:xfrm>
            <a:off x="502920" y="2103120"/>
            <a:ext cx="5029200" cy="777240"/>
          </a:xfrm>
          <a:prstGeom prst="rect">
            <a:avLst/>
          </a:prstGeom>
          <a:noFill/>
          <a:ln/>
        </p:spPr>
        <p:txBody>
          <a:bodyPr wrap="square" lIns="0" tIns="0" rIns="0" bIns="0" rtlCol="0" anchor="ctr"/>
          <a:lstStyle/>
          <a:p>
            <a:pPr marL="0" indent="0">
              <a:buNone/>
            </a:pPr>
            <a:r>
              <a:rPr lang="en-US" sz="1000" dirty="0">
                <a:solidFill>
                  <a:srgbClr val="991B1B"/>
                </a:solidFill>
                <a:latin typeface="Courier New" pitchFamily="34" charset="0"/>
                <a:ea typeface="Courier New" pitchFamily="34" charset="-122"/>
                <a:cs typeface="Courier New" pitchFamily="34" charset="-120"/>
              </a:rPr>
              <a:t>rfm['Cluster'] = kmeans.fit_transform(rfm_scaled)</a:t>
            </a:r>
            <a:endParaRPr lang="en-US" sz="1000" dirty="0"/>
          </a:p>
          <a:p>
            <a:pPr marL="0" indent="0">
              <a:buNone/>
            </a:pPr>
            <a:r>
              <a:rPr lang="en-US" sz="1000" dirty="0">
                <a:solidFill>
                  <a:srgbClr val="991B1B"/>
                </a:solidFill>
                <a:latin typeface="Courier New" pitchFamily="34" charset="0"/>
                <a:ea typeface="Courier New" pitchFamily="34" charset="-122"/>
                <a:cs typeface="Courier New" pitchFamily="34" charset="-120"/>
              </a:rPr>
              <a:t>                          .argmax(axis=1)</a:t>
            </a:r>
            <a:endParaRPr lang="en-US" sz="1000" dirty="0"/>
          </a:p>
        </p:txBody>
      </p:sp>
      <p:sp>
        <p:nvSpPr>
          <p:cNvPr id="15" name="Text 13"/>
          <p:cNvSpPr/>
          <p:nvPr/>
        </p:nvSpPr>
        <p:spPr>
          <a:xfrm>
            <a:off x="411480" y="3035808"/>
            <a:ext cx="5212080" cy="256032"/>
          </a:xfrm>
          <a:prstGeom prst="rect">
            <a:avLst/>
          </a:prstGeom>
          <a:noFill/>
          <a:ln/>
        </p:spPr>
        <p:txBody>
          <a:bodyPr wrap="square" lIns="0" tIns="0" rIns="0" bIns="0" rtlCol="0" anchor="ctr"/>
          <a:lstStyle/>
          <a:p>
            <a:pPr marL="0" indent="0">
              <a:buNone/>
            </a:pPr>
            <a:r>
              <a:rPr lang="en-US" sz="1000" b="1" dirty="0">
                <a:solidFill>
                  <a:srgbClr val="7C2D12"/>
                </a:solidFill>
                <a:latin typeface="Calibri" pitchFamily="34" charset="0"/>
                <a:ea typeface="Calibri" pitchFamily="34" charset="-122"/>
                <a:cs typeface="Calibri" pitchFamily="34" charset="-120"/>
              </a:rPr>
              <a:t>Why this is wrong:</a:t>
            </a:r>
            <a:endParaRPr lang="en-US" sz="1000" dirty="0"/>
          </a:p>
        </p:txBody>
      </p:sp>
      <p:sp>
        <p:nvSpPr>
          <p:cNvPr id="16" name="Text 14"/>
          <p:cNvSpPr/>
          <p:nvPr/>
        </p:nvSpPr>
        <p:spPr>
          <a:xfrm>
            <a:off x="411480" y="3337560"/>
            <a:ext cx="5212080" cy="2468880"/>
          </a:xfrm>
          <a:prstGeom prst="rect">
            <a:avLst/>
          </a:prstGeom>
          <a:noFill/>
          <a:ln/>
        </p:spPr>
        <p:txBody>
          <a:bodyPr wrap="square" lIns="0" tIns="0" rIns="0" bIns="0" rtlCol="0" anchor="t"/>
          <a:lstStyle/>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fit_transform() returns a DISTANCE MATRIX (n_samples × n_clusters) — NOT cluster labels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.argmax() selects the index of the MAXIMUM distance = the cluster each account is FARTHEST from</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Result: every account assigned to its LEAST similar cluster — inverted logic</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Old 'Champions' cluster: ~12,030 accounts (contaminated with misassigned lower-value accounts)</a:t>
            </a:r>
            <a:endParaRPr lang="en-US" sz="1100" dirty="0"/>
          </a:p>
        </p:txBody>
      </p:sp>
      <p:sp>
        <p:nvSpPr>
          <p:cNvPr id="17" name="Shape 15"/>
          <p:cNvSpPr/>
          <p:nvPr/>
        </p:nvSpPr>
        <p:spPr>
          <a:xfrm>
            <a:off x="6309360" y="1572768"/>
            <a:ext cx="5577840" cy="4434840"/>
          </a:xfrm>
          <a:prstGeom prst="rect">
            <a:avLst/>
          </a:prstGeom>
          <a:solidFill>
            <a:srgbClr val="FFFFFF"/>
          </a:solidFill>
          <a:ln w="19050">
            <a:solidFill>
              <a:srgbClr val="BBF7D0"/>
            </a:solidFill>
            <a:prstDash val="solid"/>
          </a:ln>
          <a:effectLst>
            <a:outerShdw blurRad="101600" dist="38100" dir="8100000" algn="bl" rotWithShape="0">
              <a:srgbClr val="000000">
                <a:alpha val="12000"/>
              </a:srgbClr>
            </a:outerShdw>
          </a:effectLst>
        </p:spPr>
      </p:sp>
      <p:sp>
        <p:nvSpPr>
          <p:cNvPr id="18" name="Shape 16"/>
          <p:cNvSpPr/>
          <p:nvPr/>
        </p:nvSpPr>
        <p:spPr>
          <a:xfrm>
            <a:off x="6309360" y="1572768"/>
            <a:ext cx="5577840" cy="411480"/>
          </a:xfrm>
          <a:prstGeom prst="rect">
            <a:avLst/>
          </a:prstGeom>
          <a:solidFill>
            <a:srgbClr val="166534"/>
          </a:solidFill>
          <a:ln w="12700">
            <a:solidFill>
              <a:srgbClr val="166534"/>
            </a:solidFill>
            <a:prstDash val="solid"/>
          </a:ln>
        </p:spPr>
      </p:sp>
      <p:sp>
        <p:nvSpPr>
          <p:cNvPr id="19" name="Text 17"/>
          <p:cNvSpPr/>
          <p:nvPr/>
        </p:nvSpPr>
        <p:spPr>
          <a:xfrm>
            <a:off x="6446520" y="1600200"/>
            <a:ext cx="530352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CORRECTED (fit_predict)</a:t>
            </a:r>
            <a:endParaRPr lang="en-US" sz="1100" dirty="0"/>
          </a:p>
        </p:txBody>
      </p:sp>
      <p:sp>
        <p:nvSpPr>
          <p:cNvPr id="20" name="Shape 18"/>
          <p:cNvSpPr/>
          <p:nvPr/>
        </p:nvSpPr>
        <p:spPr>
          <a:xfrm>
            <a:off x="6446520" y="2066544"/>
            <a:ext cx="5212080" cy="658368"/>
          </a:xfrm>
          <a:prstGeom prst="rect">
            <a:avLst/>
          </a:prstGeom>
          <a:solidFill>
            <a:srgbClr val="ECFDF5"/>
          </a:solidFill>
          <a:ln w="6350">
            <a:solidFill>
              <a:srgbClr val="BBF7D0"/>
            </a:solidFill>
            <a:prstDash val="solid"/>
          </a:ln>
        </p:spPr>
      </p:sp>
      <p:sp>
        <p:nvSpPr>
          <p:cNvPr id="21" name="Text 19"/>
          <p:cNvSpPr/>
          <p:nvPr/>
        </p:nvSpPr>
        <p:spPr>
          <a:xfrm>
            <a:off x="6537960" y="2130552"/>
            <a:ext cx="5029200" cy="530352"/>
          </a:xfrm>
          <a:prstGeom prst="rect">
            <a:avLst/>
          </a:prstGeom>
          <a:noFill/>
          <a:ln/>
        </p:spPr>
        <p:txBody>
          <a:bodyPr wrap="square" lIns="0" tIns="0" rIns="0" bIns="0" rtlCol="0" anchor="ctr"/>
          <a:lstStyle/>
          <a:p>
            <a:pPr marL="0" indent="0">
              <a:buNone/>
            </a:pPr>
            <a:r>
              <a:rPr lang="en-US" sz="1050" dirty="0">
                <a:solidFill>
                  <a:srgbClr val="166534"/>
                </a:solidFill>
                <a:latin typeface="Courier New" pitchFamily="34" charset="0"/>
                <a:ea typeface="Courier New" pitchFamily="34" charset="-122"/>
                <a:cs typeface="Courier New" pitchFamily="34" charset="-120"/>
              </a:rPr>
              <a:t>rfm['Cluster'] = kmeans.fit_predict(rfm_scaled)</a:t>
            </a:r>
            <a:endParaRPr lang="en-US" sz="1050" dirty="0"/>
          </a:p>
        </p:txBody>
      </p:sp>
      <p:sp>
        <p:nvSpPr>
          <p:cNvPr id="22" name="Text 20"/>
          <p:cNvSpPr/>
          <p:nvPr/>
        </p:nvSpPr>
        <p:spPr>
          <a:xfrm>
            <a:off x="6446520" y="2834640"/>
            <a:ext cx="5212080" cy="256032"/>
          </a:xfrm>
          <a:prstGeom prst="rect">
            <a:avLst/>
          </a:prstGeom>
          <a:noFill/>
          <a:ln/>
        </p:spPr>
        <p:txBody>
          <a:bodyPr wrap="square" lIns="0" tIns="0" rIns="0" bIns="0" rtlCol="0" anchor="ctr"/>
          <a:lstStyle/>
          <a:p>
            <a:pPr marL="0" indent="0">
              <a:buNone/>
            </a:pPr>
            <a:r>
              <a:rPr lang="en-US" sz="1000" b="1" dirty="0">
                <a:solidFill>
                  <a:srgbClr val="1B6B3A"/>
                </a:solidFill>
                <a:latin typeface="Calibri" pitchFamily="34" charset="0"/>
                <a:ea typeface="Calibri" pitchFamily="34" charset="-122"/>
                <a:cs typeface="Calibri" pitchFamily="34" charset="-120"/>
              </a:rPr>
              <a:t>Why this is correct:</a:t>
            </a:r>
            <a:endParaRPr lang="en-US" sz="1000" dirty="0"/>
          </a:p>
        </p:txBody>
      </p:sp>
      <p:sp>
        <p:nvSpPr>
          <p:cNvPr id="23" name="Text 21"/>
          <p:cNvSpPr/>
          <p:nvPr/>
        </p:nvSpPr>
        <p:spPr>
          <a:xfrm>
            <a:off x="6446520" y="3154680"/>
            <a:ext cx="5303520" cy="2651760"/>
          </a:xfrm>
          <a:prstGeom prst="rect">
            <a:avLst/>
          </a:prstGeom>
          <a:noFill/>
          <a:ln/>
        </p:spPr>
        <p:txBody>
          <a:bodyPr wrap="square" lIns="0" tIns="0" rIns="0" bIns="0" rtlCol="0" anchor="t"/>
          <a:lstStyle/>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fit_predict() directly returns the NEAREST centroid label for each sample</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Standard sklearn interface — assigns accounts to the cluster they are CLOSEST to</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Corrected Champions: 8,103 accounts — cleaner, purer high-value segment</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Revealed MORE extreme Pareto: 29.6% of accounts → 76.6% of revenue</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Additional typo fixed: date_to_scale → data_to_scale</a:t>
            </a:r>
            <a:endParaRPr lang="en-US" sz="1100" dirty="0"/>
          </a:p>
        </p:txBody>
      </p:sp>
      <p:sp>
        <p:nvSpPr>
          <p:cNvPr id="24" name="Shape 22"/>
          <p:cNvSpPr/>
          <p:nvPr/>
        </p:nvSpPr>
        <p:spPr>
          <a:xfrm>
            <a:off x="274320" y="6080760"/>
            <a:ext cx="11612880" cy="457200"/>
          </a:xfrm>
          <a:prstGeom prst="rect">
            <a:avLst/>
          </a:prstGeom>
          <a:solidFill>
            <a:srgbClr val="E8EDF4"/>
          </a:solidFill>
          <a:ln w="12700">
            <a:solidFill>
              <a:srgbClr val="E8EDF4"/>
            </a:solidFill>
            <a:prstDash val="solid"/>
          </a:ln>
        </p:spPr>
      </p:sp>
      <p:sp>
        <p:nvSpPr>
          <p:cNvPr id="25" name="Text 23"/>
          <p:cNvSpPr/>
          <p:nvPr/>
        </p:nvSpPr>
        <p:spPr>
          <a:xfrm>
            <a:off x="457200" y="6108192"/>
            <a:ext cx="11247120" cy="402336"/>
          </a:xfrm>
          <a:prstGeom prst="rect">
            <a:avLst/>
          </a:prstGeom>
          <a:noFill/>
          <a:ln/>
        </p:spPr>
        <p:txBody>
          <a:bodyPr wrap="square" lIns="0" tIns="0" rIns="0" bIns="0" rtlCol="0" anchor="ctr"/>
          <a:lstStyle/>
          <a:p>
            <a:pPr marL="0" indent="0">
              <a:buNone/>
            </a:pPr>
            <a:r>
              <a:rPr lang="en-US" sz="1000" b="1" dirty="0">
                <a:solidFill>
                  <a:srgbClr val="0B1C3F"/>
                </a:solidFill>
                <a:latin typeface="Calibri" pitchFamily="34" charset="0"/>
                <a:ea typeface="Calibri" pitchFamily="34" charset="-122"/>
                <a:cs typeface="Calibri" pitchFamily="34" charset="-120"/>
              </a:rPr>
              <a:t>Preprocessing: </a:t>
            </a:r>
            <a:r>
              <a:rPr lang="en-US" sz="1000" dirty="0">
                <a:solidFill>
                  <a:srgbClr val="2B2B2B"/>
                </a:solidFill>
                <a:latin typeface="Calibri" pitchFamily="34" charset="0"/>
                <a:ea typeface="Calibri" pitchFamily="34" charset="-122"/>
                <a:cs typeface="Calibri" pitchFamily="34" charset="-120"/>
              </a:rPr>
              <a:t>log(RFM + 1)  →  StandardScaler  →  KMeans(k=4, elbow method)  →  fit_predict()  →  4 clean, geometrically valid clusters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Corrected Cluster Profiles — fit_predict() Outcomes</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03</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Shape 6"/>
          <p:cNvSpPr/>
          <p:nvPr/>
        </p:nvSpPr>
        <p:spPr>
          <a:xfrm>
            <a:off x="274320" y="777240"/>
            <a:ext cx="2834640" cy="233172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9" name="Shape 7"/>
          <p:cNvSpPr/>
          <p:nvPr/>
        </p:nvSpPr>
        <p:spPr>
          <a:xfrm>
            <a:off x="274320" y="777240"/>
            <a:ext cx="2834640" cy="73152"/>
          </a:xfrm>
          <a:prstGeom prst="rect">
            <a:avLst/>
          </a:prstGeom>
          <a:solidFill>
            <a:srgbClr val="1B6B3A"/>
          </a:solidFill>
          <a:ln w="12700">
            <a:solidFill>
              <a:srgbClr val="1B6B3A"/>
            </a:solidFill>
            <a:prstDash val="solid"/>
          </a:ln>
        </p:spPr>
      </p:sp>
      <p:sp>
        <p:nvSpPr>
          <p:cNvPr id="10" name="Shape 8"/>
          <p:cNvSpPr/>
          <p:nvPr/>
        </p:nvSpPr>
        <p:spPr>
          <a:xfrm>
            <a:off x="365760" y="886968"/>
            <a:ext cx="274320" cy="256032"/>
          </a:xfrm>
          <a:prstGeom prst="rect">
            <a:avLst/>
          </a:prstGeom>
          <a:solidFill>
            <a:srgbClr val="1B6B3A"/>
          </a:solidFill>
          <a:ln w="12700">
            <a:solidFill>
              <a:srgbClr val="1B6B3A"/>
            </a:solidFill>
            <a:prstDash val="solid"/>
          </a:ln>
        </p:spPr>
      </p:sp>
      <p:sp>
        <p:nvSpPr>
          <p:cNvPr id="11" name="Text 9"/>
          <p:cNvSpPr/>
          <p:nvPr/>
        </p:nvSpPr>
        <p:spPr>
          <a:xfrm>
            <a:off x="365760" y="886968"/>
            <a:ext cx="2743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C2</a:t>
            </a:r>
            <a:endParaRPr lang="en-US" sz="900" dirty="0"/>
          </a:p>
        </p:txBody>
      </p:sp>
      <p:sp>
        <p:nvSpPr>
          <p:cNvPr id="12" name="Text 10"/>
          <p:cNvSpPr/>
          <p:nvPr/>
        </p:nvSpPr>
        <p:spPr>
          <a:xfrm>
            <a:off x="713232" y="896112"/>
            <a:ext cx="2286000" cy="246888"/>
          </a:xfrm>
          <a:prstGeom prst="rect">
            <a:avLst/>
          </a:prstGeom>
          <a:noFill/>
          <a:ln/>
        </p:spPr>
        <p:txBody>
          <a:bodyPr wrap="square" lIns="0" tIns="0" rIns="0" bIns="0" rtlCol="0" anchor="ctr"/>
          <a:lstStyle/>
          <a:p>
            <a:pPr marL="0" indent="0">
              <a:buNone/>
            </a:pPr>
            <a:r>
              <a:rPr lang="en-US" sz="1200" b="1" dirty="0">
                <a:solidFill>
                  <a:srgbClr val="1B6B3A"/>
                </a:solidFill>
                <a:latin typeface="Calibri" pitchFamily="34" charset="0"/>
                <a:ea typeface="Calibri" pitchFamily="34" charset="-122"/>
                <a:cs typeface="Calibri" pitchFamily="34" charset="-120"/>
              </a:rPr>
              <a:t>Champions</a:t>
            </a:r>
            <a:endParaRPr lang="en-US" sz="1200" dirty="0"/>
          </a:p>
        </p:txBody>
      </p:sp>
      <p:sp>
        <p:nvSpPr>
          <p:cNvPr id="13" name="Text 11"/>
          <p:cNvSpPr/>
          <p:nvPr/>
        </p:nvSpPr>
        <p:spPr>
          <a:xfrm>
            <a:off x="365760" y="1188720"/>
            <a:ext cx="2651760" cy="292608"/>
          </a:xfrm>
          <a:prstGeom prst="rect">
            <a:avLst/>
          </a:prstGeom>
          <a:noFill/>
          <a:ln/>
        </p:spPr>
        <p:txBody>
          <a:bodyPr wrap="square" lIns="0" tIns="0" rIns="0" bIns="0" rtlCol="0" anchor="ctr"/>
          <a:lstStyle/>
          <a:p>
            <a:pPr marL="0" indent="0">
              <a:buNone/>
            </a:pPr>
            <a:r>
              <a:rPr lang="en-US" sz="850" i="1" dirty="0">
                <a:solidFill>
                  <a:srgbClr val="4A5568"/>
                </a:solidFill>
                <a:latin typeface="Calibri" pitchFamily="34" charset="0"/>
                <a:ea typeface="Calibri" pitchFamily="34" charset="-122"/>
                <a:cs typeface="Calibri" pitchFamily="34" charset="-120"/>
              </a:rPr>
              <a:t>8,103 accounts  |  $10,680 avg rev  |  Recency: 25 days  |  22.8 orders</a:t>
            </a:r>
            <a:endParaRPr lang="en-US" sz="850" dirty="0"/>
          </a:p>
        </p:txBody>
      </p:sp>
      <p:sp>
        <p:nvSpPr>
          <p:cNvPr id="14" name="Text 12"/>
          <p:cNvSpPr/>
          <p:nvPr/>
        </p:nvSpPr>
        <p:spPr>
          <a:xfrm>
            <a:off x="365760" y="1508760"/>
            <a:ext cx="2651760" cy="1463040"/>
          </a:xfrm>
          <a:prstGeom prst="rect">
            <a:avLst/>
          </a:prstGeom>
          <a:noFill/>
          <a:ln/>
        </p:spPr>
        <p:txBody>
          <a:bodyPr wrap="square" lIns="0" tIns="0" rIns="0" bIns="0" rtlCol="0" anchor="t"/>
          <a:lstStyle/>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29.6% of accounts → 76.6% of revenue</a:t>
            </a:r>
            <a:endParaRPr lang="en-US" sz="900" dirty="0"/>
          </a:p>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White-glove retention: dedicated reps + early access</a:t>
            </a:r>
            <a:endParaRPr lang="en-US" sz="900" dirty="0"/>
          </a:p>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Highest-value designers in the ecosystem</a:t>
            </a:r>
            <a:endParaRPr lang="en-US" sz="900" dirty="0"/>
          </a:p>
        </p:txBody>
      </p:sp>
      <p:sp>
        <p:nvSpPr>
          <p:cNvPr id="15" name="Shape 13"/>
          <p:cNvSpPr/>
          <p:nvPr/>
        </p:nvSpPr>
        <p:spPr>
          <a:xfrm>
            <a:off x="3246120" y="777240"/>
            <a:ext cx="2834640" cy="233172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6" name="Shape 14"/>
          <p:cNvSpPr/>
          <p:nvPr/>
        </p:nvSpPr>
        <p:spPr>
          <a:xfrm>
            <a:off x="3246120" y="777240"/>
            <a:ext cx="2834640" cy="73152"/>
          </a:xfrm>
          <a:prstGeom prst="rect">
            <a:avLst/>
          </a:prstGeom>
          <a:solidFill>
            <a:srgbClr val="B45309"/>
          </a:solidFill>
          <a:ln w="12700">
            <a:solidFill>
              <a:srgbClr val="B45309"/>
            </a:solidFill>
            <a:prstDash val="solid"/>
          </a:ln>
        </p:spPr>
      </p:sp>
      <p:sp>
        <p:nvSpPr>
          <p:cNvPr id="17" name="Shape 15"/>
          <p:cNvSpPr/>
          <p:nvPr/>
        </p:nvSpPr>
        <p:spPr>
          <a:xfrm>
            <a:off x="3337560" y="886968"/>
            <a:ext cx="274320" cy="256032"/>
          </a:xfrm>
          <a:prstGeom prst="rect">
            <a:avLst/>
          </a:prstGeom>
          <a:solidFill>
            <a:srgbClr val="B45309"/>
          </a:solidFill>
          <a:ln w="12700">
            <a:solidFill>
              <a:srgbClr val="B45309"/>
            </a:solidFill>
            <a:prstDash val="solid"/>
          </a:ln>
        </p:spPr>
      </p:sp>
      <p:sp>
        <p:nvSpPr>
          <p:cNvPr id="18" name="Text 16"/>
          <p:cNvSpPr/>
          <p:nvPr/>
        </p:nvSpPr>
        <p:spPr>
          <a:xfrm>
            <a:off x="3337560" y="886968"/>
            <a:ext cx="2743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C0</a:t>
            </a:r>
            <a:endParaRPr lang="en-US" sz="900" dirty="0"/>
          </a:p>
        </p:txBody>
      </p:sp>
      <p:sp>
        <p:nvSpPr>
          <p:cNvPr id="19" name="Text 17"/>
          <p:cNvSpPr/>
          <p:nvPr/>
        </p:nvSpPr>
        <p:spPr>
          <a:xfrm>
            <a:off x="3685032" y="896112"/>
            <a:ext cx="2286000" cy="246888"/>
          </a:xfrm>
          <a:prstGeom prst="rect">
            <a:avLst/>
          </a:prstGeom>
          <a:noFill/>
          <a:ln/>
        </p:spPr>
        <p:txBody>
          <a:bodyPr wrap="square" lIns="0" tIns="0" rIns="0" bIns="0" rtlCol="0" anchor="ctr"/>
          <a:lstStyle/>
          <a:p>
            <a:pPr marL="0" indent="0">
              <a:buNone/>
            </a:pPr>
            <a:r>
              <a:rPr lang="en-US" sz="1200" b="1" dirty="0">
                <a:solidFill>
                  <a:srgbClr val="B45309"/>
                </a:solidFill>
                <a:latin typeface="Calibri" pitchFamily="34" charset="0"/>
                <a:ea typeface="Calibri" pitchFamily="34" charset="-122"/>
                <a:cs typeface="Calibri" pitchFamily="34" charset="-120"/>
              </a:rPr>
              <a:t>At-Risk / Lapsed</a:t>
            </a:r>
            <a:endParaRPr lang="en-US" sz="1200" dirty="0"/>
          </a:p>
        </p:txBody>
      </p:sp>
      <p:sp>
        <p:nvSpPr>
          <p:cNvPr id="20" name="Text 18"/>
          <p:cNvSpPr/>
          <p:nvPr/>
        </p:nvSpPr>
        <p:spPr>
          <a:xfrm>
            <a:off x="3337560" y="1188720"/>
            <a:ext cx="2651760" cy="292608"/>
          </a:xfrm>
          <a:prstGeom prst="rect">
            <a:avLst/>
          </a:prstGeom>
          <a:noFill/>
          <a:ln/>
        </p:spPr>
        <p:txBody>
          <a:bodyPr wrap="square" lIns="0" tIns="0" rIns="0" bIns="0" rtlCol="0" anchor="ctr"/>
          <a:lstStyle/>
          <a:p>
            <a:pPr marL="0" indent="0">
              <a:buNone/>
            </a:pPr>
            <a:r>
              <a:rPr lang="en-US" sz="850" i="1" dirty="0">
                <a:solidFill>
                  <a:srgbClr val="4A5568"/>
                </a:solidFill>
                <a:latin typeface="Calibri" pitchFamily="34" charset="0"/>
                <a:ea typeface="Calibri" pitchFamily="34" charset="-122"/>
                <a:cs typeface="Calibri" pitchFamily="34" charset="-120"/>
              </a:rPr>
              <a:t>9,655 accounts  |  $2,737 avg rev  |  Recency: 126 days  |  4.9 orders</a:t>
            </a:r>
            <a:endParaRPr lang="en-US" sz="850" dirty="0"/>
          </a:p>
        </p:txBody>
      </p:sp>
      <p:sp>
        <p:nvSpPr>
          <p:cNvPr id="21" name="Text 19"/>
          <p:cNvSpPr/>
          <p:nvPr/>
        </p:nvSpPr>
        <p:spPr>
          <a:xfrm>
            <a:off x="3337560" y="1508760"/>
            <a:ext cx="2651760" cy="1463040"/>
          </a:xfrm>
          <a:prstGeom prst="rect">
            <a:avLst/>
          </a:prstGeom>
          <a:noFill/>
          <a:ln/>
        </p:spPr>
        <p:txBody>
          <a:bodyPr wrap="square" lIns="0" tIns="0" rIns="0" bIns="0" rtlCol="0" anchor="t"/>
          <a:lstStyle/>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Proven buyers drifting — highest win-back ROI</a:t>
            </a:r>
            <a:endParaRPr lang="en-US" sz="900" dirty="0"/>
          </a:p>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Personalised outreach + time-limited trade incentives</a:t>
            </a:r>
            <a:endParaRPr lang="en-US" sz="900" dirty="0"/>
          </a:p>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Re-target with new arrivals aligned to past purchases</a:t>
            </a:r>
            <a:endParaRPr lang="en-US" sz="900" dirty="0"/>
          </a:p>
        </p:txBody>
      </p:sp>
      <p:sp>
        <p:nvSpPr>
          <p:cNvPr id="22" name="Shape 20"/>
          <p:cNvSpPr/>
          <p:nvPr/>
        </p:nvSpPr>
        <p:spPr>
          <a:xfrm>
            <a:off x="6217920" y="777240"/>
            <a:ext cx="2834640" cy="233172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3" name="Shape 21"/>
          <p:cNvSpPr/>
          <p:nvPr/>
        </p:nvSpPr>
        <p:spPr>
          <a:xfrm>
            <a:off x="6217920" y="777240"/>
            <a:ext cx="2834640" cy="73152"/>
          </a:xfrm>
          <a:prstGeom prst="rect">
            <a:avLst/>
          </a:prstGeom>
          <a:solidFill>
            <a:srgbClr val="1D4ED8"/>
          </a:solidFill>
          <a:ln w="12700">
            <a:solidFill>
              <a:srgbClr val="1D4ED8"/>
            </a:solidFill>
            <a:prstDash val="solid"/>
          </a:ln>
        </p:spPr>
      </p:sp>
      <p:sp>
        <p:nvSpPr>
          <p:cNvPr id="24" name="Shape 22"/>
          <p:cNvSpPr/>
          <p:nvPr/>
        </p:nvSpPr>
        <p:spPr>
          <a:xfrm>
            <a:off x="6309360" y="886968"/>
            <a:ext cx="274320" cy="256032"/>
          </a:xfrm>
          <a:prstGeom prst="rect">
            <a:avLst/>
          </a:prstGeom>
          <a:solidFill>
            <a:srgbClr val="1D4ED8"/>
          </a:solidFill>
          <a:ln w="12700">
            <a:solidFill>
              <a:srgbClr val="1D4ED8"/>
            </a:solidFill>
            <a:prstDash val="solid"/>
          </a:ln>
        </p:spPr>
      </p:sp>
      <p:sp>
        <p:nvSpPr>
          <p:cNvPr id="25" name="Text 23"/>
          <p:cNvSpPr/>
          <p:nvPr/>
        </p:nvSpPr>
        <p:spPr>
          <a:xfrm>
            <a:off x="6309360" y="886968"/>
            <a:ext cx="2743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C3</a:t>
            </a:r>
            <a:endParaRPr lang="en-US" sz="900" dirty="0"/>
          </a:p>
        </p:txBody>
      </p:sp>
      <p:sp>
        <p:nvSpPr>
          <p:cNvPr id="26" name="Text 24"/>
          <p:cNvSpPr/>
          <p:nvPr/>
        </p:nvSpPr>
        <p:spPr>
          <a:xfrm>
            <a:off x="6656832" y="896112"/>
            <a:ext cx="2286000" cy="246888"/>
          </a:xfrm>
          <a:prstGeom prst="rect">
            <a:avLst/>
          </a:prstGeom>
          <a:noFill/>
          <a:ln/>
        </p:spPr>
        <p:txBody>
          <a:bodyPr wrap="square" lIns="0" tIns="0" rIns="0" bIns="0" rtlCol="0" anchor="ctr"/>
          <a:lstStyle/>
          <a:p>
            <a:pPr marL="0" indent="0">
              <a:buNone/>
            </a:pPr>
            <a:r>
              <a:rPr lang="en-US" sz="1200" b="1" dirty="0">
                <a:solidFill>
                  <a:srgbClr val="1D4ED8"/>
                </a:solidFill>
                <a:latin typeface="Calibri" pitchFamily="34" charset="0"/>
                <a:ea typeface="Calibri" pitchFamily="34" charset="-122"/>
                <a:cs typeface="Calibri" pitchFamily="34" charset="-120"/>
              </a:rPr>
              <a:t>New Prospects</a:t>
            </a:r>
            <a:endParaRPr lang="en-US" sz="1200" dirty="0"/>
          </a:p>
        </p:txBody>
      </p:sp>
      <p:sp>
        <p:nvSpPr>
          <p:cNvPr id="27" name="Text 25"/>
          <p:cNvSpPr/>
          <p:nvPr/>
        </p:nvSpPr>
        <p:spPr>
          <a:xfrm>
            <a:off x="6309360" y="1188720"/>
            <a:ext cx="2651760" cy="292608"/>
          </a:xfrm>
          <a:prstGeom prst="rect">
            <a:avLst/>
          </a:prstGeom>
          <a:noFill/>
          <a:ln/>
        </p:spPr>
        <p:txBody>
          <a:bodyPr wrap="square" lIns="0" tIns="0" rIns="0" bIns="0" rtlCol="0" anchor="ctr"/>
          <a:lstStyle/>
          <a:p>
            <a:pPr marL="0" indent="0">
              <a:buNone/>
            </a:pPr>
            <a:r>
              <a:rPr lang="en-US" sz="850" i="1" dirty="0">
                <a:solidFill>
                  <a:srgbClr val="4A5568"/>
                </a:solidFill>
                <a:latin typeface="Calibri" pitchFamily="34" charset="0"/>
                <a:ea typeface="Calibri" pitchFamily="34" charset="-122"/>
                <a:cs typeface="Calibri" pitchFamily="34" charset="-120"/>
              </a:rPr>
              <a:t>3,316 accounts  |  $14 avg rev  |  Recency: 36 days  |  4.8 orders</a:t>
            </a:r>
            <a:endParaRPr lang="en-US" sz="850" dirty="0"/>
          </a:p>
        </p:txBody>
      </p:sp>
      <p:sp>
        <p:nvSpPr>
          <p:cNvPr id="28" name="Text 26"/>
          <p:cNvSpPr/>
          <p:nvPr/>
        </p:nvSpPr>
        <p:spPr>
          <a:xfrm>
            <a:off x="6309360" y="1508760"/>
            <a:ext cx="2651760" cy="1463040"/>
          </a:xfrm>
          <a:prstGeom prst="rect">
            <a:avLst/>
          </a:prstGeom>
          <a:noFill/>
          <a:ln/>
        </p:spPr>
        <p:txBody>
          <a:bodyPr wrap="square" lIns="0" tIns="0" rIns="0" bIns="0" rtlCol="0" anchor="t"/>
          <a:lstStyle/>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Sampling actively — pre-conversion behaviour</a:t>
            </a:r>
            <a:endParaRPr lang="en-US" sz="900" dirty="0"/>
          </a:p>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37-sample threshold before first sale (normal)</a:t>
            </a:r>
            <a:endParaRPr lang="en-US" sz="900" dirty="0"/>
          </a:p>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Flag near-threshold accounts for rep outreach</a:t>
            </a:r>
            <a:endParaRPr lang="en-US" sz="900" dirty="0"/>
          </a:p>
        </p:txBody>
      </p:sp>
      <p:sp>
        <p:nvSpPr>
          <p:cNvPr id="29" name="Shape 27"/>
          <p:cNvSpPr/>
          <p:nvPr/>
        </p:nvSpPr>
        <p:spPr>
          <a:xfrm>
            <a:off x="9189720" y="777240"/>
            <a:ext cx="2834640" cy="233172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30" name="Shape 28"/>
          <p:cNvSpPr/>
          <p:nvPr/>
        </p:nvSpPr>
        <p:spPr>
          <a:xfrm>
            <a:off x="9189720" y="777240"/>
            <a:ext cx="2834640" cy="73152"/>
          </a:xfrm>
          <a:prstGeom prst="rect">
            <a:avLst/>
          </a:prstGeom>
          <a:solidFill>
            <a:srgbClr val="7C2D12"/>
          </a:solidFill>
          <a:ln w="12700">
            <a:solidFill>
              <a:srgbClr val="7C2D12"/>
            </a:solidFill>
            <a:prstDash val="solid"/>
          </a:ln>
        </p:spPr>
      </p:sp>
      <p:sp>
        <p:nvSpPr>
          <p:cNvPr id="31" name="Shape 29"/>
          <p:cNvSpPr/>
          <p:nvPr/>
        </p:nvSpPr>
        <p:spPr>
          <a:xfrm>
            <a:off x="9281160" y="886968"/>
            <a:ext cx="274320" cy="256032"/>
          </a:xfrm>
          <a:prstGeom prst="rect">
            <a:avLst/>
          </a:prstGeom>
          <a:solidFill>
            <a:srgbClr val="7C2D12"/>
          </a:solidFill>
          <a:ln w="12700">
            <a:solidFill>
              <a:srgbClr val="7C2D12"/>
            </a:solidFill>
            <a:prstDash val="solid"/>
          </a:ln>
        </p:spPr>
      </p:sp>
      <p:sp>
        <p:nvSpPr>
          <p:cNvPr id="32" name="Text 30"/>
          <p:cNvSpPr/>
          <p:nvPr/>
        </p:nvSpPr>
        <p:spPr>
          <a:xfrm>
            <a:off x="9281160" y="886968"/>
            <a:ext cx="27432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C1</a:t>
            </a:r>
            <a:endParaRPr lang="en-US" sz="900" dirty="0"/>
          </a:p>
        </p:txBody>
      </p:sp>
      <p:sp>
        <p:nvSpPr>
          <p:cNvPr id="33" name="Text 31"/>
          <p:cNvSpPr/>
          <p:nvPr/>
        </p:nvSpPr>
        <p:spPr>
          <a:xfrm>
            <a:off x="9628632" y="896112"/>
            <a:ext cx="2286000" cy="246888"/>
          </a:xfrm>
          <a:prstGeom prst="rect">
            <a:avLst/>
          </a:prstGeom>
          <a:noFill/>
          <a:ln/>
        </p:spPr>
        <p:txBody>
          <a:bodyPr wrap="square" lIns="0" tIns="0" rIns="0" bIns="0" rtlCol="0" anchor="ctr"/>
          <a:lstStyle/>
          <a:p>
            <a:pPr marL="0" indent="0">
              <a:buNone/>
            </a:pPr>
            <a:r>
              <a:rPr lang="en-US" sz="1200" b="1" dirty="0">
                <a:solidFill>
                  <a:srgbClr val="7C2D12"/>
                </a:solidFill>
                <a:latin typeface="Calibri" pitchFamily="34" charset="0"/>
                <a:ea typeface="Calibri" pitchFamily="34" charset="-122"/>
                <a:cs typeface="Calibri" pitchFamily="34" charset="-120"/>
              </a:rPr>
              <a:t>Hibernating / Lost</a:t>
            </a:r>
            <a:endParaRPr lang="en-US" sz="1200" dirty="0"/>
          </a:p>
        </p:txBody>
      </p:sp>
      <p:sp>
        <p:nvSpPr>
          <p:cNvPr id="34" name="Text 32"/>
          <p:cNvSpPr/>
          <p:nvPr/>
        </p:nvSpPr>
        <p:spPr>
          <a:xfrm>
            <a:off x="9281160" y="1188720"/>
            <a:ext cx="2651760" cy="292608"/>
          </a:xfrm>
          <a:prstGeom prst="rect">
            <a:avLst/>
          </a:prstGeom>
          <a:noFill/>
          <a:ln/>
        </p:spPr>
        <p:txBody>
          <a:bodyPr wrap="square" lIns="0" tIns="0" rIns="0" bIns="0" rtlCol="0" anchor="ctr"/>
          <a:lstStyle/>
          <a:p>
            <a:pPr marL="0" indent="0">
              <a:buNone/>
            </a:pPr>
            <a:r>
              <a:rPr lang="en-US" sz="850" i="1" dirty="0">
                <a:solidFill>
                  <a:srgbClr val="4A5568"/>
                </a:solidFill>
                <a:latin typeface="Calibri" pitchFamily="34" charset="0"/>
                <a:ea typeface="Calibri" pitchFamily="34" charset="-122"/>
                <a:cs typeface="Calibri" pitchFamily="34" charset="-120"/>
              </a:rPr>
              <a:t>6,300 accounts  |  $1 avg rev  |  Recency: 181 days  |  2.3 orders</a:t>
            </a:r>
            <a:endParaRPr lang="en-US" sz="850" dirty="0"/>
          </a:p>
        </p:txBody>
      </p:sp>
      <p:sp>
        <p:nvSpPr>
          <p:cNvPr id="35" name="Text 33"/>
          <p:cNvSpPr/>
          <p:nvPr/>
        </p:nvSpPr>
        <p:spPr>
          <a:xfrm>
            <a:off x="9281160" y="1508760"/>
            <a:ext cx="2651760" cy="1463040"/>
          </a:xfrm>
          <a:prstGeom prst="rect">
            <a:avLst/>
          </a:prstGeom>
          <a:noFill/>
          <a:ln/>
        </p:spPr>
        <p:txBody>
          <a:bodyPr wrap="square" lIns="0" tIns="0" rIns="0" bIns="0" rtlCol="0" anchor="t"/>
          <a:lstStyle/>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0.0% revenue contribution despite 23% of base</a:t>
            </a:r>
            <a:endParaRPr lang="en-US" sz="900" dirty="0"/>
          </a:p>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2–3 touch automated re-engagement only</a:t>
            </a:r>
            <a:endParaRPr lang="en-US" sz="900" dirty="0"/>
          </a:p>
          <a:p>
            <a:pPr marL="342900" indent="-342900">
              <a:buSzPct val="100000"/>
              <a:buChar char="•"/>
            </a:pPr>
            <a:r>
              <a:rPr lang="en-US" sz="900" dirty="0">
                <a:solidFill>
                  <a:srgbClr val="2B2B2B"/>
                </a:solidFill>
                <a:latin typeface="Calibri" pitchFamily="34" charset="0"/>
                <a:ea typeface="Calibri" pitchFamily="34" charset="-122"/>
                <a:cs typeface="Calibri" pitchFamily="34" charset="-120"/>
              </a:rPr>
              <a:t>Redirect effort to Clusters 0 and 2</a:t>
            </a:r>
            <a:endParaRPr lang="en-US" sz="900" dirty="0"/>
          </a:p>
        </p:txBody>
      </p:sp>
      <p:sp>
        <p:nvSpPr>
          <p:cNvPr id="36" name="Text 34"/>
          <p:cNvSpPr/>
          <p:nvPr/>
        </p:nvSpPr>
        <p:spPr>
          <a:xfrm>
            <a:off x="274320" y="3246120"/>
            <a:ext cx="5760720" cy="274320"/>
          </a:xfrm>
          <a:prstGeom prst="rect">
            <a:avLst/>
          </a:prstGeom>
          <a:noFill/>
          <a:ln/>
        </p:spPr>
        <p:txBody>
          <a:bodyPr wrap="square" lIns="0" tIns="0" rIns="0" bIns="0" rtlCol="0" anchor="ctr"/>
          <a:lstStyle/>
          <a:p>
            <a:pPr marL="0" indent="0">
              <a:buNone/>
            </a:pPr>
            <a:r>
              <a:rPr lang="en-US" sz="1000" b="1" dirty="0">
                <a:solidFill>
                  <a:srgbClr val="0B1C3F"/>
                </a:solidFill>
                <a:latin typeface="Calibri" pitchFamily="34" charset="0"/>
                <a:ea typeface="Calibri" pitchFamily="34" charset="-122"/>
                <a:cs typeface="Calibri" pitchFamily="34" charset="-120"/>
              </a:rPr>
              <a:t>Population vs. Revenue Share (Corrected)</a:t>
            </a:r>
            <a:endParaRPr lang="en-US" sz="1000" dirty="0"/>
          </a:p>
        </p:txBody>
      </p:sp>
      <p:pic>
        <p:nvPicPr>
          <p:cNvPr id="37" name="Image 0" descr="preencoded.png"/>
          <p:cNvPicPr>
            <a:picLocks noChangeAspect="1"/>
          </p:cNvPicPr>
          <p:nvPr/>
        </p:nvPicPr>
        <p:blipFill>
          <a:blip r:embed="rId3"/>
          <a:srcRect/>
          <a:stretch/>
        </p:blipFill>
        <p:spPr>
          <a:xfrm>
            <a:off x="274320" y="3566160"/>
            <a:ext cx="5760720" cy="2761488"/>
          </a:xfrm>
          <a:prstGeom prst="rect">
            <a:avLst/>
          </a:prstGeom>
        </p:spPr>
      </p:pic>
      <p:sp>
        <p:nvSpPr>
          <p:cNvPr id="38" name="Shape 35"/>
          <p:cNvSpPr/>
          <p:nvPr/>
        </p:nvSpPr>
        <p:spPr>
          <a:xfrm>
            <a:off x="6263640" y="3246120"/>
            <a:ext cx="5623560" cy="777240"/>
          </a:xfrm>
          <a:prstGeom prst="rect">
            <a:avLst/>
          </a:prstGeom>
          <a:solidFill>
            <a:srgbClr val="0B1C3F"/>
          </a:solidFill>
          <a:ln w="12700">
            <a:solidFill>
              <a:srgbClr val="0B1C3F"/>
            </a:solidFill>
            <a:prstDash val="solid"/>
          </a:ln>
          <a:effectLst>
            <a:outerShdw blurRad="101600" dist="38100" dir="8100000" algn="bl" rotWithShape="0">
              <a:srgbClr val="000000">
                <a:alpha val="12000"/>
              </a:srgbClr>
            </a:outerShdw>
          </a:effectLst>
        </p:spPr>
      </p:sp>
      <p:sp>
        <p:nvSpPr>
          <p:cNvPr id="39" name="Text 36"/>
          <p:cNvSpPr/>
          <p:nvPr/>
        </p:nvSpPr>
        <p:spPr>
          <a:xfrm>
            <a:off x="6400800" y="3273552"/>
            <a:ext cx="5349240" cy="749808"/>
          </a:xfrm>
          <a:prstGeom prst="rect">
            <a:avLst/>
          </a:prstGeom>
          <a:noFill/>
          <a:ln/>
        </p:spPr>
        <p:txBody>
          <a:bodyPr wrap="square" lIns="0" tIns="0" rIns="0" bIns="0" rtlCol="0" anchor="ctr"/>
          <a:lstStyle/>
          <a:p>
            <a:pPr marL="0" indent="0">
              <a:buNone/>
            </a:pPr>
            <a:r>
              <a:rPr lang="en-US" sz="1200" b="1" dirty="0">
                <a:solidFill>
                  <a:srgbClr val="C9A84C"/>
                </a:solidFill>
                <a:latin typeface="Calibri" pitchFamily="34" charset="0"/>
                <a:ea typeface="Calibri" pitchFamily="34" charset="-122"/>
                <a:cs typeface="Calibri" pitchFamily="34" charset="-120"/>
              </a:rPr>
              <a:t>KEY FINDING:  </a:t>
            </a:r>
            <a:r>
              <a:rPr lang="en-US" sz="1100" dirty="0">
                <a:solidFill>
                  <a:srgbClr val="FFFFFF"/>
                </a:solidFill>
                <a:latin typeface="Calibri" pitchFamily="34" charset="0"/>
                <a:ea typeface="Calibri" pitchFamily="34" charset="-122"/>
                <a:cs typeface="Calibri" pitchFamily="34" charset="-120"/>
              </a:rPr>
              <a:t>Champions (29.6% of accounts) drive 76.6% of total revenue — a more extreme Pareto concentration than the buggy implementation revealed.</a:t>
            </a:r>
            <a:endParaRPr lang="en-US" sz="1200" dirty="0"/>
          </a:p>
        </p:txBody>
      </p:sp>
      <p:sp>
        <p:nvSpPr>
          <p:cNvPr id="40" name="Text 37"/>
          <p:cNvSpPr/>
          <p:nvPr/>
        </p:nvSpPr>
        <p:spPr>
          <a:xfrm>
            <a:off x="6263640" y="4114800"/>
            <a:ext cx="5623560" cy="274320"/>
          </a:xfrm>
          <a:prstGeom prst="rect">
            <a:avLst/>
          </a:prstGeom>
          <a:noFill/>
          <a:ln/>
        </p:spPr>
        <p:txBody>
          <a:bodyPr wrap="square" lIns="0" tIns="0" rIns="0" bIns="0" rtlCol="0" anchor="ctr"/>
          <a:lstStyle/>
          <a:p>
            <a:pPr marL="0" indent="0">
              <a:buNone/>
            </a:pPr>
            <a:r>
              <a:rPr lang="en-US" sz="1000" b="1" dirty="0">
                <a:solidFill>
                  <a:srgbClr val="4A5568"/>
                </a:solidFill>
                <a:latin typeface="Calibri" pitchFamily="34" charset="0"/>
                <a:ea typeface="Calibri" pitchFamily="34" charset="-122"/>
                <a:cs typeface="Calibri" pitchFamily="34" charset="-120"/>
              </a:rPr>
              <a:t>Before fix (argmax) vs. After fix (fit_predict)</a:t>
            </a:r>
            <a:endParaRPr lang="en-US" sz="1000" dirty="0"/>
          </a:p>
        </p:txBody>
      </p:sp>
      <p:pic>
        <p:nvPicPr>
          <p:cNvPr id="41" name="Image 1" descr="preencoded.png"/>
          <p:cNvPicPr>
            <a:picLocks noChangeAspect="1"/>
          </p:cNvPicPr>
          <p:nvPr/>
        </p:nvPicPr>
        <p:blipFill>
          <a:blip r:embed="rId4"/>
          <a:srcRect/>
          <a:stretch/>
        </p:blipFill>
        <p:spPr>
          <a:xfrm>
            <a:off x="6263640" y="4434840"/>
            <a:ext cx="2651760" cy="1691640"/>
          </a:xfrm>
          <a:prstGeom prst="rect">
            <a:avLst/>
          </a:prstGeom>
        </p:spPr>
      </p:pic>
      <p:pic>
        <p:nvPicPr>
          <p:cNvPr id="42" name="Image 2" descr="preencoded.png"/>
          <p:cNvPicPr>
            <a:picLocks noChangeAspect="1"/>
          </p:cNvPicPr>
          <p:nvPr/>
        </p:nvPicPr>
        <p:blipFill>
          <a:blip r:embed="rId3"/>
          <a:srcRect/>
          <a:stretch/>
        </p:blipFill>
        <p:spPr>
          <a:xfrm>
            <a:off x="9098280" y="4434840"/>
            <a:ext cx="2651760" cy="1691640"/>
          </a:xfrm>
          <a:prstGeom prst="rect">
            <a:avLst/>
          </a:prstGeom>
        </p:spPr>
      </p:pic>
      <p:sp>
        <p:nvSpPr>
          <p:cNvPr id="43" name="Text 38"/>
          <p:cNvSpPr/>
          <p:nvPr/>
        </p:nvSpPr>
        <p:spPr>
          <a:xfrm>
            <a:off x="6263640" y="6153912"/>
            <a:ext cx="2651760" cy="228600"/>
          </a:xfrm>
          <a:prstGeom prst="rect">
            <a:avLst/>
          </a:prstGeom>
          <a:noFill/>
          <a:ln/>
        </p:spPr>
        <p:txBody>
          <a:bodyPr wrap="square" lIns="0" tIns="0" rIns="0" bIns="0" rtlCol="0" anchor="ctr"/>
          <a:lstStyle/>
          <a:p>
            <a:pPr marL="0" indent="0" algn="ctr">
              <a:buNone/>
            </a:pPr>
            <a:r>
              <a:rPr lang="en-US" sz="850" i="1" dirty="0">
                <a:solidFill>
                  <a:srgbClr val="7C2D12"/>
                </a:solidFill>
                <a:latin typeface="Calibri" pitchFamily="34" charset="0"/>
                <a:ea typeface="Calibri" pitchFamily="34" charset="-122"/>
                <a:cs typeface="Calibri" pitchFamily="34" charset="-120"/>
              </a:rPr>
              <a:t>Buggy (argmax)</a:t>
            </a:r>
            <a:endParaRPr lang="en-US" sz="850" dirty="0"/>
          </a:p>
        </p:txBody>
      </p:sp>
      <p:sp>
        <p:nvSpPr>
          <p:cNvPr id="44" name="Text 39"/>
          <p:cNvSpPr/>
          <p:nvPr/>
        </p:nvSpPr>
        <p:spPr>
          <a:xfrm>
            <a:off x="9098280" y="6153912"/>
            <a:ext cx="2651760" cy="228600"/>
          </a:xfrm>
          <a:prstGeom prst="rect">
            <a:avLst/>
          </a:prstGeom>
          <a:noFill/>
          <a:ln/>
        </p:spPr>
        <p:txBody>
          <a:bodyPr wrap="square" lIns="0" tIns="0" rIns="0" bIns="0" rtlCol="0" anchor="ctr"/>
          <a:lstStyle/>
          <a:p>
            <a:pPr marL="0" indent="0" algn="ctr">
              <a:buNone/>
            </a:pPr>
            <a:r>
              <a:rPr lang="en-US" sz="850" i="1" dirty="0">
                <a:solidFill>
                  <a:srgbClr val="1B6B3A"/>
                </a:solidFill>
                <a:latin typeface="Calibri" pitchFamily="34" charset="0"/>
                <a:ea typeface="Calibri" pitchFamily="34" charset="-122"/>
                <a:cs typeface="Calibri" pitchFamily="34" charset="-120"/>
              </a:rPr>
              <a:t>Corrected (fit_predict)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Cluster Visualisation — RFM Distribution &amp; Separation</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03</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Text 6"/>
          <p:cNvSpPr/>
          <p:nvPr/>
        </p:nvSpPr>
        <p:spPr>
          <a:xfrm>
            <a:off x="259080" y="653528"/>
            <a:ext cx="7772400" cy="292608"/>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RFM Distribution by Cluster (Log Scale)</a:t>
            </a:r>
            <a:endParaRPr lang="en-US" sz="1100" dirty="0"/>
          </a:p>
        </p:txBody>
      </p:sp>
      <p:pic>
        <p:nvPicPr>
          <p:cNvPr id="9" name="Image 0" descr="preencoded.png"/>
          <p:cNvPicPr>
            <a:picLocks noChangeAspect="1"/>
          </p:cNvPicPr>
          <p:nvPr/>
        </p:nvPicPr>
        <p:blipFill>
          <a:blip r:embed="rId3"/>
          <a:srcRect/>
          <a:stretch/>
        </p:blipFill>
        <p:spPr>
          <a:xfrm>
            <a:off x="274320" y="946136"/>
            <a:ext cx="7772400" cy="2821192"/>
          </a:xfrm>
          <a:prstGeom prst="rect">
            <a:avLst/>
          </a:prstGeom>
        </p:spPr>
      </p:pic>
      <p:sp>
        <p:nvSpPr>
          <p:cNvPr id="10" name="Text 7"/>
          <p:cNvSpPr/>
          <p:nvPr/>
        </p:nvSpPr>
        <p:spPr>
          <a:xfrm>
            <a:off x="274320" y="3808207"/>
            <a:ext cx="7772400" cy="292608"/>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Spending Power vs. Sampling Appetite</a:t>
            </a:r>
            <a:endParaRPr lang="en-US" sz="1100" dirty="0"/>
          </a:p>
        </p:txBody>
      </p:sp>
      <p:pic>
        <p:nvPicPr>
          <p:cNvPr id="11" name="Image 1" descr="preencoded.png"/>
          <p:cNvPicPr>
            <a:picLocks noChangeAspect="1"/>
          </p:cNvPicPr>
          <p:nvPr/>
        </p:nvPicPr>
        <p:blipFill>
          <a:blip r:embed="rId4"/>
          <a:srcRect/>
          <a:stretch/>
        </p:blipFill>
        <p:spPr>
          <a:xfrm>
            <a:off x="274320" y="4141694"/>
            <a:ext cx="7772400" cy="2368834"/>
          </a:xfrm>
          <a:prstGeom prst="rect">
            <a:avLst/>
          </a:prstGeom>
        </p:spPr>
      </p:pic>
      <p:sp>
        <p:nvSpPr>
          <p:cNvPr id="12" name="Text 8"/>
          <p:cNvSpPr/>
          <p:nvPr/>
        </p:nvSpPr>
        <p:spPr>
          <a:xfrm>
            <a:off x="8275320" y="777240"/>
            <a:ext cx="3657600" cy="292608"/>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Pairwise Cluster Separation</a:t>
            </a:r>
            <a:endParaRPr lang="en-US" sz="1100" dirty="0"/>
          </a:p>
        </p:txBody>
      </p:sp>
      <p:pic>
        <p:nvPicPr>
          <p:cNvPr id="13" name="Image 2" descr="preencoded.png"/>
          <p:cNvPicPr>
            <a:picLocks noChangeAspect="1"/>
          </p:cNvPicPr>
          <p:nvPr/>
        </p:nvPicPr>
        <p:blipFill>
          <a:blip r:embed="rId5"/>
          <a:srcRect/>
          <a:stretch/>
        </p:blipFill>
        <p:spPr>
          <a:xfrm>
            <a:off x="8275320" y="1115568"/>
            <a:ext cx="3703320" cy="3566160"/>
          </a:xfrm>
          <a:prstGeom prst="rect">
            <a:avLst/>
          </a:prstGeom>
        </p:spPr>
      </p:pic>
      <p:sp>
        <p:nvSpPr>
          <p:cNvPr id="14" name="Shape 9"/>
          <p:cNvSpPr/>
          <p:nvPr/>
        </p:nvSpPr>
        <p:spPr>
          <a:xfrm>
            <a:off x="8275320" y="4800600"/>
            <a:ext cx="3657600" cy="1737360"/>
          </a:xfrm>
          <a:prstGeom prst="rect">
            <a:avLst/>
          </a:prstGeom>
          <a:solidFill>
            <a:srgbClr val="0B1C3F"/>
          </a:solidFill>
          <a:ln w="12700">
            <a:solidFill>
              <a:srgbClr val="0B1C3F"/>
            </a:solidFill>
            <a:prstDash val="solid"/>
          </a:ln>
          <a:effectLst>
            <a:outerShdw blurRad="101600" dist="38100" dir="8100000" algn="bl" rotWithShape="0">
              <a:srgbClr val="000000">
                <a:alpha val="12000"/>
              </a:srgbClr>
            </a:outerShdw>
          </a:effectLst>
        </p:spPr>
      </p:sp>
      <p:sp>
        <p:nvSpPr>
          <p:cNvPr id="15" name="Text 10"/>
          <p:cNvSpPr/>
          <p:nvPr/>
        </p:nvSpPr>
        <p:spPr>
          <a:xfrm>
            <a:off x="8412480" y="4892040"/>
            <a:ext cx="3383280" cy="1554480"/>
          </a:xfrm>
          <a:prstGeom prst="rect">
            <a:avLst/>
          </a:prstGeom>
          <a:noFill/>
          <a:ln/>
        </p:spPr>
        <p:txBody>
          <a:bodyPr wrap="square" lIns="0" tIns="0" rIns="0" bIns="0" rtlCol="0" anchor="t"/>
          <a:lstStyle/>
          <a:p>
            <a:pPr marL="0" indent="0">
              <a:buNone/>
            </a:pPr>
            <a:r>
              <a:rPr lang="en-US" sz="1100" b="1" dirty="0">
                <a:solidFill>
                  <a:srgbClr val="C9A84C"/>
                </a:solidFill>
                <a:latin typeface="Calibri" pitchFamily="34" charset="0"/>
                <a:ea typeface="Calibri" pitchFamily="34" charset="-122"/>
                <a:cs typeface="Calibri" pitchFamily="34" charset="-120"/>
              </a:rPr>
              <a:t>Sampling = Revenue Engine
</a:t>
            </a:r>
            <a:endParaRPr lang="en-US" sz="1100" dirty="0"/>
          </a:p>
          <a:p>
            <a:pPr marL="0" indent="0">
              <a:buNone/>
            </a:pPr>
            <a:r>
              <a:rPr lang="en-US" sz="950" dirty="0">
                <a:solidFill>
                  <a:srgbClr val="FFFFFF"/>
                </a:solidFill>
                <a:latin typeface="Calibri" pitchFamily="34" charset="0"/>
                <a:ea typeface="Calibri" pitchFamily="34" charset="-122"/>
                <a:cs typeface="Calibri" pitchFamily="34" charset="-120"/>
              </a:rPr>
              <a:t>Cluster 2 (Champions) occupies the upper-right quadrant exclusively: high sampling volume → high revenue. This relationship does not exist in any other cluster. Restricting sample access to Champions would directly reduce revenue.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Product Affinity &amp; Pricing Intelligence</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04</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Text 6"/>
          <p:cNvSpPr/>
          <p:nvPr/>
        </p:nvSpPr>
        <p:spPr>
          <a:xfrm>
            <a:off x="274320" y="777240"/>
            <a:ext cx="3840480" cy="292608"/>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Pareto: Revenue Concentration</a:t>
            </a:r>
            <a:endParaRPr lang="en-US" sz="1100" dirty="0"/>
          </a:p>
        </p:txBody>
      </p:sp>
      <p:pic>
        <p:nvPicPr>
          <p:cNvPr id="9" name="Image 0" descr="preencoded.png"/>
          <p:cNvPicPr>
            <a:picLocks noChangeAspect="1"/>
          </p:cNvPicPr>
          <p:nvPr/>
        </p:nvPicPr>
        <p:blipFill>
          <a:blip r:embed="rId3"/>
          <a:srcRect/>
          <a:stretch/>
        </p:blipFill>
        <p:spPr>
          <a:xfrm>
            <a:off x="274320" y="1115568"/>
            <a:ext cx="3840480" cy="2743200"/>
          </a:xfrm>
          <a:prstGeom prst="rect">
            <a:avLst/>
          </a:prstGeom>
        </p:spPr>
      </p:pic>
      <p:sp>
        <p:nvSpPr>
          <p:cNvPr id="10" name="Text 7"/>
          <p:cNvSpPr/>
          <p:nvPr/>
        </p:nvSpPr>
        <p:spPr>
          <a:xfrm>
            <a:off x="4389120" y="777240"/>
            <a:ext cx="3474720" cy="292608"/>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Category Affinity Heatmap</a:t>
            </a:r>
            <a:endParaRPr lang="en-US" sz="1100" dirty="0"/>
          </a:p>
        </p:txBody>
      </p:sp>
      <p:pic>
        <p:nvPicPr>
          <p:cNvPr id="11" name="Image 1" descr="preencoded.png"/>
          <p:cNvPicPr>
            <a:picLocks noChangeAspect="1"/>
          </p:cNvPicPr>
          <p:nvPr/>
        </p:nvPicPr>
        <p:blipFill>
          <a:blip r:embed="rId4"/>
          <a:srcRect/>
          <a:stretch/>
        </p:blipFill>
        <p:spPr>
          <a:xfrm>
            <a:off x="4389120" y="1115568"/>
            <a:ext cx="3474720" cy="2743200"/>
          </a:xfrm>
          <a:prstGeom prst="rect">
            <a:avLst/>
          </a:prstGeom>
        </p:spPr>
      </p:pic>
      <p:sp>
        <p:nvSpPr>
          <p:cNvPr id="12" name="Text 8"/>
          <p:cNvSpPr/>
          <p:nvPr/>
        </p:nvSpPr>
        <p:spPr>
          <a:xfrm>
            <a:off x="8092440" y="777240"/>
            <a:ext cx="3794760" cy="292608"/>
          </a:xfrm>
          <a:prstGeom prst="rect">
            <a:avLst/>
          </a:prstGeom>
          <a:noFill/>
          <a:ln/>
        </p:spPr>
        <p:txBody>
          <a:bodyPr wrap="square" lIns="0" tIns="0" rIns="0" bIns="0" rtlCol="0" anchor="ctr"/>
          <a:lstStyle/>
          <a:p>
            <a:pPr marL="0" indent="0">
              <a:buNone/>
            </a:pPr>
            <a:r>
              <a:rPr lang="en-US" sz="1100" b="1" dirty="0">
                <a:solidFill>
                  <a:srgbClr val="0B1C3F"/>
                </a:solidFill>
                <a:latin typeface="Calibri" pitchFamily="34" charset="0"/>
                <a:ea typeface="Calibri" pitchFamily="34" charset="-122"/>
                <a:cs typeface="Calibri" pitchFamily="34" charset="-120"/>
              </a:rPr>
              <a:t>Price Elasticity: Conversion by Bracket</a:t>
            </a:r>
            <a:endParaRPr lang="en-US" sz="1100" dirty="0"/>
          </a:p>
        </p:txBody>
      </p:sp>
      <p:pic>
        <p:nvPicPr>
          <p:cNvPr id="13" name="Image 2" descr="preencoded.png"/>
          <p:cNvPicPr>
            <a:picLocks noChangeAspect="1"/>
          </p:cNvPicPr>
          <p:nvPr/>
        </p:nvPicPr>
        <p:blipFill>
          <a:blip r:embed="rId5"/>
          <a:srcRect/>
          <a:stretch/>
        </p:blipFill>
        <p:spPr>
          <a:xfrm>
            <a:off x="7969624" y="1115568"/>
            <a:ext cx="3917576" cy="2743200"/>
          </a:xfrm>
          <a:prstGeom prst="rect">
            <a:avLst/>
          </a:prstGeom>
        </p:spPr>
      </p:pic>
      <p:sp>
        <p:nvSpPr>
          <p:cNvPr id="14" name="Shape 9"/>
          <p:cNvSpPr/>
          <p:nvPr/>
        </p:nvSpPr>
        <p:spPr>
          <a:xfrm>
            <a:off x="274320" y="4005072"/>
            <a:ext cx="2834640" cy="208483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5" name="Shape 10"/>
          <p:cNvSpPr/>
          <p:nvPr/>
        </p:nvSpPr>
        <p:spPr>
          <a:xfrm>
            <a:off x="274320" y="4005072"/>
            <a:ext cx="2834640" cy="64008"/>
          </a:xfrm>
          <a:prstGeom prst="rect">
            <a:avLst/>
          </a:prstGeom>
          <a:solidFill>
            <a:srgbClr val="1B6B3A"/>
          </a:solidFill>
          <a:ln w="12700">
            <a:solidFill>
              <a:srgbClr val="1B6B3A"/>
            </a:solidFill>
            <a:prstDash val="solid"/>
          </a:ln>
        </p:spPr>
      </p:sp>
      <p:sp>
        <p:nvSpPr>
          <p:cNvPr id="16" name="Text 11"/>
          <p:cNvSpPr/>
          <p:nvPr/>
        </p:nvSpPr>
        <p:spPr>
          <a:xfrm>
            <a:off x="384048" y="4133088"/>
            <a:ext cx="2633472" cy="384048"/>
          </a:xfrm>
          <a:prstGeom prst="rect">
            <a:avLst/>
          </a:prstGeom>
          <a:noFill/>
          <a:ln/>
        </p:spPr>
        <p:txBody>
          <a:bodyPr wrap="square" lIns="0" tIns="0" rIns="0" bIns="0" rtlCol="0" anchor="ctr"/>
          <a:lstStyle/>
          <a:p>
            <a:pPr marL="0" indent="0">
              <a:buNone/>
            </a:pPr>
            <a:r>
              <a:rPr lang="en-US" sz="1050" b="1" dirty="0">
                <a:solidFill>
                  <a:srgbClr val="1B6B3A"/>
                </a:solidFill>
                <a:latin typeface="Calibri" pitchFamily="34" charset="0"/>
                <a:ea typeface="Calibri" pitchFamily="34" charset="-122"/>
                <a:cs typeface="Calibri" pitchFamily="34" charset="-120"/>
              </a:rPr>
              <a:t>Goldilocks Zone ($100–$250)</a:t>
            </a:r>
            <a:endParaRPr lang="en-US" sz="1050" dirty="0"/>
          </a:p>
        </p:txBody>
      </p:sp>
      <p:sp>
        <p:nvSpPr>
          <p:cNvPr id="17" name="Text 12"/>
          <p:cNvSpPr/>
          <p:nvPr/>
        </p:nvSpPr>
        <p:spPr>
          <a:xfrm>
            <a:off x="384048" y="4553712"/>
            <a:ext cx="2633472" cy="137160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Peak conversion at 55.3% — optimal price-to-trust balance. Focus sampling programme budget here.</a:t>
            </a:r>
            <a:endParaRPr lang="en-US" sz="1000" dirty="0"/>
          </a:p>
        </p:txBody>
      </p:sp>
      <p:sp>
        <p:nvSpPr>
          <p:cNvPr id="18" name="Shape 13"/>
          <p:cNvSpPr/>
          <p:nvPr/>
        </p:nvSpPr>
        <p:spPr>
          <a:xfrm>
            <a:off x="3246120" y="4005072"/>
            <a:ext cx="2834640" cy="208483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9" name="Shape 14"/>
          <p:cNvSpPr/>
          <p:nvPr/>
        </p:nvSpPr>
        <p:spPr>
          <a:xfrm>
            <a:off x="3246120" y="4005072"/>
            <a:ext cx="2834640" cy="64008"/>
          </a:xfrm>
          <a:prstGeom prst="rect">
            <a:avLst/>
          </a:prstGeom>
          <a:solidFill>
            <a:srgbClr val="0B1C3F"/>
          </a:solidFill>
          <a:ln w="12700">
            <a:solidFill>
              <a:srgbClr val="0B1C3F"/>
            </a:solidFill>
            <a:prstDash val="solid"/>
          </a:ln>
        </p:spPr>
      </p:sp>
      <p:sp>
        <p:nvSpPr>
          <p:cNvPr id="20" name="Text 15"/>
          <p:cNvSpPr/>
          <p:nvPr/>
        </p:nvSpPr>
        <p:spPr>
          <a:xfrm>
            <a:off x="3355848" y="4133088"/>
            <a:ext cx="2633472" cy="384048"/>
          </a:xfrm>
          <a:prstGeom prst="rect">
            <a:avLst/>
          </a:prstGeom>
          <a:noFill/>
          <a:ln/>
        </p:spPr>
        <p:txBody>
          <a:bodyPr wrap="square" lIns="0" tIns="0" rIns="0" bIns="0" rtlCol="0" anchor="ctr"/>
          <a:lstStyle/>
          <a:p>
            <a:pPr marL="0" indent="0">
              <a:buNone/>
            </a:pPr>
            <a:r>
              <a:rPr lang="en-US" sz="1050" b="1" dirty="0">
                <a:solidFill>
                  <a:srgbClr val="0B1C3F"/>
                </a:solidFill>
                <a:latin typeface="Calibri" pitchFamily="34" charset="0"/>
                <a:ea typeface="Calibri" pitchFamily="34" charset="-122"/>
                <a:cs typeface="Calibri" pitchFamily="34" charset="-120"/>
              </a:rPr>
              <a:t>Pareto Confirmed</a:t>
            </a:r>
            <a:endParaRPr lang="en-US" sz="1050" dirty="0"/>
          </a:p>
        </p:txBody>
      </p:sp>
      <p:sp>
        <p:nvSpPr>
          <p:cNvPr id="21" name="Text 16"/>
          <p:cNvSpPr/>
          <p:nvPr/>
        </p:nvSpPr>
        <p:spPr>
          <a:xfrm>
            <a:off x="3355848" y="4553712"/>
            <a:ext cx="2633472" cy="137160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Top 20% of customers drive ~80% of net revenue. Champions concentration mirrors RFM findings.</a:t>
            </a:r>
            <a:endParaRPr lang="en-US" sz="1000" dirty="0"/>
          </a:p>
        </p:txBody>
      </p:sp>
      <p:sp>
        <p:nvSpPr>
          <p:cNvPr id="22" name="Shape 17"/>
          <p:cNvSpPr/>
          <p:nvPr/>
        </p:nvSpPr>
        <p:spPr>
          <a:xfrm>
            <a:off x="6217920" y="4005072"/>
            <a:ext cx="2834640" cy="208483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3" name="Shape 18"/>
          <p:cNvSpPr/>
          <p:nvPr/>
        </p:nvSpPr>
        <p:spPr>
          <a:xfrm>
            <a:off x="6217920" y="4005072"/>
            <a:ext cx="2834640" cy="64008"/>
          </a:xfrm>
          <a:prstGeom prst="rect">
            <a:avLst/>
          </a:prstGeom>
          <a:solidFill>
            <a:srgbClr val="7C2D12"/>
          </a:solidFill>
          <a:ln w="12700">
            <a:solidFill>
              <a:srgbClr val="7C2D12"/>
            </a:solidFill>
            <a:prstDash val="solid"/>
          </a:ln>
        </p:spPr>
      </p:sp>
      <p:sp>
        <p:nvSpPr>
          <p:cNvPr id="24" name="Text 19"/>
          <p:cNvSpPr/>
          <p:nvPr/>
        </p:nvSpPr>
        <p:spPr>
          <a:xfrm>
            <a:off x="6327648" y="4133088"/>
            <a:ext cx="2633472" cy="384048"/>
          </a:xfrm>
          <a:prstGeom prst="rect">
            <a:avLst/>
          </a:prstGeom>
          <a:noFill/>
          <a:ln/>
        </p:spPr>
        <p:txBody>
          <a:bodyPr wrap="square" lIns="0" tIns="0" rIns="0" bIns="0" rtlCol="0" anchor="ctr"/>
          <a:lstStyle/>
          <a:p>
            <a:pPr marL="0" indent="0">
              <a:buNone/>
            </a:pPr>
            <a:r>
              <a:rPr lang="en-US" sz="1050" b="1" dirty="0">
                <a:solidFill>
                  <a:srgbClr val="7C2D12"/>
                </a:solidFill>
                <a:latin typeface="Calibri" pitchFamily="34" charset="0"/>
                <a:ea typeface="Calibri" pitchFamily="34" charset="-122"/>
                <a:cs typeface="Calibri" pitchFamily="34" charset="-120"/>
              </a:rPr>
              <a:t>Resistance Threshold ($250+)</a:t>
            </a:r>
            <a:endParaRPr lang="en-US" sz="1050" dirty="0"/>
          </a:p>
        </p:txBody>
      </p:sp>
      <p:sp>
        <p:nvSpPr>
          <p:cNvPr id="25" name="Text 20"/>
          <p:cNvSpPr/>
          <p:nvPr/>
        </p:nvSpPr>
        <p:spPr>
          <a:xfrm>
            <a:off x="6327648" y="4553712"/>
            <a:ext cx="2633472" cy="137160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60%+ conversion cliff — requires rep-assisted sales cycle, not self-checkout digital journey.</a:t>
            </a:r>
            <a:endParaRPr lang="en-US" sz="1000" dirty="0"/>
          </a:p>
        </p:txBody>
      </p:sp>
      <p:sp>
        <p:nvSpPr>
          <p:cNvPr id="26" name="Shape 21"/>
          <p:cNvSpPr/>
          <p:nvPr/>
        </p:nvSpPr>
        <p:spPr>
          <a:xfrm>
            <a:off x="9189720" y="4005072"/>
            <a:ext cx="2834640" cy="208483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7" name="Shape 22"/>
          <p:cNvSpPr/>
          <p:nvPr/>
        </p:nvSpPr>
        <p:spPr>
          <a:xfrm>
            <a:off x="9189720" y="4005072"/>
            <a:ext cx="2834640" cy="64008"/>
          </a:xfrm>
          <a:prstGeom prst="rect">
            <a:avLst/>
          </a:prstGeom>
          <a:solidFill>
            <a:srgbClr val="B45309"/>
          </a:solidFill>
          <a:ln w="12700">
            <a:solidFill>
              <a:srgbClr val="B45309"/>
            </a:solidFill>
            <a:prstDash val="solid"/>
          </a:ln>
        </p:spPr>
      </p:sp>
      <p:sp>
        <p:nvSpPr>
          <p:cNvPr id="28" name="Text 23"/>
          <p:cNvSpPr/>
          <p:nvPr/>
        </p:nvSpPr>
        <p:spPr>
          <a:xfrm>
            <a:off x="9299448" y="4133088"/>
            <a:ext cx="2633472" cy="384048"/>
          </a:xfrm>
          <a:prstGeom prst="rect">
            <a:avLst/>
          </a:prstGeom>
          <a:noFill/>
          <a:ln/>
        </p:spPr>
        <p:txBody>
          <a:bodyPr wrap="square" lIns="0" tIns="0" rIns="0" bIns="0" rtlCol="0" anchor="ctr"/>
          <a:lstStyle/>
          <a:p>
            <a:pPr marL="0" indent="0">
              <a:buNone/>
            </a:pPr>
            <a:r>
              <a:rPr lang="en-US" sz="1050" b="1" dirty="0">
                <a:solidFill>
                  <a:srgbClr val="B45309"/>
                </a:solidFill>
                <a:latin typeface="Calibri" pitchFamily="34" charset="0"/>
                <a:ea typeface="Calibri" pitchFamily="34" charset="-122"/>
                <a:cs typeface="Calibri" pitchFamily="34" charset="-120"/>
              </a:rPr>
              <a:t>Category Divide</a:t>
            </a:r>
            <a:endParaRPr lang="en-US" sz="1050" dirty="0"/>
          </a:p>
        </p:txBody>
      </p:sp>
      <p:sp>
        <p:nvSpPr>
          <p:cNvPr id="29" name="Text 24"/>
          <p:cNvSpPr/>
          <p:nvPr/>
        </p:nvSpPr>
        <p:spPr>
          <a:xfrm>
            <a:off x="9299448" y="4553712"/>
            <a:ext cx="2633472" cy="1371600"/>
          </a:xfrm>
          <a:prstGeom prst="rect">
            <a:avLst/>
          </a:prstGeom>
          <a:noFill/>
          <a:ln/>
        </p:spPr>
        <p:txBody>
          <a:bodyPr wrap="square" lIns="0" tIns="0" rIns="0" bIns="0" rtlCol="0" anchor="ctr"/>
          <a:lstStyle/>
          <a:p>
            <a:pPr marL="0" indent="0">
              <a:buNone/>
            </a:pPr>
            <a:r>
              <a:rPr lang="en-US" sz="1000" dirty="0">
                <a:solidFill>
                  <a:srgbClr val="2B2B2B"/>
                </a:solidFill>
                <a:latin typeface="Calibri" pitchFamily="34" charset="0"/>
                <a:ea typeface="Calibri" pitchFamily="34" charset="-122"/>
                <a:cs typeface="Calibri" pitchFamily="34" charset="-120"/>
              </a:rPr>
              <a:t>Fabrics &amp; Wallcoverings show −0.69 correlation. Separate funnels needed; avoid joint promotions.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Product Motif Revenue Performance</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04</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pic>
        <p:nvPicPr>
          <p:cNvPr id="8" name="Image 0" descr="preencoded.png"/>
          <p:cNvPicPr>
            <a:picLocks noChangeAspect="1"/>
          </p:cNvPicPr>
          <p:nvPr/>
        </p:nvPicPr>
        <p:blipFill>
          <a:blip r:embed="rId3"/>
          <a:srcRect/>
          <a:stretch/>
        </p:blipFill>
        <p:spPr>
          <a:xfrm>
            <a:off x="274320" y="777240"/>
            <a:ext cx="7132320" cy="5303520"/>
          </a:xfrm>
          <a:prstGeom prst="rect">
            <a:avLst/>
          </a:prstGeom>
        </p:spPr>
      </p:pic>
      <p:sp>
        <p:nvSpPr>
          <p:cNvPr id="9" name="Shape 6"/>
          <p:cNvSpPr/>
          <p:nvPr/>
        </p:nvSpPr>
        <p:spPr>
          <a:xfrm>
            <a:off x="7635240" y="777240"/>
            <a:ext cx="425196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0" name="Shape 7"/>
          <p:cNvSpPr/>
          <p:nvPr/>
        </p:nvSpPr>
        <p:spPr>
          <a:xfrm>
            <a:off x="7635240" y="777240"/>
            <a:ext cx="64008" cy="1078992"/>
          </a:xfrm>
          <a:prstGeom prst="rect">
            <a:avLst/>
          </a:prstGeom>
          <a:solidFill>
            <a:srgbClr val="0B1C3F"/>
          </a:solidFill>
          <a:ln w="12700">
            <a:solidFill>
              <a:srgbClr val="0B1C3F"/>
            </a:solidFill>
            <a:prstDash val="solid"/>
          </a:ln>
        </p:spPr>
      </p:sp>
      <p:sp>
        <p:nvSpPr>
          <p:cNvPr id="11" name="Text 8"/>
          <p:cNvSpPr/>
          <p:nvPr/>
        </p:nvSpPr>
        <p:spPr>
          <a:xfrm>
            <a:off x="7818120" y="868680"/>
            <a:ext cx="3931920" cy="274320"/>
          </a:xfrm>
          <a:prstGeom prst="rect">
            <a:avLst/>
          </a:prstGeom>
          <a:noFill/>
          <a:ln/>
        </p:spPr>
        <p:txBody>
          <a:bodyPr wrap="square" lIns="0" tIns="0" rIns="0" bIns="0" rtlCol="0" anchor="ctr"/>
          <a:lstStyle/>
          <a:p>
            <a:pPr marL="0" indent="0">
              <a:buNone/>
            </a:pPr>
            <a:r>
              <a:rPr lang="en-US" sz="1050" b="1" dirty="0">
                <a:solidFill>
                  <a:srgbClr val="0B1C3F"/>
                </a:solidFill>
                <a:latin typeface="Calibri" pitchFamily="34" charset="0"/>
                <a:ea typeface="Calibri" pitchFamily="34" charset="-122"/>
                <a:cs typeface="Calibri" pitchFamily="34" charset="-120"/>
              </a:rPr>
              <a:t>Botanical &amp; Floral Dominance</a:t>
            </a:r>
            <a:endParaRPr lang="en-US" sz="1050" dirty="0"/>
          </a:p>
        </p:txBody>
      </p:sp>
      <p:sp>
        <p:nvSpPr>
          <p:cNvPr id="12" name="Text 9"/>
          <p:cNvSpPr/>
          <p:nvPr/>
        </p:nvSpPr>
        <p:spPr>
          <a:xfrm>
            <a:off x="7818120" y="1179576"/>
            <a:ext cx="3931920" cy="5943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Botanical + Floral = 2 of top 3 revenue drivers (~$14–16M each). Classic luxury aesthetic preference confirmed.</a:t>
            </a:r>
            <a:endParaRPr lang="en-US" sz="950" dirty="0"/>
          </a:p>
        </p:txBody>
      </p:sp>
      <p:sp>
        <p:nvSpPr>
          <p:cNvPr id="13" name="Shape 10"/>
          <p:cNvSpPr/>
          <p:nvPr/>
        </p:nvSpPr>
        <p:spPr>
          <a:xfrm>
            <a:off x="7635240" y="1947672"/>
            <a:ext cx="425196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4" name="Shape 11"/>
          <p:cNvSpPr/>
          <p:nvPr/>
        </p:nvSpPr>
        <p:spPr>
          <a:xfrm>
            <a:off x="7635240" y="1947672"/>
            <a:ext cx="64008" cy="1078992"/>
          </a:xfrm>
          <a:prstGeom prst="rect">
            <a:avLst/>
          </a:prstGeom>
          <a:solidFill>
            <a:srgbClr val="C9A84C"/>
          </a:solidFill>
          <a:ln w="12700">
            <a:solidFill>
              <a:srgbClr val="C9A84C"/>
            </a:solidFill>
            <a:prstDash val="solid"/>
          </a:ln>
        </p:spPr>
      </p:sp>
      <p:sp>
        <p:nvSpPr>
          <p:cNvPr id="15" name="Text 12"/>
          <p:cNvSpPr/>
          <p:nvPr/>
        </p:nvSpPr>
        <p:spPr>
          <a:xfrm>
            <a:off x="7818120" y="2039112"/>
            <a:ext cx="3931920" cy="274320"/>
          </a:xfrm>
          <a:prstGeom prst="rect">
            <a:avLst/>
          </a:prstGeom>
          <a:noFill/>
          <a:ln/>
        </p:spPr>
        <p:txBody>
          <a:bodyPr wrap="square" lIns="0" tIns="0" rIns="0" bIns="0" rtlCol="0" anchor="ctr"/>
          <a:lstStyle/>
          <a:p>
            <a:pPr marL="0" indent="0">
              <a:buNone/>
            </a:pPr>
            <a:r>
              <a:rPr lang="en-US" sz="1050" b="1" dirty="0">
                <a:solidFill>
                  <a:srgbClr val="C9A84C"/>
                </a:solidFill>
                <a:latin typeface="Calibri" pitchFamily="34" charset="0"/>
                <a:ea typeface="Calibri" pitchFamily="34" charset="-122"/>
                <a:cs typeface="Calibri" pitchFamily="34" charset="-120"/>
              </a:rPr>
              <a:t>Solid as Entry Point</a:t>
            </a:r>
            <a:endParaRPr lang="en-US" sz="1050" dirty="0"/>
          </a:p>
        </p:txBody>
      </p:sp>
      <p:sp>
        <p:nvSpPr>
          <p:cNvPr id="16" name="Text 13"/>
          <p:cNvSpPr/>
          <p:nvPr/>
        </p:nvSpPr>
        <p:spPr>
          <a:xfrm>
            <a:off x="7818120" y="2350008"/>
            <a:ext cx="3931920" cy="5943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Solid/Plain drives high attachment rates — designers start with a neutral base, then add patterned accent pieces.</a:t>
            </a:r>
            <a:endParaRPr lang="en-US" sz="950" dirty="0"/>
          </a:p>
        </p:txBody>
      </p:sp>
      <p:sp>
        <p:nvSpPr>
          <p:cNvPr id="17" name="Shape 14"/>
          <p:cNvSpPr/>
          <p:nvPr/>
        </p:nvSpPr>
        <p:spPr>
          <a:xfrm>
            <a:off x="7635240" y="3118104"/>
            <a:ext cx="425196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8" name="Shape 15"/>
          <p:cNvSpPr/>
          <p:nvPr/>
        </p:nvSpPr>
        <p:spPr>
          <a:xfrm>
            <a:off x="7635240" y="3118104"/>
            <a:ext cx="64008" cy="1078992"/>
          </a:xfrm>
          <a:prstGeom prst="rect">
            <a:avLst/>
          </a:prstGeom>
          <a:solidFill>
            <a:srgbClr val="1B6B3A"/>
          </a:solidFill>
          <a:ln w="12700">
            <a:solidFill>
              <a:srgbClr val="1B6B3A"/>
            </a:solidFill>
            <a:prstDash val="solid"/>
          </a:ln>
        </p:spPr>
      </p:sp>
      <p:sp>
        <p:nvSpPr>
          <p:cNvPr id="19" name="Text 16"/>
          <p:cNvSpPr/>
          <p:nvPr/>
        </p:nvSpPr>
        <p:spPr>
          <a:xfrm>
            <a:off x="7818120" y="3209544"/>
            <a:ext cx="3931920" cy="274320"/>
          </a:xfrm>
          <a:prstGeom prst="rect">
            <a:avLst/>
          </a:prstGeom>
          <a:noFill/>
          <a:ln/>
        </p:spPr>
        <p:txBody>
          <a:bodyPr wrap="square" lIns="0" tIns="0" rIns="0" bIns="0" rtlCol="0" anchor="ctr"/>
          <a:lstStyle/>
          <a:p>
            <a:pPr marL="0" indent="0">
              <a:buNone/>
            </a:pPr>
            <a:r>
              <a:rPr lang="en-US" sz="1050" b="1" dirty="0">
                <a:solidFill>
                  <a:srgbClr val="1B6B3A"/>
                </a:solidFill>
                <a:latin typeface="Calibri" pitchFamily="34" charset="0"/>
                <a:ea typeface="Calibri" pitchFamily="34" charset="-122"/>
                <a:cs typeface="Calibri" pitchFamily="34" charset="-120"/>
              </a:rPr>
              <a:t>Texture Premium</a:t>
            </a:r>
            <a:endParaRPr lang="en-US" sz="1050" dirty="0"/>
          </a:p>
        </p:txBody>
      </p:sp>
      <p:sp>
        <p:nvSpPr>
          <p:cNvPr id="20" name="Text 17"/>
          <p:cNvSpPr/>
          <p:nvPr/>
        </p:nvSpPr>
        <p:spPr>
          <a:xfrm>
            <a:off x="7818120" y="3520440"/>
            <a:ext cx="3931920" cy="5943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Texture's strong performance signals growing market preference for tactile luxury — weave &gt; pattern print.</a:t>
            </a:r>
            <a:endParaRPr lang="en-US" sz="950" dirty="0"/>
          </a:p>
        </p:txBody>
      </p:sp>
      <p:sp>
        <p:nvSpPr>
          <p:cNvPr id="21" name="Shape 18"/>
          <p:cNvSpPr/>
          <p:nvPr/>
        </p:nvSpPr>
        <p:spPr>
          <a:xfrm>
            <a:off x="7635240" y="4288536"/>
            <a:ext cx="425196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2" name="Shape 19"/>
          <p:cNvSpPr/>
          <p:nvPr/>
        </p:nvSpPr>
        <p:spPr>
          <a:xfrm>
            <a:off x="7635240" y="4288536"/>
            <a:ext cx="64008" cy="1078992"/>
          </a:xfrm>
          <a:prstGeom prst="rect">
            <a:avLst/>
          </a:prstGeom>
          <a:solidFill>
            <a:srgbClr val="B45309"/>
          </a:solidFill>
          <a:ln w="12700">
            <a:solidFill>
              <a:srgbClr val="B45309"/>
            </a:solidFill>
            <a:prstDash val="solid"/>
          </a:ln>
        </p:spPr>
      </p:sp>
      <p:sp>
        <p:nvSpPr>
          <p:cNvPr id="23" name="Text 20"/>
          <p:cNvSpPr/>
          <p:nvPr/>
        </p:nvSpPr>
        <p:spPr>
          <a:xfrm>
            <a:off x="7818120" y="4379976"/>
            <a:ext cx="3931920" cy="274320"/>
          </a:xfrm>
          <a:prstGeom prst="rect">
            <a:avLst/>
          </a:prstGeom>
          <a:noFill/>
          <a:ln/>
        </p:spPr>
        <p:txBody>
          <a:bodyPr wrap="square" lIns="0" tIns="0" rIns="0" bIns="0" rtlCol="0" anchor="ctr"/>
          <a:lstStyle/>
          <a:p>
            <a:pPr marL="0" indent="0">
              <a:buNone/>
            </a:pPr>
            <a:r>
              <a:rPr lang="en-US" sz="1050" b="1" dirty="0">
                <a:solidFill>
                  <a:srgbClr val="B45309"/>
                </a:solidFill>
                <a:latin typeface="Calibri" pitchFamily="34" charset="0"/>
                <a:ea typeface="Calibri" pitchFamily="34" charset="-122"/>
                <a:cs typeface="Calibri" pitchFamily="34" charset="-120"/>
              </a:rPr>
              <a:t>Design Persona Signal</a:t>
            </a:r>
            <a:endParaRPr lang="en-US" sz="1050" dirty="0"/>
          </a:p>
        </p:txBody>
      </p:sp>
      <p:sp>
        <p:nvSpPr>
          <p:cNvPr id="24" name="Text 21"/>
          <p:cNvSpPr/>
          <p:nvPr/>
        </p:nvSpPr>
        <p:spPr>
          <a:xfrm>
            <a:off x="7818120" y="4690872"/>
            <a:ext cx="3931920" cy="5943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Motif sequence predicts Designer Persona: Botanical → Traditionalist; Geometric → Modernist. Enables personalised next-best-action.</a:t>
            </a:r>
            <a:endParaRPr lang="en-US" sz="950" dirty="0"/>
          </a:p>
        </p:txBody>
      </p:sp>
      <p:sp>
        <p:nvSpPr>
          <p:cNvPr id="25" name="Shape 22"/>
          <p:cNvSpPr/>
          <p:nvPr/>
        </p:nvSpPr>
        <p:spPr>
          <a:xfrm>
            <a:off x="7635240" y="5458968"/>
            <a:ext cx="425196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6" name="Shape 23"/>
          <p:cNvSpPr/>
          <p:nvPr/>
        </p:nvSpPr>
        <p:spPr>
          <a:xfrm>
            <a:off x="7635240" y="5458968"/>
            <a:ext cx="64008" cy="1078992"/>
          </a:xfrm>
          <a:prstGeom prst="rect">
            <a:avLst/>
          </a:prstGeom>
          <a:solidFill>
            <a:srgbClr val="1D4ED8"/>
          </a:solidFill>
          <a:ln w="12700">
            <a:solidFill>
              <a:srgbClr val="1D4ED8"/>
            </a:solidFill>
            <a:prstDash val="solid"/>
          </a:ln>
        </p:spPr>
      </p:sp>
      <p:sp>
        <p:nvSpPr>
          <p:cNvPr id="27" name="Text 24"/>
          <p:cNvSpPr/>
          <p:nvPr/>
        </p:nvSpPr>
        <p:spPr>
          <a:xfrm>
            <a:off x="7818120" y="5550408"/>
            <a:ext cx="3931920" cy="274320"/>
          </a:xfrm>
          <a:prstGeom prst="rect">
            <a:avLst/>
          </a:prstGeom>
          <a:noFill/>
          <a:ln/>
        </p:spPr>
        <p:txBody>
          <a:bodyPr wrap="square" lIns="0" tIns="0" rIns="0" bIns="0" rtlCol="0" anchor="ctr"/>
          <a:lstStyle/>
          <a:p>
            <a:pPr marL="0" indent="0">
              <a:buNone/>
            </a:pPr>
            <a:r>
              <a:rPr lang="en-US" sz="1050" b="1" dirty="0">
                <a:solidFill>
                  <a:srgbClr val="1D4ED8"/>
                </a:solidFill>
                <a:latin typeface="Calibri" pitchFamily="34" charset="0"/>
                <a:ea typeface="Calibri" pitchFamily="34" charset="-122"/>
                <a:cs typeface="Calibri" pitchFamily="34" charset="-120"/>
              </a:rPr>
              <a:t>AI Recommendation Hook</a:t>
            </a:r>
            <a:endParaRPr lang="en-US" sz="1050" dirty="0"/>
          </a:p>
        </p:txBody>
      </p:sp>
      <p:sp>
        <p:nvSpPr>
          <p:cNvPr id="28" name="Text 25"/>
          <p:cNvSpPr/>
          <p:nvPr/>
        </p:nvSpPr>
        <p:spPr>
          <a:xfrm>
            <a:off x="7818120" y="5861304"/>
            <a:ext cx="3931920" cy="59436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Top motifs serve as Style Anchors in the Vector DB — secondary motif selection post-solid predicts full design intent.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Propensity Modelling &amp; Lead Scoring — XGBoost Architecture</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05</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Shape 6"/>
          <p:cNvSpPr/>
          <p:nvPr/>
        </p:nvSpPr>
        <p:spPr>
          <a:xfrm>
            <a:off x="274320" y="777240"/>
            <a:ext cx="11612880" cy="457200"/>
          </a:xfrm>
          <a:prstGeom prst="rect">
            <a:avLst/>
          </a:prstGeom>
          <a:solidFill>
            <a:srgbClr val="132445"/>
          </a:solidFill>
          <a:ln w="12700">
            <a:solidFill>
              <a:srgbClr val="132445"/>
            </a:solidFill>
            <a:prstDash val="solid"/>
          </a:ln>
        </p:spPr>
      </p:sp>
      <p:sp>
        <p:nvSpPr>
          <p:cNvPr id="9" name="Text 7"/>
          <p:cNvSpPr/>
          <p:nvPr/>
        </p:nvSpPr>
        <p:spPr>
          <a:xfrm>
            <a:off x="457200" y="795528"/>
            <a:ext cx="11247120" cy="420624"/>
          </a:xfrm>
          <a:prstGeom prst="rect">
            <a:avLst/>
          </a:prstGeom>
          <a:noFill/>
          <a:ln/>
        </p:spPr>
        <p:txBody>
          <a:bodyPr wrap="square" lIns="0" tIns="0" rIns="0" bIns="0" rtlCol="0" anchor="ctr"/>
          <a:lstStyle/>
          <a:p>
            <a:pPr marL="0" indent="0">
              <a:buNone/>
            </a:pPr>
            <a:r>
              <a:rPr lang="en-US" sz="1100" b="1" dirty="0">
                <a:solidFill>
                  <a:srgbClr val="C9A84C"/>
                </a:solidFill>
                <a:latin typeface="Calibri" pitchFamily="34" charset="0"/>
                <a:ea typeface="Calibri" pitchFamily="34" charset="-122"/>
                <a:cs typeface="Calibri" pitchFamily="34" charset="-120"/>
              </a:rPr>
              <a:t>TWO-MODEL ARCHITECTURE  ·  Model 1: Will this account ever convert?  ·  Model 2: Will this account buy in the next 30 days?</a:t>
            </a:r>
            <a:endParaRPr lang="en-US" sz="1100" dirty="0"/>
          </a:p>
        </p:txBody>
      </p:sp>
      <p:sp>
        <p:nvSpPr>
          <p:cNvPr id="10" name="Shape 8"/>
          <p:cNvSpPr/>
          <p:nvPr/>
        </p:nvSpPr>
        <p:spPr>
          <a:xfrm>
            <a:off x="274320" y="1371600"/>
            <a:ext cx="5669280" cy="470916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1" name="Shape 9"/>
          <p:cNvSpPr/>
          <p:nvPr/>
        </p:nvSpPr>
        <p:spPr>
          <a:xfrm>
            <a:off x="274320" y="1371600"/>
            <a:ext cx="5669280" cy="411480"/>
          </a:xfrm>
          <a:prstGeom prst="rect">
            <a:avLst/>
          </a:prstGeom>
          <a:solidFill>
            <a:srgbClr val="0B1C3F"/>
          </a:solidFill>
          <a:ln w="12700">
            <a:solidFill>
              <a:srgbClr val="0B1C3F"/>
            </a:solidFill>
            <a:prstDash val="solid"/>
          </a:ln>
        </p:spPr>
      </p:sp>
      <p:sp>
        <p:nvSpPr>
          <p:cNvPr id="12" name="Text 10"/>
          <p:cNvSpPr/>
          <p:nvPr/>
        </p:nvSpPr>
        <p:spPr>
          <a:xfrm>
            <a:off x="411480" y="1399032"/>
            <a:ext cx="5394960" cy="347472"/>
          </a:xfrm>
          <a:prstGeom prst="rect">
            <a:avLst/>
          </a:prstGeom>
          <a:noFill/>
          <a:ln/>
        </p:spPr>
        <p:txBody>
          <a:bodyPr wrap="square" lIns="0" tIns="0" rIns="0" bIns="0" rtlCol="0" anchor="ctr"/>
          <a:lstStyle/>
          <a:p>
            <a:pPr marL="0" indent="0">
              <a:buNone/>
            </a:pPr>
            <a:r>
              <a:rPr lang="en-US" sz="1100" b="1" dirty="0">
                <a:solidFill>
                  <a:srgbClr val="C9A84C"/>
                </a:solidFill>
                <a:latin typeface="Calibri" pitchFamily="34" charset="0"/>
                <a:ea typeface="Calibri" pitchFamily="34" charset="-122"/>
                <a:cs typeface="Calibri" pitchFamily="34" charset="-120"/>
              </a:rPr>
              <a:t>MODEL 1  —  General Propensity</a:t>
            </a:r>
            <a:endParaRPr lang="en-US" sz="1100" dirty="0"/>
          </a:p>
        </p:txBody>
      </p:sp>
      <p:sp>
        <p:nvSpPr>
          <p:cNvPr id="13" name="Text 11"/>
          <p:cNvSpPr/>
          <p:nvPr/>
        </p:nvSpPr>
        <p:spPr>
          <a:xfrm>
            <a:off x="411480" y="1874520"/>
            <a:ext cx="5394960" cy="256032"/>
          </a:xfrm>
          <a:prstGeom prst="rect">
            <a:avLst/>
          </a:prstGeom>
          <a:noFill/>
          <a:ln/>
        </p:spPr>
        <p:txBody>
          <a:bodyPr wrap="square" lIns="0" tIns="0" rIns="0" bIns="0" rtlCol="0" anchor="ctr"/>
          <a:lstStyle/>
          <a:p>
            <a:pPr marL="0" indent="0">
              <a:buNone/>
            </a:pPr>
            <a:r>
              <a:rPr lang="en-US" sz="1000" b="1" dirty="0">
                <a:solidFill>
                  <a:srgbClr val="0B1C3F"/>
                </a:solidFill>
                <a:latin typeface="Calibri" pitchFamily="34" charset="0"/>
                <a:ea typeface="Calibri" pitchFamily="34" charset="-122"/>
                <a:cs typeface="Calibri" pitchFamily="34" charset="-120"/>
              </a:rPr>
              <a:t>Features</a:t>
            </a:r>
            <a:endParaRPr lang="en-US" sz="1000" dirty="0"/>
          </a:p>
        </p:txBody>
      </p:sp>
      <p:sp>
        <p:nvSpPr>
          <p:cNvPr id="14" name="Text 12"/>
          <p:cNvSpPr/>
          <p:nvPr/>
        </p:nvSpPr>
        <p:spPr>
          <a:xfrm>
            <a:off x="411480" y="2148840"/>
            <a:ext cx="5394960" cy="1417320"/>
          </a:xfrm>
          <a:prstGeom prst="rect">
            <a:avLst/>
          </a:prstGeom>
          <a:noFill/>
          <a:ln/>
        </p:spPr>
        <p:txBody>
          <a:bodyPr wrap="square" lIns="0" tIns="0" rIns="0" bIns="0" rtlCol="0" anchor="t"/>
          <a:lstStyle/>
          <a:p>
            <a:pPr marL="342900" indent="-342900">
              <a:buSzPct val="100000"/>
              <a:buChar char="•"/>
            </a:pPr>
            <a:r>
              <a:rPr lang="en-US" sz="900" dirty="0">
                <a:solidFill>
                  <a:srgbClr val="2B2B2B"/>
                </a:solidFill>
                <a:latin typeface="Courier New" pitchFamily="34" charset="0"/>
                <a:ea typeface="Courier New" pitchFamily="34" charset="-122"/>
                <a:cs typeface="Courier New" pitchFamily="34" charset="-120"/>
              </a:rPr>
              <a:t>total_samples  (highest SHAP importance)</a:t>
            </a:r>
            <a:endParaRPr lang="en-US" sz="900" dirty="0"/>
          </a:p>
          <a:p>
            <a:pPr marL="342900" indent="-342900">
              <a:buSzPct val="100000"/>
              <a:buChar char="•"/>
            </a:pPr>
            <a:r>
              <a:rPr lang="en-US" sz="900" dirty="0">
                <a:solidFill>
                  <a:srgbClr val="2B2B2B"/>
                </a:solidFill>
                <a:latin typeface="Courier New" pitchFamily="34" charset="0"/>
                <a:ea typeface="Courier New" pitchFamily="34" charset="-122"/>
                <a:cs typeface="Courier New" pitchFamily="34" charset="-120"/>
              </a:rPr>
              <a:t>unique_motifs  (breadth of aesthetic exploration)</a:t>
            </a:r>
            <a:endParaRPr lang="en-US" sz="900" dirty="0"/>
          </a:p>
          <a:p>
            <a:pPr marL="342900" indent="-342900">
              <a:buSzPct val="100000"/>
              <a:buChar char="•"/>
            </a:pPr>
            <a:r>
              <a:rPr lang="en-US" sz="900" dirty="0">
                <a:solidFill>
                  <a:srgbClr val="2B2B2B"/>
                </a:solidFill>
                <a:latin typeface="Courier New" pitchFamily="34" charset="0"/>
                <a:ea typeface="Courier New" pitchFamily="34" charset="-122"/>
                <a:cs typeface="Courier New" pitchFamily="34" charset="-120"/>
              </a:rPr>
              <a:t>avg_item_price  (quality signal — note: leakage risk)</a:t>
            </a:r>
            <a:endParaRPr lang="en-US" sz="900" dirty="0"/>
          </a:p>
          <a:p>
            <a:pPr marL="342900" indent="-342900">
              <a:buSzPct val="100000"/>
              <a:buChar char="•"/>
            </a:pPr>
            <a:r>
              <a:rPr lang="en-US" sz="900" dirty="0">
                <a:solidFill>
                  <a:srgbClr val="2B2B2B"/>
                </a:solidFill>
                <a:latin typeface="Courier New" pitchFamily="34" charset="0"/>
                <a:ea typeface="Courier New" pitchFamily="34" charset="-122"/>
                <a:cs typeface="Courier New" pitchFamily="34" charset="-120"/>
              </a:rPr>
              <a:t>showroom_share  (channel engagement ratio)</a:t>
            </a:r>
            <a:endParaRPr lang="en-US" sz="900" dirty="0"/>
          </a:p>
          <a:p>
            <a:pPr marL="342900" indent="-342900">
              <a:buSzPct val="100000"/>
              <a:buChar char="•"/>
            </a:pPr>
            <a:r>
              <a:rPr lang="en-US" sz="900" dirty="0">
                <a:solidFill>
                  <a:srgbClr val="2B2B2B"/>
                </a:solidFill>
                <a:latin typeface="Courier New" pitchFamily="34" charset="0"/>
                <a:ea typeface="Courier New" pitchFamily="34" charset="-122"/>
                <a:cs typeface="Courier New" pitchFamily="34" charset="-120"/>
              </a:rPr>
              <a:t>days_since_first_sample  (tenure signal)</a:t>
            </a:r>
            <a:endParaRPr lang="en-US" sz="900" dirty="0"/>
          </a:p>
        </p:txBody>
      </p:sp>
      <p:sp>
        <p:nvSpPr>
          <p:cNvPr id="15" name="Text 13"/>
          <p:cNvSpPr/>
          <p:nvPr/>
        </p:nvSpPr>
        <p:spPr>
          <a:xfrm>
            <a:off x="411480" y="3639312"/>
            <a:ext cx="5394960" cy="256032"/>
          </a:xfrm>
          <a:prstGeom prst="rect">
            <a:avLst/>
          </a:prstGeom>
          <a:noFill/>
          <a:ln/>
        </p:spPr>
        <p:txBody>
          <a:bodyPr wrap="square" lIns="0" tIns="0" rIns="0" bIns="0" rtlCol="0" anchor="ctr"/>
          <a:lstStyle/>
          <a:p>
            <a:pPr marL="0" indent="0">
              <a:buNone/>
            </a:pPr>
            <a:r>
              <a:rPr lang="en-US" sz="1000" b="1" dirty="0">
                <a:solidFill>
                  <a:srgbClr val="0B1C3F"/>
                </a:solidFill>
                <a:latin typeface="Calibri" pitchFamily="34" charset="0"/>
                <a:ea typeface="Calibri" pitchFamily="34" charset="-122"/>
                <a:cs typeface="Calibri" pitchFamily="34" charset="-120"/>
              </a:rPr>
              <a:t>Configuration</a:t>
            </a:r>
            <a:endParaRPr lang="en-US" sz="1000" dirty="0"/>
          </a:p>
        </p:txBody>
      </p:sp>
      <p:sp>
        <p:nvSpPr>
          <p:cNvPr id="16" name="Text 14"/>
          <p:cNvSpPr/>
          <p:nvPr/>
        </p:nvSpPr>
        <p:spPr>
          <a:xfrm>
            <a:off x="411480" y="3931920"/>
            <a:ext cx="2011680" cy="2743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n_estimators</a:t>
            </a:r>
            <a:endParaRPr lang="en-US" sz="900" dirty="0"/>
          </a:p>
        </p:txBody>
      </p:sp>
      <p:sp>
        <p:nvSpPr>
          <p:cNvPr id="17" name="Text 15"/>
          <p:cNvSpPr/>
          <p:nvPr/>
        </p:nvSpPr>
        <p:spPr>
          <a:xfrm>
            <a:off x="2468880" y="3931920"/>
            <a:ext cx="3291840" cy="274320"/>
          </a:xfrm>
          <a:prstGeom prst="rect">
            <a:avLst/>
          </a:prstGeom>
          <a:noFill/>
          <a:ln/>
        </p:spPr>
        <p:txBody>
          <a:bodyPr wrap="square" lIns="0" tIns="0" rIns="0" bIns="0" rtlCol="0" anchor="ctr"/>
          <a:lstStyle/>
          <a:p>
            <a:pPr marL="0" indent="0">
              <a:buNone/>
            </a:pPr>
            <a:r>
              <a:rPr lang="en-US" sz="900" b="1" dirty="0">
                <a:solidFill>
                  <a:srgbClr val="2B2B2B"/>
                </a:solidFill>
                <a:latin typeface="Calibri" pitchFamily="34" charset="0"/>
                <a:ea typeface="Calibri" pitchFamily="34" charset="-122"/>
                <a:cs typeface="Calibri" pitchFamily="34" charset="-120"/>
              </a:rPr>
              <a:t>1,000  (early stopping: 50 rounds)</a:t>
            </a:r>
            <a:endParaRPr lang="en-US" sz="900" dirty="0"/>
          </a:p>
        </p:txBody>
      </p:sp>
      <p:sp>
        <p:nvSpPr>
          <p:cNvPr id="18" name="Text 16"/>
          <p:cNvSpPr/>
          <p:nvPr/>
        </p:nvSpPr>
        <p:spPr>
          <a:xfrm>
            <a:off x="411480" y="4251960"/>
            <a:ext cx="2011680" cy="2743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max_depth</a:t>
            </a:r>
            <a:endParaRPr lang="en-US" sz="900" dirty="0"/>
          </a:p>
        </p:txBody>
      </p:sp>
      <p:sp>
        <p:nvSpPr>
          <p:cNvPr id="19" name="Text 17"/>
          <p:cNvSpPr/>
          <p:nvPr/>
        </p:nvSpPr>
        <p:spPr>
          <a:xfrm>
            <a:off x="2468880" y="4251960"/>
            <a:ext cx="3291840" cy="274320"/>
          </a:xfrm>
          <a:prstGeom prst="rect">
            <a:avLst/>
          </a:prstGeom>
          <a:noFill/>
          <a:ln/>
        </p:spPr>
        <p:txBody>
          <a:bodyPr wrap="square" lIns="0" tIns="0" rIns="0" bIns="0" rtlCol="0" anchor="ctr"/>
          <a:lstStyle/>
          <a:p>
            <a:pPr marL="0" indent="0">
              <a:buNone/>
            </a:pPr>
            <a:r>
              <a:rPr lang="en-US" sz="900" b="1" dirty="0">
                <a:solidFill>
                  <a:srgbClr val="2B2B2B"/>
                </a:solidFill>
                <a:latin typeface="Calibri" pitchFamily="34" charset="0"/>
                <a:ea typeface="Calibri" pitchFamily="34" charset="-122"/>
                <a:cs typeface="Calibri" pitchFamily="34" charset="-120"/>
              </a:rPr>
              <a:t>4</a:t>
            </a:r>
            <a:endParaRPr lang="en-US" sz="900" dirty="0"/>
          </a:p>
        </p:txBody>
      </p:sp>
      <p:sp>
        <p:nvSpPr>
          <p:cNvPr id="20" name="Text 18"/>
          <p:cNvSpPr/>
          <p:nvPr/>
        </p:nvSpPr>
        <p:spPr>
          <a:xfrm>
            <a:off x="411480" y="4572000"/>
            <a:ext cx="2011680" cy="2743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learning_rate</a:t>
            </a:r>
            <a:endParaRPr lang="en-US" sz="900" dirty="0"/>
          </a:p>
        </p:txBody>
      </p:sp>
      <p:sp>
        <p:nvSpPr>
          <p:cNvPr id="21" name="Text 19"/>
          <p:cNvSpPr/>
          <p:nvPr/>
        </p:nvSpPr>
        <p:spPr>
          <a:xfrm>
            <a:off x="2468880" y="4572000"/>
            <a:ext cx="3291840" cy="274320"/>
          </a:xfrm>
          <a:prstGeom prst="rect">
            <a:avLst/>
          </a:prstGeom>
          <a:noFill/>
          <a:ln/>
        </p:spPr>
        <p:txBody>
          <a:bodyPr wrap="square" lIns="0" tIns="0" rIns="0" bIns="0" rtlCol="0" anchor="ctr"/>
          <a:lstStyle/>
          <a:p>
            <a:pPr marL="0" indent="0">
              <a:buNone/>
            </a:pPr>
            <a:r>
              <a:rPr lang="en-US" sz="900" b="1" dirty="0">
                <a:solidFill>
                  <a:srgbClr val="2B2B2B"/>
                </a:solidFill>
                <a:latin typeface="Calibri" pitchFamily="34" charset="0"/>
                <a:ea typeface="Calibri" pitchFamily="34" charset="-122"/>
                <a:cs typeface="Calibri" pitchFamily="34" charset="-120"/>
              </a:rPr>
              <a:t>0.02</a:t>
            </a:r>
            <a:endParaRPr lang="en-US" sz="900" dirty="0"/>
          </a:p>
        </p:txBody>
      </p:sp>
      <p:sp>
        <p:nvSpPr>
          <p:cNvPr id="22" name="Text 20"/>
          <p:cNvSpPr/>
          <p:nvPr/>
        </p:nvSpPr>
        <p:spPr>
          <a:xfrm>
            <a:off x="411480" y="4892040"/>
            <a:ext cx="2011680" cy="2743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scale_pos_weight</a:t>
            </a:r>
            <a:endParaRPr lang="en-US" sz="900" dirty="0"/>
          </a:p>
        </p:txBody>
      </p:sp>
      <p:sp>
        <p:nvSpPr>
          <p:cNvPr id="23" name="Text 21"/>
          <p:cNvSpPr/>
          <p:nvPr/>
        </p:nvSpPr>
        <p:spPr>
          <a:xfrm>
            <a:off x="2468880" y="4892040"/>
            <a:ext cx="3291840" cy="274320"/>
          </a:xfrm>
          <a:prstGeom prst="rect">
            <a:avLst/>
          </a:prstGeom>
          <a:noFill/>
          <a:ln/>
        </p:spPr>
        <p:txBody>
          <a:bodyPr wrap="square" lIns="0" tIns="0" rIns="0" bIns="0" rtlCol="0" anchor="ctr"/>
          <a:lstStyle/>
          <a:p>
            <a:pPr marL="0" indent="0">
              <a:buNone/>
            </a:pPr>
            <a:r>
              <a:rPr lang="en-US" sz="900" b="1" dirty="0">
                <a:solidFill>
                  <a:srgbClr val="2B2B2B"/>
                </a:solidFill>
                <a:latin typeface="Calibri" pitchFamily="34" charset="0"/>
                <a:ea typeface="Calibri" pitchFamily="34" charset="-122"/>
                <a:cs typeface="Calibri" pitchFamily="34" charset="-120"/>
              </a:rPr>
              <a:t>1.88  (imbalance: 0.53 ratio)</a:t>
            </a:r>
            <a:endParaRPr lang="en-US" sz="900" dirty="0"/>
          </a:p>
        </p:txBody>
      </p:sp>
      <p:sp>
        <p:nvSpPr>
          <p:cNvPr id="24" name="Text 22"/>
          <p:cNvSpPr/>
          <p:nvPr/>
        </p:nvSpPr>
        <p:spPr>
          <a:xfrm>
            <a:off x="411480" y="5212080"/>
            <a:ext cx="2011680" cy="2743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eval_metric</a:t>
            </a:r>
            <a:endParaRPr lang="en-US" sz="900" dirty="0"/>
          </a:p>
        </p:txBody>
      </p:sp>
      <p:sp>
        <p:nvSpPr>
          <p:cNvPr id="25" name="Text 23"/>
          <p:cNvSpPr/>
          <p:nvPr/>
        </p:nvSpPr>
        <p:spPr>
          <a:xfrm>
            <a:off x="2468880" y="5212080"/>
            <a:ext cx="3291840" cy="274320"/>
          </a:xfrm>
          <a:prstGeom prst="rect">
            <a:avLst/>
          </a:prstGeom>
          <a:noFill/>
          <a:ln/>
        </p:spPr>
        <p:txBody>
          <a:bodyPr wrap="square" lIns="0" tIns="0" rIns="0" bIns="0" rtlCol="0" anchor="ctr"/>
          <a:lstStyle/>
          <a:p>
            <a:pPr marL="0" indent="0">
              <a:buNone/>
            </a:pPr>
            <a:r>
              <a:rPr lang="en-US" sz="900" b="1" dirty="0">
                <a:solidFill>
                  <a:srgbClr val="2B2B2B"/>
                </a:solidFill>
                <a:latin typeface="Calibri" pitchFamily="34" charset="0"/>
                <a:ea typeface="Calibri" pitchFamily="34" charset="-122"/>
                <a:cs typeface="Calibri" pitchFamily="34" charset="-120"/>
              </a:rPr>
              <a:t>AUCPR</a:t>
            </a:r>
            <a:endParaRPr lang="en-US" sz="900" dirty="0"/>
          </a:p>
        </p:txBody>
      </p:sp>
      <p:sp>
        <p:nvSpPr>
          <p:cNvPr id="26" name="Text 24"/>
          <p:cNvSpPr/>
          <p:nvPr/>
        </p:nvSpPr>
        <p:spPr>
          <a:xfrm>
            <a:off x="411480" y="5532120"/>
            <a:ext cx="2011680" cy="274320"/>
          </a:xfrm>
          <a:prstGeom prst="rect">
            <a:avLst/>
          </a:prstGeom>
          <a:noFill/>
          <a:ln/>
        </p:spPr>
        <p:txBody>
          <a:bodyPr wrap="square" lIns="0" tIns="0" rIns="0" bIns="0" rtlCol="0" anchor="ctr"/>
          <a:lstStyle/>
          <a:p>
            <a:pPr marL="0" indent="0">
              <a:buNone/>
            </a:pPr>
            <a:r>
              <a:rPr lang="en-US" sz="900" dirty="0">
                <a:solidFill>
                  <a:srgbClr val="4A5568"/>
                </a:solidFill>
                <a:latin typeface="Calibri" pitchFamily="34" charset="0"/>
                <a:ea typeface="Calibri" pitchFamily="34" charset="-122"/>
                <a:cs typeface="Calibri" pitchFamily="34" charset="-120"/>
              </a:rPr>
              <a:t>Best Round</a:t>
            </a:r>
            <a:endParaRPr lang="en-US" sz="900" dirty="0"/>
          </a:p>
        </p:txBody>
      </p:sp>
      <p:sp>
        <p:nvSpPr>
          <p:cNvPr id="27" name="Text 25"/>
          <p:cNvSpPr/>
          <p:nvPr/>
        </p:nvSpPr>
        <p:spPr>
          <a:xfrm>
            <a:off x="2468880" y="5532120"/>
            <a:ext cx="3291840" cy="274320"/>
          </a:xfrm>
          <a:prstGeom prst="rect">
            <a:avLst/>
          </a:prstGeom>
          <a:noFill/>
          <a:ln/>
        </p:spPr>
        <p:txBody>
          <a:bodyPr wrap="square" lIns="0" tIns="0" rIns="0" bIns="0" rtlCol="0" anchor="ctr"/>
          <a:lstStyle/>
          <a:p>
            <a:pPr marL="0" indent="0">
              <a:buNone/>
            </a:pPr>
            <a:r>
              <a:rPr lang="en-US" sz="900" b="1" dirty="0">
                <a:solidFill>
                  <a:srgbClr val="2B2B2B"/>
                </a:solidFill>
                <a:latin typeface="Calibri" pitchFamily="34" charset="0"/>
                <a:ea typeface="Calibri" pitchFamily="34" charset="-122"/>
                <a:cs typeface="Calibri" pitchFamily="34" charset="-120"/>
              </a:rPr>
              <a:t>782</a:t>
            </a:r>
            <a:endParaRPr lang="en-US" sz="900" dirty="0"/>
          </a:p>
        </p:txBody>
      </p:sp>
      <p:sp>
        <p:nvSpPr>
          <p:cNvPr id="28" name="Shape 26"/>
          <p:cNvSpPr/>
          <p:nvPr/>
        </p:nvSpPr>
        <p:spPr>
          <a:xfrm>
            <a:off x="411480" y="5559552"/>
            <a:ext cx="5394960" cy="411480"/>
          </a:xfrm>
          <a:prstGeom prst="rect">
            <a:avLst/>
          </a:prstGeom>
          <a:solidFill>
            <a:srgbClr val="1B6B3A"/>
          </a:solidFill>
          <a:ln w="12700">
            <a:solidFill>
              <a:srgbClr val="1B6B3A"/>
            </a:solidFill>
            <a:prstDash val="solid"/>
          </a:ln>
        </p:spPr>
      </p:sp>
      <p:sp>
        <p:nvSpPr>
          <p:cNvPr id="29" name="Text 27"/>
          <p:cNvSpPr/>
          <p:nvPr/>
        </p:nvSpPr>
        <p:spPr>
          <a:xfrm>
            <a:off x="502920" y="5577840"/>
            <a:ext cx="5212080" cy="374904"/>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AUCPR:  0.926  —  92.6% precision-recall balance (far above no-skill baseline)</a:t>
            </a:r>
            <a:endParaRPr lang="en-US" sz="1050" dirty="0"/>
          </a:p>
        </p:txBody>
      </p:sp>
      <p:sp>
        <p:nvSpPr>
          <p:cNvPr id="30" name="Shape 28"/>
          <p:cNvSpPr/>
          <p:nvPr/>
        </p:nvSpPr>
        <p:spPr>
          <a:xfrm>
            <a:off x="6217920" y="1371600"/>
            <a:ext cx="5669280" cy="470916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31" name="Shape 29"/>
          <p:cNvSpPr/>
          <p:nvPr/>
        </p:nvSpPr>
        <p:spPr>
          <a:xfrm>
            <a:off x="6217920" y="1371600"/>
            <a:ext cx="5669280" cy="411480"/>
          </a:xfrm>
          <a:prstGeom prst="rect">
            <a:avLst/>
          </a:prstGeom>
          <a:solidFill>
            <a:srgbClr val="0F2855"/>
          </a:solidFill>
          <a:ln w="12700">
            <a:solidFill>
              <a:srgbClr val="0F2855"/>
            </a:solidFill>
            <a:prstDash val="solid"/>
          </a:ln>
        </p:spPr>
      </p:sp>
      <p:sp>
        <p:nvSpPr>
          <p:cNvPr id="32" name="Text 30"/>
          <p:cNvSpPr/>
          <p:nvPr/>
        </p:nvSpPr>
        <p:spPr>
          <a:xfrm>
            <a:off x="6355080" y="1399032"/>
            <a:ext cx="5394960" cy="347472"/>
          </a:xfrm>
          <a:prstGeom prst="rect">
            <a:avLst/>
          </a:prstGeom>
          <a:noFill/>
          <a:ln/>
        </p:spPr>
        <p:txBody>
          <a:bodyPr wrap="square" lIns="0" tIns="0" rIns="0" bIns="0" rtlCol="0" anchor="ctr"/>
          <a:lstStyle/>
          <a:p>
            <a:pPr marL="0" indent="0">
              <a:buNone/>
            </a:pPr>
            <a:r>
              <a:rPr lang="en-US" sz="1100" b="1" dirty="0">
                <a:solidFill>
                  <a:srgbClr val="C9A84C"/>
                </a:solidFill>
                <a:latin typeface="Calibri" pitchFamily="34" charset="0"/>
                <a:ea typeface="Calibri" pitchFamily="34" charset="-122"/>
                <a:cs typeface="Calibri" pitchFamily="34" charset="-120"/>
              </a:rPr>
              <a:t>MODEL 2  —  Temporal 30-Day Prediction</a:t>
            </a:r>
            <a:endParaRPr lang="en-US" sz="1100" dirty="0"/>
          </a:p>
        </p:txBody>
      </p:sp>
      <p:sp>
        <p:nvSpPr>
          <p:cNvPr id="33" name="Text 31"/>
          <p:cNvSpPr/>
          <p:nvPr/>
        </p:nvSpPr>
        <p:spPr>
          <a:xfrm>
            <a:off x="6355080" y="1874520"/>
            <a:ext cx="5394960" cy="256032"/>
          </a:xfrm>
          <a:prstGeom prst="rect">
            <a:avLst/>
          </a:prstGeom>
          <a:noFill/>
          <a:ln/>
        </p:spPr>
        <p:txBody>
          <a:bodyPr wrap="square" lIns="0" tIns="0" rIns="0" bIns="0" rtlCol="0" anchor="ctr"/>
          <a:lstStyle/>
          <a:p>
            <a:pPr marL="0" indent="0">
              <a:buNone/>
            </a:pPr>
            <a:r>
              <a:rPr lang="en-US" sz="1000" b="1" dirty="0">
                <a:solidFill>
                  <a:srgbClr val="0B1C3F"/>
                </a:solidFill>
                <a:latin typeface="Calibri" pitchFamily="34" charset="0"/>
                <a:ea typeface="Calibri" pitchFamily="34" charset="-122"/>
                <a:cs typeface="Calibri" pitchFamily="34" charset="-120"/>
              </a:rPr>
              <a:t>The Temporal Split — Why This Is Correct</a:t>
            </a:r>
            <a:endParaRPr lang="en-US" sz="1000" dirty="0"/>
          </a:p>
        </p:txBody>
      </p:sp>
      <p:sp>
        <p:nvSpPr>
          <p:cNvPr id="34" name="Shape 32"/>
          <p:cNvSpPr/>
          <p:nvPr/>
        </p:nvSpPr>
        <p:spPr>
          <a:xfrm>
            <a:off x="6355080" y="2167128"/>
            <a:ext cx="5394960" cy="566928"/>
          </a:xfrm>
          <a:prstGeom prst="rect">
            <a:avLst/>
          </a:prstGeom>
          <a:solidFill>
            <a:srgbClr val="EEF2FF"/>
          </a:solidFill>
          <a:ln w="6350">
            <a:solidFill>
              <a:srgbClr val="CADCFC"/>
            </a:solidFill>
            <a:prstDash val="solid"/>
          </a:ln>
        </p:spPr>
      </p:sp>
      <p:sp>
        <p:nvSpPr>
          <p:cNvPr id="35" name="Text 33"/>
          <p:cNvSpPr/>
          <p:nvPr/>
        </p:nvSpPr>
        <p:spPr>
          <a:xfrm>
            <a:off x="6446520" y="2194560"/>
            <a:ext cx="5212080" cy="512064"/>
          </a:xfrm>
          <a:prstGeom prst="rect">
            <a:avLst/>
          </a:prstGeom>
          <a:noFill/>
          <a:ln/>
        </p:spPr>
        <p:txBody>
          <a:bodyPr wrap="square" lIns="0" tIns="0" rIns="0" bIns="0" rtlCol="0" anchor="ctr"/>
          <a:lstStyle/>
          <a:p>
            <a:pPr marL="0" indent="0">
              <a:buNone/>
            </a:pPr>
            <a:r>
              <a:rPr lang="en-US" sz="900" dirty="0">
                <a:solidFill>
                  <a:srgbClr val="1D4ED8"/>
                </a:solidFill>
                <a:latin typeface="Courier New" pitchFamily="34" charset="0"/>
                <a:ea typeface="Courier New" pitchFamily="34" charset="-122"/>
                <a:cs typeface="Courier New" pitchFamily="34" charset="-120"/>
              </a:rPr>
              <a:t>observation_date = max_date − 30 days</a:t>
            </a:r>
            <a:endParaRPr lang="en-US" sz="900" dirty="0"/>
          </a:p>
          <a:p>
            <a:pPr marL="0" indent="0">
              <a:buNone/>
            </a:pPr>
            <a:r>
              <a:rPr lang="en-US" sz="900" dirty="0">
                <a:solidFill>
                  <a:srgbClr val="1D4ED8"/>
                </a:solidFill>
                <a:latin typeface="Courier New" pitchFamily="34" charset="0"/>
                <a:ea typeface="Courier New" pitchFamily="34" charset="-122"/>
                <a:cs typeface="Courier New" pitchFamily="34" charset="-120"/>
              </a:rPr>
              <a:t>Features ← before cutoff  |  Labels ← sales after cutoff</a:t>
            </a:r>
            <a:endParaRPr lang="en-US" sz="900" dirty="0"/>
          </a:p>
        </p:txBody>
      </p:sp>
      <p:sp>
        <p:nvSpPr>
          <p:cNvPr id="36" name="Text 34"/>
          <p:cNvSpPr/>
          <p:nvPr/>
        </p:nvSpPr>
        <p:spPr>
          <a:xfrm>
            <a:off x="6355080" y="2798064"/>
            <a:ext cx="5394960" cy="658368"/>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A random split allows the model to train on future data — artificially inflating scores. The temporal split ensures the model only sees historical behaviour, exactly as in production.</a:t>
            </a:r>
            <a:endParaRPr lang="en-US" sz="950" dirty="0"/>
          </a:p>
        </p:txBody>
      </p:sp>
      <p:sp>
        <p:nvSpPr>
          <p:cNvPr id="37" name="Text 35"/>
          <p:cNvSpPr/>
          <p:nvPr/>
        </p:nvSpPr>
        <p:spPr>
          <a:xfrm>
            <a:off x="6355080" y="3520440"/>
            <a:ext cx="5394960" cy="256032"/>
          </a:xfrm>
          <a:prstGeom prst="rect">
            <a:avLst/>
          </a:prstGeom>
          <a:noFill/>
          <a:ln/>
        </p:spPr>
        <p:txBody>
          <a:bodyPr wrap="square" lIns="0" tIns="0" rIns="0" bIns="0" rtlCol="0" anchor="ctr"/>
          <a:lstStyle/>
          <a:p>
            <a:pPr marL="0" indent="0">
              <a:buNone/>
            </a:pPr>
            <a:r>
              <a:rPr lang="en-US" sz="1000" b="1" dirty="0">
                <a:solidFill>
                  <a:srgbClr val="0B1C3F"/>
                </a:solidFill>
                <a:latin typeface="Calibri" pitchFamily="34" charset="0"/>
                <a:ea typeface="Calibri" pitchFamily="34" charset="-122"/>
                <a:cs typeface="Calibri" pitchFamily="34" charset="-120"/>
              </a:rPr>
              <a:t>Features</a:t>
            </a:r>
            <a:endParaRPr lang="en-US" sz="1000" dirty="0"/>
          </a:p>
        </p:txBody>
      </p:sp>
      <p:sp>
        <p:nvSpPr>
          <p:cNvPr id="38" name="Text 36"/>
          <p:cNvSpPr/>
          <p:nvPr/>
        </p:nvSpPr>
        <p:spPr>
          <a:xfrm>
            <a:off x="6355080" y="3813048"/>
            <a:ext cx="5394960" cy="274320"/>
          </a:xfrm>
          <a:prstGeom prst="rect">
            <a:avLst/>
          </a:prstGeom>
          <a:noFill/>
          <a:ln/>
        </p:spPr>
        <p:txBody>
          <a:bodyPr wrap="square" lIns="0" tIns="0" rIns="0" bIns="0" rtlCol="0" anchor="ctr"/>
          <a:lstStyle/>
          <a:p>
            <a:pPr marL="0" indent="0">
              <a:buNone/>
            </a:pPr>
            <a:r>
              <a:rPr lang="en-US" sz="900" dirty="0">
                <a:solidFill>
                  <a:srgbClr val="2B2B2B"/>
                </a:solidFill>
                <a:latin typeface="Courier New" pitchFamily="34" charset="0"/>
                <a:ea typeface="Courier New" pitchFamily="34" charset="-122"/>
                <a:cs typeface="Courier New" pitchFamily="34" charset="-120"/>
              </a:rPr>
              <a:t>recency_days  ·  sample_velocity_30d</a:t>
            </a:r>
            <a:endParaRPr lang="en-US" sz="900" dirty="0"/>
          </a:p>
        </p:txBody>
      </p:sp>
      <p:sp>
        <p:nvSpPr>
          <p:cNvPr id="39" name="Text 37"/>
          <p:cNvSpPr/>
          <p:nvPr/>
        </p:nvSpPr>
        <p:spPr>
          <a:xfrm>
            <a:off x="6355080" y="4160520"/>
            <a:ext cx="5394960" cy="256032"/>
          </a:xfrm>
          <a:prstGeom prst="rect">
            <a:avLst/>
          </a:prstGeom>
          <a:noFill/>
          <a:ln/>
        </p:spPr>
        <p:txBody>
          <a:bodyPr wrap="square" lIns="0" tIns="0" rIns="0" bIns="0" rtlCol="0" anchor="ctr"/>
          <a:lstStyle/>
          <a:p>
            <a:pPr marL="0" indent="0">
              <a:buNone/>
            </a:pPr>
            <a:r>
              <a:rPr lang="en-US" sz="1000" b="1" dirty="0">
                <a:solidFill>
                  <a:srgbClr val="0B1C3F"/>
                </a:solidFill>
                <a:latin typeface="Calibri" pitchFamily="34" charset="0"/>
                <a:ea typeface="Calibri" pitchFamily="34" charset="-122"/>
                <a:cs typeface="Calibri" pitchFamily="34" charset="-120"/>
              </a:rPr>
              <a:t>Output: Hot List</a:t>
            </a:r>
            <a:endParaRPr lang="en-US" sz="1000" dirty="0"/>
          </a:p>
        </p:txBody>
      </p:sp>
      <p:sp>
        <p:nvSpPr>
          <p:cNvPr id="40" name="Text 38"/>
          <p:cNvSpPr/>
          <p:nvPr/>
        </p:nvSpPr>
        <p:spPr>
          <a:xfrm>
            <a:off x="6355080" y="4443984"/>
            <a:ext cx="5394960" cy="64008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Accounts with purchase_probability &gt; 0.80 extracted as daily-refreshable sales call priority list. Top accounts: 0.808–0.960 probability range.</a:t>
            </a:r>
            <a:endParaRPr lang="en-US" sz="950" dirty="0"/>
          </a:p>
        </p:txBody>
      </p:sp>
      <p:sp>
        <p:nvSpPr>
          <p:cNvPr id="41" name="Text 39"/>
          <p:cNvSpPr/>
          <p:nvPr/>
        </p:nvSpPr>
        <p:spPr>
          <a:xfrm>
            <a:off x="6355080" y="5148072"/>
            <a:ext cx="5394960" cy="256032"/>
          </a:xfrm>
          <a:prstGeom prst="rect">
            <a:avLst/>
          </a:prstGeom>
          <a:noFill/>
          <a:ln/>
        </p:spPr>
        <p:txBody>
          <a:bodyPr wrap="square" lIns="0" tIns="0" rIns="0" bIns="0" rtlCol="0" anchor="ctr"/>
          <a:lstStyle/>
          <a:p>
            <a:pPr marL="0" indent="0">
              <a:buNone/>
            </a:pPr>
            <a:r>
              <a:rPr lang="en-US" sz="1000" b="1" dirty="0">
                <a:solidFill>
                  <a:srgbClr val="0B1C3F"/>
                </a:solidFill>
                <a:latin typeface="Calibri" pitchFamily="34" charset="0"/>
                <a:ea typeface="Calibri" pitchFamily="34" charset="-122"/>
                <a:cs typeface="Calibri" pitchFamily="34" charset="-120"/>
              </a:rPr>
              <a:t>Halo Effect Momentum</a:t>
            </a:r>
            <a:endParaRPr lang="en-US" sz="1000" dirty="0"/>
          </a:p>
        </p:txBody>
      </p:sp>
      <p:sp>
        <p:nvSpPr>
          <p:cNvPr id="42" name="Text 40"/>
          <p:cNvSpPr/>
          <p:nvPr/>
        </p:nvSpPr>
        <p:spPr>
          <a:xfrm>
            <a:off x="6355080" y="5422392"/>
            <a:ext cx="5394960" cy="566928"/>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A spike in sample_velocity_30d is the single strongest leading indicator of near-term purchase. Accounts with high recent sampling frequency should be prioritised immediately.</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Lead Scoring Output — Priority Tiers &amp; SHAP Explainability</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05</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Shape 6"/>
          <p:cNvSpPr/>
          <p:nvPr/>
        </p:nvSpPr>
        <p:spPr>
          <a:xfrm>
            <a:off x="274320" y="777240"/>
            <a:ext cx="2834640" cy="320040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9" name="Shape 7"/>
          <p:cNvSpPr/>
          <p:nvPr/>
        </p:nvSpPr>
        <p:spPr>
          <a:xfrm>
            <a:off x="274320" y="777240"/>
            <a:ext cx="2834640" cy="548640"/>
          </a:xfrm>
          <a:prstGeom prst="rect">
            <a:avLst/>
          </a:prstGeom>
          <a:solidFill>
            <a:srgbClr val="1B6B3A"/>
          </a:solidFill>
          <a:ln w="12700">
            <a:solidFill>
              <a:srgbClr val="1B6B3A"/>
            </a:solidFill>
            <a:prstDash val="solid"/>
          </a:ln>
        </p:spPr>
      </p:sp>
      <p:sp>
        <p:nvSpPr>
          <p:cNvPr id="10" name="Text 8"/>
          <p:cNvSpPr/>
          <p:nvPr/>
        </p:nvSpPr>
        <p:spPr>
          <a:xfrm>
            <a:off x="365760" y="80467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TIER 4</a:t>
            </a:r>
            <a:endParaRPr lang="en-US" sz="1000" dirty="0"/>
          </a:p>
        </p:txBody>
      </p:sp>
      <p:sp>
        <p:nvSpPr>
          <p:cNvPr id="11" name="Text 9"/>
          <p:cNvSpPr/>
          <p:nvPr/>
        </p:nvSpPr>
        <p:spPr>
          <a:xfrm>
            <a:off x="1325880" y="804672"/>
            <a:ext cx="169164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Immediate White-Glove</a:t>
            </a:r>
            <a:endParaRPr lang="en-US" sz="1000" dirty="0"/>
          </a:p>
        </p:txBody>
      </p:sp>
      <p:sp>
        <p:nvSpPr>
          <p:cNvPr id="12" name="Text 10"/>
          <p:cNvSpPr/>
          <p:nvPr/>
        </p:nvSpPr>
        <p:spPr>
          <a:xfrm>
            <a:off x="384048" y="1417320"/>
            <a:ext cx="2633472" cy="274320"/>
          </a:xfrm>
          <a:prstGeom prst="rect">
            <a:avLst/>
          </a:prstGeom>
          <a:noFill/>
          <a:ln/>
        </p:spPr>
        <p:txBody>
          <a:bodyPr wrap="square" lIns="0" tIns="0" rIns="0" bIns="0" rtlCol="0" anchor="ctr"/>
          <a:lstStyle/>
          <a:p>
            <a:pPr marL="0" indent="0">
              <a:buNone/>
            </a:pPr>
            <a:r>
              <a:rPr lang="en-US" sz="950" b="1" i="1" dirty="0">
                <a:solidFill>
                  <a:srgbClr val="1B6B3A"/>
                </a:solidFill>
                <a:latin typeface="Calibri" pitchFamily="34" charset="0"/>
                <a:ea typeface="Calibri" pitchFamily="34" charset="-122"/>
                <a:cs typeface="Calibri" pitchFamily="34" charset="-120"/>
              </a:rPr>
              <a:t>98th+ percentile</a:t>
            </a:r>
            <a:endParaRPr lang="en-US" sz="950" dirty="0"/>
          </a:p>
        </p:txBody>
      </p:sp>
      <p:sp>
        <p:nvSpPr>
          <p:cNvPr id="13" name="Shape 11"/>
          <p:cNvSpPr/>
          <p:nvPr/>
        </p:nvSpPr>
        <p:spPr>
          <a:xfrm>
            <a:off x="384048" y="1719072"/>
            <a:ext cx="2633472" cy="384048"/>
          </a:xfrm>
          <a:prstGeom prst="rect">
            <a:avLst/>
          </a:prstGeom>
          <a:solidFill>
            <a:srgbClr val="E8EDF4"/>
          </a:solidFill>
          <a:ln w="12700">
            <a:solidFill>
              <a:srgbClr val="E8EDF4"/>
            </a:solidFill>
            <a:prstDash val="solid"/>
          </a:ln>
        </p:spPr>
      </p:sp>
      <p:sp>
        <p:nvSpPr>
          <p:cNvPr id="14" name="Text 12"/>
          <p:cNvSpPr/>
          <p:nvPr/>
        </p:nvSpPr>
        <p:spPr>
          <a:xfrm>
            <a:off x="438912" y="1746504"/>
            <a:ext cx="2523744" cy="146304"/>
          </a:xfrm>
          <a:prstGeom prst="rect">
            <a:avLst/>
          </a:prstGeom>
          <a:noFill/>
          <a:ln/>
        </p:spPr>
        <p:txBody>
          <a:bodyPr wrap="square" lIns="0" tIns="0" rIns="0" bIns="0" rtlCol="0" anchor="ctr"/>
          <a:lstStyle/>
          <a:p>
            <a:pPr marL="0" indent="0">
              <a:buNone/>
            </a:pPr>
            <a:r>
              <a:rPr lang="en-US" sz="750" b="1" dirty="0">
                <a:solidFill>
                  <a:srgbClr val="4A5568"/>
                </a:solidFill>
                <a:latin typeface="Calibri" pitchFamily="34" charset="0"/>
                <a:ea typeface="Calibri" pitchFamily="34" charset="-122"/>
                <a:cs typeface="Calibri" pitchFamily="34" charset="-120"/>
              </a:rPr>
              <a:t>Recommended Action:</a:t>
            </a:r>
            <a:endParaRPr lang="en-US" sz="750" dirty="0"/>
          </a:p>
        </p:txBody>
      </p:sp>
      <p:sp>
        <p:nvSpPr>
          <p:cNvPr id="15" name="Text 13"/>
          <p:cNvSpPr/>
          <p:nvPr/>
        </p:nvSpPr>
        <p:spPr>
          <a:xfrm>
            <a:off x="438912" y="1883664"/>
            <a:ext cx="2523744" cy="182880"/>
          </a:xfrm>
          <a:prstGeom prst="rect">
            <a:avLst/>
          </a:prstGeom>
          <a:noFill/>
          <a:ln/>
        </p:spPr>
        <p:txBody>
          <a:bodyPr wrap="square" lIns="0" tIns="0" rIns="0" bIns="0" rtlCol="0" anchor="ctr"/>
          <a:lstStyle/>
          <a:p>
            <a:pPr marL="0" indent="0">
              <a:buNone/>
            </a:pPr>
            <a:r>
              <a:rPr lang="en-US" sz="850" b="1" dirty="0">
                <a:solidFill>
                  <a:srgbClr val="0B1C3F"/>
                </a:solidFill>
                <a:latin typeface="Calibri" pitchFamily="34" charset="0"/>
                <a:ea typeface="Calibri" pitchFamily="34" charset="-122"/>
                <a:cs typeface="Calibri" pitchFamily="34" charset="-120"/>
              </a:rPr>
              <a:t>Same-day personal outreach from senior rep</a:t>
            </a:r>
            <a:endParaRPr lang="en-US" sz="850" dirty="0"/>
          </a:p>
        </p:txBody>
      </p:sp>
      <p:sp>
        <p:nvSpPr>
          <p:cNvPr id="16" name="Text 14"/>
          <p:cNvSpPr/>
          <p:nvPr/>
        </p:nvSpPr>
        <p:spPr>
          <a:xfrm>
            <a:off x="384048" y="2176272"/>
            <a:ext cx="2633472" cy="804672"/>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Highest-probability converters. Trigger CRM priority flag and initiate direct call within hours.</a:t>
            </a:r>
            <a:endParaRPr lang="en-US" sz="900" dirty="0"/>
          </a:p>
        </p:txBody>
      </p:sp>
      <p:sp>
        <p:nvSpPr>
          <p:cNvPr id="17" name="Shape 15"/>
          <p:cNvSpPr/>
          <p:nvPr/>
        </p:nvSpPr>
        <p:spPr>
          <a:xfrm>
            <a:off x="3246120" y="777240"/>
            <a:ext cx="2834640" cy="320040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8" name="Shape 16"/>
          <p:cNvSpPr/>
          <p:nvPr/>
        </p:nvSpPr>
        <p:spPr>
          <a:xfrm>
            <a:off x="3246120" y="777240"/>
            <a:ext cx="2834640" cy="548640"/>
          </a:xfrm>
          <a:prstGeom prst="rect">
            <a:avLst/>
          </a:prstGeom>
          <a:solidFill>
            <a:srgbClr val="0B1C3F"/>
          </a:solidFill>
          <a:ln w="12700">
            <a:solidFill>
              <a:srgbClr val="0B1C3F"/>
            </a:solidFill>
            <a:prstDash val="solid"/>
          </a:ln>
        </p:spPr>
      </p:sp>
      <p:sp>
        <p:nvSpPr>
          <p:cNvPr id="19" name="Text 17"/>
          <p:cNvSpPr/>
          <p:nvPr/>
        </p:nvSpPr>
        <p:spPr>
          <a:xfrm>
            <a:off x="3337560" y="80467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TIER 3</a:t>
            </a:r>
            <a:endParaRPr lang="en-US" sz="1000" dirty="0"/>
          </a:p>
        </p:txBody>
      </p:sp>
      <p:sp>
        <p:nvSpPr>
          <p:cNvPr id="20" name="Text 18"/>
          <p:cNvSpPr/>
          <p:nvPr/>
        </p:nvSpPr>
        <p:spPr>
          <a:xfrm>
            <a:off x="4297680" y="804672"/>
            <a:ext cx="169164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High Priority</a:t>
            </a:r>
            <a:endParaRPr lang="en-US" sz="1000" dirty="0"/>
          </a:p>
        </p:txBody>
      </p:sp>
      <p:sp>
        <p:nvSpPr>
          <p:cNvPr id="21" name="Text 19"/>
          <p:cNvSpPr/>
          <p:nvPr/>
        </p:nvSpPr>
        <p:spPr>
          <a:xfrm>
            <a:off x="3355848" y="1417320"/>
            <a:ext cx="2633472" cy="274320"/>
          </a:xfrm>
          <a:prstGeom prst="rect">
            <a:avLst/>
          </a:prstGeom>
          <a:noFill/>
          <a:ln/>
        </p:spPr>
        <p:txBody>
          <a:bodyPr wrap="square" lIns="0" tIns="0" rIns="0" bIns="0" rtlCol="0" anchor="ctr"/>
          <a:lstStyle/>
          <a:p>
            <a:pPr marL="0" indent="0">
              <a:buNone/>
            </a:pPr>
            <a:r>
              <a:rPr lang="en-US" sz="950" b="1" i="1" dirty="0">
                <a:solidFill>
                  <a:srgbClr val="0B1C3F"/>
                </a:solidFill>
                <a:latin typeface="Calibri" pitchFamily="34" charset="0"/>
                <a:ea typeface="Calibri" pitchFamily="34" charset="-122"/>
                <a:cs typeface="Calibri" pitchFamily="34" charset="-120"/>
              </a:rPr>
              <a:t>90th–98th percentile</a:t>
            </a:r>
            <a:endParaRPr lang="en-US" sz="950" dirty="0"/>
          </a:p>
        </p:txBody>
      </p:sp>
      <p:sp>
        <p:nvSpPr>
          <p:cNvPr id="22" name="Shape 20"/>
          <p:cNvSpPr/>
          <p:nvPr/>
        </p:nvSpPr>
        <p:spPr>
          <a:xfrm>
            <a:off x="3355848" y="1719072"/>
            <a:ext cx="2633472" cy="384048"/>
          </a:xfrm>
          <a:prstGeom prst="rect">
            <a:avLst/>
          </a:prstGeom>
          <a:solidFill>
            <a:srgbClr val="E8EDF4"/>
          </a:solidFill>
          <a:ln w="12700">
            <a:solidFill>
              <a:srgbClr val="E8EDF4"/>
            </a:solidFill>
            <a:prstDash val="solid"/>
          </a:ln>
        </p:spPr>
      </p:sp>
      <p:sp>
        <p:nvSpPr>
          <p:cNvPr id="23" name="Text 21"/>
          <p:cNvSpPr/>
          <p:nvPr/>
        </p:nvSpPr>
        <p:spPr>
          <a:xfrm>
            <a:off x="3410712" y="1746504"/>
            <a:ext cx="2523744" cy="146304"/>
          </a:xfrm>
          <a:prstGeom prst="rect">
            <a:avLst/>
          </a:prstGeom>
          <a:noFill/>
          <a:ln/>
        </p:spPr>
        <p:txBody>
          <a:bodyPr wrap="square" lIns="0" tIns="0" rIns="0" bIns="0" rtlCol="0" anchor="ctr"/>
          <a:lstStyle/>
          <a:p>
            <a:pPr marL="0" indent="0">
              <a:buNone/>
            </a:pPr>
            <a:r>
              <a:rPr lang="en-US" sz="750" b="1" dirty="0">
                <a:solidFill>
                  <a:srgbClr val="4A5568"/>
                </a:solidFill>
                <a:latin typeface="Calibri" pitchFamily="34" charset="0"/>
                <a:ea typeface="Calibri" pitchFamily="34" charset="-122"/>
                <a:cs typeface="Calibri" pitchFamily="34" charset="-120"/>
              </a:rPr>
              <a:t>Recommended Action:</a:t>
            </a:r>
            <a:endParaRPr lang="en-US" sz="750" dirty="0"/>
          </a:p>
        </p:txBody>
      </p:sp>
      <p:sp>
        <p:nvSpPr>
          <p:cNvPr id="24" name="Text 22"/>
          <p:cNvSpPr/>
          <p:nvPr/>
        </p:nvSpPr>
        <p:spPr>
          <a:xfrm>
            <a:off x="3410712" y="1883664"/>
            <a:ext cx="2523744" cy="182880"/>
          </a:xfrm>
          <a:prstGeom prst="rect">
            <a:avLst/>
          </a:prstGeom>
          <a:noFill/>
          <a:ln/>
        </p:spPr>
        <p:txBody>
          <a:bodyPr wrap="square" lIns="0" tIns="0" rIns="0" bIns="0" rtlCol="0" anchor="ctr"/>
          <a:lstStyle/>
          <a:p>
            <a:pPr marL="0" indent="0">
              <a:buNone/>
            </a:pPr>
            <a:r>
              <a:rPr lang="en-US" sz="850" b="1" dirty="0">
                <a:solidFill>
                  <a:srgbClr val="0B1C3F"/>
                </a:solidFill>
                <a:latin typeface="Calibri" pitchFamily="34" charset="0"/>
                <a:ea typeface="Calibri" pitchFamily="34" charset="-122"/>
                <a:cs typeface="Calibri" pitchFamily="34" charset="-120"/>
              </a:rPr>
              <a:t>Rep follow-up within 48 hrs</a:t>
            </a:r>
            <a:endParaRPr lang="en-US" sz="850" dirty="0"/>
          </a:p>
        </p:txBody>
      </p:sp>
      <p:sp>
        <p:nvSpPr>
          <p:cNvPr id="25" name="Text 23"/>
          <p:cNvSpPr/>
          <p:nvPr/>
        </p:nvSpPr>
        <p:spPr>
          <a:xfrm>
            <a:off x="3355848" y="2176272"/>
            <a:ext cx="2633472" cy="804672"/>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Strong conversion signal. Personalised email sequence + direct call scheduled within 2 business days.</a:t>
            </a:r>
            <a:endParaRPr lang="en-US" sz="900" dirty="0"/>
          </a:p>
        </p:txBody>
      </p:sp>
      <p:sp>
        <p:nvSpPr>
          <p:cNvPr id="26" name="Shape 24"/>
          <p:cNvSpPr/>
          <p:nvPr/>
        </p:nvSpPr>
        <p:spPr>
          <a:xfrm>
            <a:off x="6217920" y="777240"/>
            <a:ext cx="2834640" cy="320040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7" name="Shape 25"/>
          <p:cNvSpPr/>
          <p:nvPr/>
        </p:nvSpPr>
        <p:spPr>
          <a:xfrm>
            <a:off x="6217920" y="777240"/>
            <a:ext cx="2834640" cy="548640"/>
          </a:xfrm>
          <a:prstGeom prst="rect">
            <a:avLst/>
          </a:prstGeom>
          <a:solidFill>
            <a:srgbClr val="B45309"/>
          </a:solidFill>
          <a:ln w="12700">
            <a:solidFill>
              <a:srgbClr val="B45309"/>
            </a:solidFill>
            <a:prstDash val="solid"/>
          </a:ln>
        </p:spPr>
      </p:sp>
      <p:sp>
        <p:nvSpPr>
          <p:cNvPr id="28" name="Text 26"/>
          <p:cNvSpPr/>
          <p:nvPr/>
        </p:nvSpPr>
        <p:spPr>
          <a:xfrm>
            <a:off x="6309360" y="80467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TIER 2</a:t>
            </a:r>
            <a:endParaRPr lang="en-US" sz="1000" dirty="0"/>
          </a:p>
        </p:txBody>
      </p:sp>
      <p:sp>
        <p:nvSpPr>
          <p:cNvPr id="29" name="Text 27"/>
          <p:cNvSpPr/>
          <p:nvPr/>
        </p:nvSpPr>
        <p:spPr>
          <a:xfrm>
            <a:off x="7269480" y="804672"/>
            <a:ext cx="169164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Nurture</a:t>
            </a:r>
            <a:endParaRPr lang="en-US" sz="1000" dirty="0"/>
          </a:p>
        </p:txBody>
      </p:sp>
      <p:sp>
        <p:nvSpPr>
          <p:cNvPr id="30" name="Text 28"/>
          <p:cNvSpPr/>
          <p:nvPr/>
        </p:nvSpPr>
        <p:spPr>
          <a:xfrm>
            <a:off x="6327648" y="1417320"/>
            <a:ext cx="2633472" cy="274320"/>
          </a:xfrm>
          <a:prstGeom prst="rect">
            <a:avLst/>
          </a:prstGeom>
          <a:noFill/>
          <a:ln/>
        </p:spPr>
        <p:txBody>
          <a:bodyPr wrap="square" lIns="0" tIns="0" rIns="0" bIns="0" rtlCol="0" anchor="ctr"/>
          <a:lstStyle/>
          <a:p>
            <a:pPr marL="0" indent="0">
              <a:buNone/>
            </a:pPr>
            <a:r>
              <a:rPr lang="en-US" sz="950" b="1" i="1" dirty="0">
                <a:solidFill>
                  <a:srgbClr val="B45309"/>
                </a:solidFill>
                <a:latin typeface="Calibri" pitchFamily="34" charset="0"/>
                <a:ea typeface="Calibri" pitchFamily="34" charset="-122"/>
                <a:cs typeface="Calibri" pitchFamily="34" charset="-120"/>
              </a:rPr>
              <a:t>70th–90th percentile</a:t>
            </a:r>
            <a:endParaRPr lang="en-US" sz="950" dirty="0"/>
          </a:p>
        </p:txBody>
      </p:sp>
      <p:sp>
        <p:nvSpPr>
          <p:cNvPr id="31" name="Shape 29"/>
          <p:cNvSpPr/>
          <p:nvPr/>
        </p:nvSpPr>
        <p:spPr>
          <a:xfrm>
            <a:off x="6327648" y="1719072"/>
            <a:ext cx="2633472" cy="384048"/>
          </a:xfrm>
          <a:prstGeom prst="rect">
            <a:avLst/>
          </a:prstGeom>
          <a:solidFill>
            <a:srgbClr val="E8EDF4"/>
          </a:solidFill>
          <a:ln w="12700">
            <a:solidFill>
              <a:srgbClr val="E8EDF4"/>
            </a:solidFill>
            <a:prstDash val="solid"/>
          </a:ln>
        </p:spPr>
      </p:sp>
      <p:sp>
        <p:nvSpPr>
          <p:cNvPr id="32" name="Text 30"/>
          <p:cNvSpPr/>
          <p:nvPr/>
        </p:nvSpPr>
        <p:spPr>
          <a:xfrm>
            <a:off x="6382512" y="1746504"/>
            <a:ext cx="2523744" cy="146304"/>
          </a:xfrm>
          <a:prstGeom prst="rect">
            <a:avLst/>
          </a:prstGeom>
          <a:noFill/>
          <a:ln/>
        </p:spPr>
        <p:txBody>
          <a:bodyPr wrap="square" lIns="0" tIns="0" rIns="0" bIns="0" rtlCol="0" anchor="ctr"/>
          <a:lstStyle/>
          <a:p>
            <a:pPr marL="0" indent="0">
              <a:buNone/>
            </a:pPr>
            <a:r>
              <a:rPr lang="en-US" sz="750" b="1" dirty="0">
                <a:solidFill>
                  <a:srgbClr val="4A5568"/>
                </a:solidFill>
                <a:latin typeface="Calibri" pitchFamily="34" charset="0"/>
                <a:ea typeface="Calibri" pitchFamily="34" charset="-122"/>
                <a:cs typeface="Calibri" pitchFamily="34" charset="-120"/>
              </a:rPr>
              <a:t>Recommended Action:</a:t>
            </a:r>
            <a:endParaRPr lang="en-US" sz="750" dirty="0"/>
          </a:p>
        </p:txBody>
      </p:sp>
      <p:sp>
        <p:nvSpPr>
          <p:cNvPr id="33" name="Text 31"/>
          <p:cNvSpPr/>
          <p:nvPr/>
        </p:nvSpPr>
        <p:spPr>
          <a:xfrm>
            <a:off x="6382512" y="1883664"/>
            <a:ext cx="2523744" cy="182880"/>
          </a:xfrm>
          <a:prstGeom prst="rect">
            <a:avLst/>
          </a:prstGeom>
          <a:noFill/>
          <a:ln/>
        </p:spPr>
        <p:txBody>
          <a:bodyPr wrap="square" lIns="0" tIns="0" rIns="0" bIns="0" rtlCol="0" anchor="ctr"/>
          <a:lstStyle/>
          <a:p>
            <a:pPr marL="0" indent="0">
              <a:buNone/>
            </a:pPr>
            <a:r>
              <a:rPr lang="en-US" sz="850" b="1" dirty="0">
                <a:solidFill>
                  <a:srgbClr val="0B1C3F"/>
                </a:solidFill>
                <a:latin typeface="Calibri" pitchFamily="34" charset="0"/>
                <a:ea typeface="Calibri" pitchFamily="34" charset="-122"/>
                <a:cs typeface="Calibri" pitchFamily="34" charset="-120"/>
              </a:rPr>
              <a:t>Targeted email sequence</a:t>
            </a:r>
            <a:endParaRPr lang="en-US" sz="850" dirty="0"/>
          </a:p>
        </p:txBody>
      </p:sp>
      <p:sp>
        <p:nvSpPr>
          <p:cNvPr id="34" name="Text 32"/>
          <p:cNvSpPr/>
          <p:nvPr/>
        </p:nvSpPr>
        <p:spPr>
          <a:xfrm>
            <a:off x="6327648" y="2176272"/>
            <a:ext cx="2633472" cy="804672"/>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Moderate signal. Automated personalised email with curated product recommendations.</a:t>
            </a:r>
            <a:endParaRPr lang="en-US" sz="900" dirty="0"/>
          </a:p>
        </p:txBody>
      </p:sp>
      <p:sp>
        <p:nvSpPr>
          <p:cNvPr id="35" name="Shape 33"/>
          <p:cNvSpPr/>
          <p:nvPr/>
        </p:nvSpPr>
        <p:spPr>
          <a:xfrm>
            <a:off x="9189720" y="777240"/>
            <a:ext cx="2834640" cy="320040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36" name="Shape 34"/>
          <p:cNvSpPr/>
          <p:nvPr/>
        </p:nvSpPr>
        <p:spPr>
          <a:xfrm>
            <a:off x="9189720" y="777240"/>
            <a:ext cx="2834640" cy="548640"/>
          </a:xfrm>
          <a:prstGeom prst="rect">
            <a:avLst/>
          </a:prstGeom>
          <a:solidFill>
            <a:srgbClr val="4A5568"/>
          </a:solidFill>
          <a:ln w="12700">
            <a:solidFill>
              <a:srgbClr val="4A5568"/>
            </a:solidFill>
            <a:prstDash val="solid"/>
          </a:ln>
        </p:spPr>
      </p:sp>
      <p:sp>
        <p:nvSpPr>
          <p:cNvPr id="37" name="Text 35"/>
          <p:cNvSpPr/>
          <p:nvPr/>
        </p:nvSpPr>
        <p:spPr>
          <a:xfrm>
            <a:off x="9281160" y="80467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TIER 1</a:t>
            </a:r>
            <a:endParaRPr lang="en-US" sz="1000" dirty="0"/>
          </a:p>
        </p:txBody>
      </p:sp>
      <p:sp>
        <p:nvSpPr>
          <p:cNvPr id="38" name="Text 36"/>
          <p:cNvSpPr/>
          <p:nvPr/>
        </p:nvSpPr>
        <p:spPr>
          <a:xfrm>
            <a:off x="10241280" y="804672"/>
            <a:ext cx="169164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Standard</a:t>
            </a:r>
            <a:endParaRPr lang="en-US" sz="1000" dirty="0"/>
          </a:p>
        </p:txBody>
      </p:sp>
      <p:sp>
        <p:nvSpPr>
          <p:cNvPr id="39" name="Text 37"/>
          <p:cNvSpPr/>
          <p:nvPr/>
        </p:nvSpPr>
        <p:spPr>
          <a:xfrm>
            <a:off x="9299448" y="1417320"/>
            <a:ext cx="2633472" cy="274320"/>
          </a:xfrm>
          <a:prstGeom prst="rect">
            <a:avLst/>
          </a:prstGeom>
          <a:noFill/>
          <a:ln/>
        </p:spPr>
        <p:txBody>
          <a:bodyPr wrap="square" lIns="0" tIns="0" rIns="0" bIns="0" rtlCol="0" anchor="ctr"/>
          <a:lstStyle/>
          <a:p>
            <a:pPr marL="0" indent="0">
              <a:buNone/>
            </a:pPr>
            <a:r>
              <a:rPr lang="en-US" sz="950" b="1" i="1" dirty="0">
                <a:solidFill>
                  <a:srgbClr val="4A5568"/>
                </a:solidFill>
                <a:latin typeface="Calibri" pitchFamily="34" charset="0"/>
                <a:ea typeface="Calibri" pitchFamily="34" charset="-122"/>
                <a:cs typeface="Calibri" pitchFamily="34" charset="-120"/>
              </a:rPr>
              <a:t>0–70th percentile</a:t>
            </a:r>
            <a:endParaRPr lang="en-US" sz="950" dirty="0"/>
          </a:p>
        </p:txBody>
      </p:sp>
      <p:sp>
        <p:nvSpPr>
          <p:cNvPr id="40" name="Shape 38"/>
          <p:cNvSpPr/>
          <p:nvPr/>
        </p:nvSpPr>
        <p:spPr>
          <a:xfrm>
            <a:off x="9299448" y="1719072"/>
            <a:ext cx="2633472" cy="384048"/>
          </a:xfrm>
          <a:prstGeom prst="rect">
            <a:avLst/>
          </a:prstGeom>
          <a:solidFill>
            <a:srgbClr val="E8EDF4"/>
          </a:solidFill>
          <a:ln w="12700">
            <a:solidFill>
              <a:srgbClr val="E8EDF4"/>
            </a:solidFill>
            <a:prstDash val="solid"/>
          </a:ln>
        </p:spPr>
      </p:sp>
      <p:sp>
        <p:nvSpPr>
          <p:cNvPr id="41" name="Text 39"/>
          <p:cNvSpPr/>
          <p:nvPr/>
        </p:nvSpPr>
        <p:spPr>
          <a:xfrm>
            <a:off x="9354312" y="1746504"/>
            <a:ext cx="2523744" cy="146304"/>
          </a:xfrm>
          <a:prstGeom prst="rect">
            <a:avLst/>
          </a:prstGeom>
          <a:noFill/>
          <a:ln/>
        </p:spPr>
        <p:txBody>
          <a:bodyPr wrap="square" lIns="0" tIns="0" rIns="0" bIns="0" rtlCol="0" anchor="ctr"/>
          <a:lstStyle/>
          <a:p>
            <a:pPr marL="0" indent="0">
              <a:buNone/>
            </a:pPr>
            <a:r>
              <a:rPr lang="en-US" sz="750" b="1" dirty="0">
                <a:solidFill>
                  <a:srgbClr val="4A5568"/>
                </a:solidFill>
                <a:latin typeface="Calibri" pitchFamily="34" charset="0"/>
                <a:ea typeface="Calibri" pitchFamily="34" charset="-122"/>
                <a:cs typeface="Calibri" pitchFamily="34" charset="-120"/>
              </a:rPr>
              <a:t>Recommended Action:</a:t>
            </a:r>
            <a:endParaRPr lang="en-US" sz="750" dirty="0"/>
          </a:p>
        </p:txBody>
      </p:sp>
      <p:sp>
        <p:nvSpPr>
          <p:cNvPr id="42" name="Text 40"/>
          <p:cNvSpPr/>
          <p:nvPr/>
        </p:nvSpPr>
        <p:spPr>
          <a:xfrm>
            <a:off x="9354312" y="1883664"/>
            <a:ext cx="2523744" cy="182880"/>
          </a:xfrm>
          <a:prstGeom prst="rect">
            <a:avLst/>
          </a:prstGeom>
          <a:noFill/>
          <a:ln/>
        </p:spPr>
        <p:txBody>
          <a:bodyPr wrap="square" lIns="0" tIns="0" rIns="0" bIns="0" rtlCol="0" anchor="ctr"/>
          <a:lstStyle/>
          <a:p>
            <a:pPr marL="0" indent="0">
              <a:buNone/>
            </a:pPr>
            <a:r>
              <a:rPr lang="en-US" sz="850" b="1" dirty="0">
                <a:solidFill>
                  <a:srgbClr val="0B1C3F"/>
                </a:solidFill>
                <a:latin typeface="Calibri" pitchFamily="34" charset="0"/>
                <a:ea typeface="Calibri" pitchFamily="34" charset="-122"/>
                <a:cs typeface="Calibri" pitchFamily="34" charset="-120"/>
              </a:rPr>
              <a:t>Automated nurture only</a:t>
            </a:r>
            <a:endParaRPr lang="en-US" sz="850" dirty="0"/>
          </a:p>
        </p:txBody>
      </p:sp>
      <p:sp>
        <p:nvSpPr>
          <p:cNvPr id="43" name="Text 41"/>
          <p:cNvSpPr/>
          <p:nvPr/>
        </p:nvSpPr>
        <p:spPr>
          <a:xfrm>
            <a:off x="9299448" y="2176272"/>
            <a:ext cx="2633472" cy="804672"/>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Low conversion probability. Include in general newsletter and seasonal campaigns.</a:t>
            </a:r>
            <a:endParaRPr lang="en-US" sz="900" dirty="0"/>
          </a:p>
        </p:txBody>
      </p:sp>
      <p:sp>
        <p:nvSpPr>
          <p:cNvPr id="44" name="Shape 42"/>
          <p:cNvSpPr/>
          <p:nvPr/>
        </p:nvSpPr>
        <p:spPr>
          <a:xfrm>
            <a:off x="274320" y="4133088"/>
            <a:ext cx="11612880" cy="384048"/>
          </a:xfrm>
          <a:prstGeom prst="rect">
            <a:avLst/>
          </a:prstGeom>
          <a:solidFill>
            <a:srgbClr val="FEF9C3"/>
          </a:solidFill>
          <a:ln w="8890">
            <a:solidFill>
              <a:srgbClr val="B45309"/>
            </a:solidFill>
            <a:prstDash val="solid"/>
          </a:ln>
        </p:spPr>
      </p:sp>
      <p:sp>
        <p:nvSpPr>
          <p:cNvPr id="45" name="Text 43"/>
          <p:cNvSpPr/>
          <p:nvPr/>
        </p:nvSpPr>
        <p:spPr>
          <a:xfrm>
            <a:off x="457200" y="4151376"/>
            <a:ext cx="11247120" cy="347472"/>
          </a:xfrm>
          <a:prstGeom prst="rect">
            <a:avLst/>
          </a:prstGeom>
          <a:noFill/>
          <a:ln/>
        </p:spPr>
        <p:txBody>
          <a:bodyPr wrap="square" lIns="0" tIns="0" rIns="0" bIns="0" rtlCol="0" anchor="ctr"/>
          <a:lstStyle/>
          <a:p>
            <a:pPr marL="0" indent="0">
              <a:buNone/>
            </a:pPr>
            <a:r>
              <a:rPr lang="en-US" sz="950" b="1" dirty="0">
                <a:solidFill>
                  <a:srgbClr val="B45309"/>
                </a:solidFill>
                <a:latin typeface="Calibri" pitchFamily="34" charset="0"/>
                <a:ea typeface="Calibri" pitchFamily="34" charset="-122"/>
                <a:cs typeface="Calibri" pitchFamily="34" charset="-120"/>
              </a:rPr>
              <a:t>⚠️  Known Issues (Flagged for next iteration):  </a:t>
            </a:r>
            <a:r>
              <a:rPr lang="en-US" sz="900" dirty="0">
                <a:solidFill>
                  <a:srgbClr val="2B2B2B"/>
                </a:solidFill>
                <a:latin typeface="Calibri" pitchFamily="34" charset="0"/>
                <a:ea typeface="Calibri" pitchFamily="34" charset="-122"/>
                <a:cs typeface="Calibri" pitchFamily="34" charset="-120"/>
              </a:rPr>
              <a:t>(1) avg_item_price derived from all transactions incl. sales → potential data leakage; retrain with SAMPLE-only avg.  (2) Top-10 accounts by score show total_samples=0 — driven by high avg_item_price outlier, reinforcing leakage concern.</a:t>
            </a:r>
            <a:endParaRPr lang="en-US" sz="950" dirty="0"/>
          </a:p>
        </p:txBody>
      </p:sp>
      <p:sp>
        <p:nvSpPr>
          <p:cNvPr id="46" name="Shape 44"/>
          <p:cNvSpPr/>
          <p:nvPr/>
        </p:nvSpPr>
        <p:spPr>
          <a:xfrm>
            <a:off x="274320" y="4663440"/>
            <a:ext cx="11612880" cy="1874520"/>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47" name="Shape 45"/>
          <p:cNvSpPr/>
          <p:nvPr/>
        </p:nvSpPr>
        <p:spPr>
          <a:xfrm>
            <a:off x="274320" y="4663440"/>
            <a:ext cx="11612880" cy="384048"/>
          </a:xfrm>
          <a:prstGeom prst="rect">
            <a:avLst/>
          </a:prstGeom>
          <a:solidFill>
            <a:srgbClr val="132445"/>
          </a:solidFill>
          <a:ln w="12700">
            <a:solidFill>
              <a:srgbClr val="132445"/>
            </a:solidFill>
            <a:prstDash val="solid"/>
          </a:ln>
        </p:spPr>
      </p:sp>
      <p:sp>
        <p:nvSpPr>
          <p:cNvPr id="48" name="Text 46"/>
          <p:cNvSpPr/>
          <p:nvPr/>
        </p:nvSpPr>
        <p:spPr>
          <a:xfrm>
            <a:off x="457200" y="4681728"/>
            <a:ext cx="11247120" cy="347472"/>
          </a:xfrm>
          <a:prstGeom prst="rect">
            <a:avLst/>
          </a:prstGeom>
          <a:noFill/>
          <a:ln/>
        </p:spPr>
        <p:txBody>
          <a:bodyPr wrap="square" lIns="0" tIns="0" rIns="0" bIns="0" rtlCol="0" anchor="ctr"/>
          <a:lstStyle/>
          <a:p>
            <a:pPr marL="0" indent="0">
              <a:buNone/>
            </a:pPr>
            <a:r>
              <a:rPr lang="en-US" sz="1100" b="1" dirty="0">
                <a:solidFill>
                  <a:srgbClr val="C9A84C"/>
                </a:solidFill>
                <a:latin typeface="Calibri" pitchFamily="34" charset="0"/>
                <a:ea typeface="Calibri" pitchFamily="34" charset="-122"/>
                <a:cs typeface="Calibri" pitchFamily="34" charset="-120"/>
              </a:rPr>
              <a:t>SHAP Feature Importance (TreeExplainer — Model 1)</a:t>
            </a:r>
            <a:endParaRPr lang="en-US" sz="1100" dirty="0"/>
          </a:p>
        </p:txBody>
      </p:sp>
      <p:sp>
        <p:nvSpPr>
          <p:cNvPr id="49" name="Text 47"/>
          <p:cNvSpPr/>
          <p:nvPr/>
        </p:nvSpPr>
        <p:spPr>
          <a:xfrm>
            <a:off x="502920" y="5039958"/>
            <a:ext cx="2011680" cy="347472"/>
          </a:xfrm>
          <a:prstGeom prst="rect">
            <a:avLst/>
          </a:prstGeom>
          <a:noFill/>
          <a:ln/>
        </p:spPr>
        <p:txBody>
          <a:bodyPr wrap="square" lIns="0" tIns="0" rIns="0" bIns="0" rtlCol="0" anchor="ctr"/>
          <a:lstStyle/>
          <a:p>
            <a:pPr marL="0" indent="0" algn="ctr">
              <a:buNone/>
            </a:pPr>
            <a:r>
              <a:rPr lang="en-US" sz="750" dirty="0">
                <a:solidFill>
                  <a:srgbClr val="4A5568"/>
                </a:solidFill>
                <a:latin typeface="Calibri" pitchFamily="34" charset="0"/>
                <a:ea typeface="Calibri" pitchFamily="34" charset="-122"/>
                <a:cs typeface="Calibri" pitchFamily="34" charset="-120"/>
              </a:rPr>
              <a:t>total_</a:t>
            </a:r>
            <a:endParaRPr lang="en-US" sz="750" dirty="0"/>
          </a:p>
          <a:p>
            <a:pPr marL="0" indent="0" algn="ctr">
              <a:buNone/>
            </a:pPr>
            <a:r>
              <a:rPr lang="en-US" sz="750" dirty="0">
                <a:solidFill>
                  <a:srgbClr val="4A5568"/>
                </a:solidFill>
                <a:latin typeface="Calibri" pitchFamily="34" charset="0"/>
                <a:ea typeface="Calibri" pitchFamily="34" charset="-122"/>
                <a:cs typeface="Calibri" pitchFamily="34" charset="-120"/>
              </a:rPr>
              <a:t>samples</a:t>
            </a:r>
            <a:endParaRPr lang="en-US" sz="750" dirty="0"/>
          </a:p>
        </p:txBody>
      </p:sp>
      <p:sp>
        <p:nvSpPr>
          <p:cNvPr id="50" name="Shape 48"/>
          <p:cNvSpPr/>
          <p:nvPr/>
        </p:nvSpPr>
        <p:spPr>
          <a:xfrm>
            <a:off x="777240" y="5548579"/>
            <a:ext cx="1371600" cy="925373"/>
          </a:xfrm>
          <a:prstGeom prst="rect">
            <a:avLst/>
          </a:prstGeom>
          <a:solidFill>
            <a:srgbClr val="1B6B3A"/>
          </a:solidFill>
          <a:ln w="12700">
            <a:solidFill>
              <a:srgbClr val="1B6B3A"/>
            </a:solidFill>
            <a:prstDash val="solid"/>
          </a:ln>
        </p:spPr>
      </p:sp>
      <p:sp>
        <p:nvSpPr>
          <p:cNvPr id="51" name="Text 49"/>
          <p:cNvSpPr/>
          <p:nvPr/>
        </p:nvSpPr>
        <p:spPr>
          <a:xfrm>
            <a:off x="777240" y="5292547"/>
            <a:ext cx="1371600" cy="219456"/>
          </a:xfrm>
          <a:prstGeom prst="rect">
            <a:avLst/>
          </a:prstGeom>
          <a:noFill/>
          <a:ln/>
        </p:spPr>
        <p:txBody>
          <a:bodyPr wrap="square" lIns="0" tIns="0" rIns="0" bIns="0" rtlCol="0" anchor="ctr"/>
          <a:lstStyle/>
          <a:p>
            <a:pPr marL="0" indent="0" algn="ctr">
              <a:buNone/>
            </a:pPr>
            <a:r>
              <a:rPr lang="en-US" sz="900" b="1" dirty="0">
                <a:solidFill>
                  <a:srgbClr val="1B6B3A"/>
                </a:solidFill>
                <a:latin typeface="Calibri" pitchFamily="34" charset="0"/>
                <a:ea typeface="Calibri" pitchFamily="34" charset="-122"/>
                <a:cs typeface="Calibri" pitchFamily="34" charset="-120"/>
              </a:rPr>
              <a:t>92%</a:t>
            </a:r>
            <a:endParaRPr lang="en-US" sz="900" dirty="0"/>
          </a:p>
        </p:txBody>
      </p:sp>
      <p:sp>
        <p:nvSpPr>
          <p:cNvPr id="52" name="Text 50"/>
          <p:cNvSpPr/>
          <p:nvPr/>
        </p:nvSpPr>
        <p:spPr>
          <a:xfrm>
            <a:off x="2743200" y="5102352"/>
            <a:ext cx="2011680" cy="347472"/>
          </a:xfrm>
          <a:prstGeom prst="rect">
            <a:avLst/>
          </a:prstGeom>
          <a:noFill/>
          <a:ln/>
        </p:spPr>
        <p:txBody>
          <a:bodyPr wrap="square" lIns="0" tIns="0" rIns="0" bIns="0" rtlCol="0" anchor="ctr"/>
          <a:lstStyle/>
          <a:p>
            <a:pPr marL="0" indent="0" algn="ctr">
              <a:buNone/>
            </a:pPr>
            <a:r>
              <a:rPr lang="en-US" sz="750" dirty="0">
                <a:solidFill>
                  <a:srgbClr val="4A5568"/>
                </a:solidFill>
                <a:latin typeface="Calibri" pitchFamily="34" charset="0"/>
                <a:ea typeface="Calibri" pitchFamily="34" charset="-122"/>
                <a:cs typeface="Calibri" pitchFamily="34" charset="-120"/>
              </a:rPr>
              <a:t>avg_</a:t>
            </a:r>
            <a:endParaRPr lang="en-US" sz="750" dirty="0"/>
          </a:p>
          <a:p>
            <a:pPr marL="0" indent="0" algn="ctr">
              <a:buNone/>
            </a:pPr>
            <a:r>
              <a:rPr lang="en-US" sz="750" dirty="0">
                <a:solidFill>
                  <a:srgbClr val="4A5568"/>
                </a:solidFill>
                <a:latin typeface="Calibri" pitchFamily="34" charset="0"/>
                <a:ea typeface="Calibri" pitchFamily="34" charset="-122"/>
                <a:cs typeface="Calibri" pitchFamily="34" charset="-120"/>
              </a:rPr>
              <a:t>item_</a:t>
            </a:r>
            <a:endParaRPr lang="en-US" sz="750" dirty="0"/>
          </a:p>
          <a:p>
            <a:pPr marL="0" indent="0" algn="ctr">
              <a:buNone/>
            </a:pPr>
            <a:r>
              <a:rPr lang="en-US" sz="750" dirty="0">
                <a:solidFill>
                  <a:srgbClr val="4A5568"/>
                </a:solidFill>
                <a:latin typeface="Calibri" pitchFamily="34" charset="0"/>
                <a:ea typeface="Calibri" pitchFamily="34" charset="-122"/>
                <a:cs typeface="Calibri" pitchFamily="34" charset="-120"/>
              </a:rPr>
              <a:t>price</a:t>
            </a:r>
            <a:endParaRPr lang="en-US" sz="750" dirty="0"/>
          </a:p>
        </p:txBody>
      </p:sp>
      <p:sp>
        <p:nvSpPr>
          <p:cNvPr id="53" name="Shape 51"/>
          <p:cNvSpPr/>
          <p:nvPr/>
        </p:nvSpPr>
        <p:spPr>
          <a:xfrm>
            <a:off x="3063240" y="5729630"/>
            <a:ext cx="1371600" cy="744322"/>
          </a:xfrm>
          <a:prstGeom prst="rect">
            <a:avLst/>
          </a:prstGeom>
          <a:solidFill>
            <a:srgbClr val="B45309"/>
          </a:solidFill>
          <a:ln w="12700">
            <a:solidFill>
              <a:srgbClr val="B45309"/>
            </a:solidFill>
            <a:prstDash val="solid"/>
          </a:ln>
        </p:spPr>
      </p:sp>
      <p:sp>
        <p:nvSpPr>
          <p:cNvPr id="54" name="Text 52"/>
          <p:cNvSpPr/>
          <p:nvPr/>
        </p:nvSpPr>
        <p:spPr>
          <a:xfrm>
            <a:off x="3063240" y="5473598"/>
            <a:ext cx="1371600" cy="219456"/>
          </a:xfrm>
          <a:prstGeom prst="rect">
            <a:avLst/>
          </a:prstGeom>
          <a:noFill/>
          <a:ln/>
        </p:spPr>
        <p:txBody>
          <a:bodyPr wrap="square" lIns="0" tIns="0" rIns="0" bIns="0" rtlCol="0" anchor="ctr"/>
          <a:lstStyle/>
          <a:p>
            <a:pPr marL="0" indent="0" algn="ctr">
              <a:buNone/>
            </a:pPr>
            <a:r>
              <a:rPr lang="en-US" sz="900" b="1" dirty="0">
                <a:solidFill>
                  <a:srgbClr val="B45309"/>
                </a:solidFill>
                <a:latin typeface="Calibri" pitchFamily="34" charset="0"/>
                <a:ea typeface="Calibri" pitchFamily="34" charset="-122"/>
                <a:cs typeface="Calibri" pitchFamily="34" charset="-120"/>
              </a:rPr>
              <a:t>74%</a:t>
            </a:r>
            <a:endParaRPr lang="en-US" sz="900" dirty="0"/>
          </a:p>
        </p:txBody>
      </p:sp>
      <p:sp>
        <p:nvSpPr>
          <p:cNvPr id="55" name="Text 53"/>
          <p:cNvSpPr/>
          <p:nvPr/>
        </p:nvSpPr>
        <p:spPr>
          <a:xfrm>
            <a:off x="5029200" y="5102352"/>
            <a:ext cx="2011680" cy="347472"/>
          </a:xfrm>
          <a:prstGeom prst="rect">
            <a:avLst/>
          </a:prstGeom>
          <a:noFill/>
          <a:ln/>
        </p:spPr>
        <p:txBody>
          <a:bodyPr wrap="square" lIns="0" tIns="0" rIns="0" bIns="0" rtlCol="0" anchor="ctr"/>
          <a:lstStyle/>
          <a:p>
            <a:pPr marL="0" indent="0" algn="ctr">
              <a:buNone/>
            </a:pPr>
            <a:r>
              <a:rPr lang="en-US" sz="750" dirty="0">
                <a:solidFill>
                  <a:srgbClr val="4A5568"/>
                </a:solidFill>
                <a:latin typeface="Calibri" pitchFamily="34" charset="0"/>
                <a:ea typeface="Calibri" pitchFamily="34" charset="-122"/>
                <a:cs typeface="Calibri" pitchFamily="34" charset="-120"/>
              </a:rPr>
              <a:t>days_</a:t>
            </a:r>
            <a:endParaRPr lang="en-US" sz="750" dirty="0"/>
          </a:p>
          <a:p>
            <a:pPr marL="0" indent="0" algn="ctr">
              <a:buNone/>
            </a:pPr>
            <a:r>
              <a:rPr lang="en-US" sz="750" dirty="0">
                <a:solidFill>
                  <a:srgbClr val="4A5568"/>
                </a:solidFill>
                <a:latin typeface="Calibri" pitchFamily="34" charset="0"/>
                <a:ea typeface="Calibri" pitchFamily="34" charset="-122"/>
                <a:cs typeface="Calibri" pitchFamily="34" charset="-120"/>
              </a:rPr>
              <a:t>since_</a:t>
            </a:r>
            <a:endParaRPr lang="en-US" sz="750" dirty="0"/>
          </a:p>
          <a:p>
            <a:pPr marL="0" indent="0" algn="ctr">
              <a:buNone/>
            </a:pPr>
            <a:r>
              <a:rPr lang="en-US" sz="750" dirty="0">
                <a:solidFill>
                  <a:srgbClr val="4A5568"/>
                </a:solidFill>
                <a:latin typeface="Calibri" pitchFamily="34" charset="0"/>
                <a:ea typeface="Calibri" pitchFamily="34" charset="-122"/>
                <a:cs typeface="Calibri" pitchFamily="34" charset="-120"/>
              </a:rPr>
              <a:t>first_</a:t>
            </a:r>
            <a:endParaRPr lang="en-US" sz="750" dirty="0"/>
          </a:p>
          <a:p>
            <a:pPr marL="0" indent="0" algn="ctr">
              <a:buNone/>
            </a:pPr>
            <a:r>
              <a:rPr lang="en-US" sz="750" dirty="0">
                <a:solidFill>
                  <a:srgbClr val="4A5568"/>
                </a:solidFill>
                <a:latin typeface="Calibri" pitchFamily="34" charset="0"/>
                <a:ea typeface="Calibri" pitchFamily="34" charset="-122"/>
                <a:cs typeface="Calibri" pitchFamily="34" charset="-120"/>
              </a:rPr>
              <a:t>sample</a:t>
            </a:r>
            <a:endParaRPr lang="en-US" sz="750" dirty="0"/>
          </a:p>
        </p:txBody>
      </p:sp>
      <p:sp>
        <p:nvSpPr>
          <p:cNvPr id="56" name="Shape 54"/>
          <p:cNvSpPr/>
          <p:nvPr/>
        </p:nvSpPr>
        <p:spPr>
          <a:xfrm>
            <a:off x="5349240" y="5920740"/>
            <a:ext cx="1371600" cy="553212"/>
          </a:xfrm>
          <a:prstGeom prst="rect">
            <a:avLst/>
          </a:prstGeom>
          <a:solidFill>
            <a:srgbClr val="0B1C3F"/>
          </a:solidFill>
          <a:ln w="12700">
            <a:solidFill>
              <a:srgbClr val="0B1C3F"/>
            </a:solidFill>
            <a:prstDash val="solid"/>
          </a:ln>
        </p:spPr>
      </p:sp>
      <p:sp>
        <p:nvSpPr>
          <p:cNvPr id="57" name="Text 55"/>
          <p:cNvSpPr/>
          <p:nvPr/>
        </p:nvSpPr>
        <p:spPr>
          <a:xfrm>
            <a:off x="5349240" y="5664708"/>
            <a:ext cx="1371600" cy="219456"/>
          </a:xfrm>
          <a:prstGeom prst="rect">
            <a:avLst/>
          </a:prstGeom>
          <a:noFill/>
          <a:ln/>
        </p:spPr>
        <p:txBody>
          <a:bodyPr wrap="square" lIns="0" tIns="0" rIns="0" bIns="0" rtlCol="0" anchor="ctr"/>
          <a:lstStyle/>
          <a:p>
            <a:pPr marL="0" indent="0" algn="ctr">
              <a:buNone/>
            </a:pPr>
            <a:r>
              <a:rPr lang="en-US" sz="900" b="1" dirty="0">
                <a:solidFill>
                  <a:srgbClr val="0B1C3F"/>
                </a:solidFill>
                <a:latin typeface="Calibri" pitchFamily="34" charset="0"/>
                <a:ea typeface="Calibri" pitchFamily="34" charset="-122"/>
                <a:cs typeface="Calibri" pitchFamily="34" charset="-120"/>
              </a:rPr>
              <a:t>55%</a:t>
            </a:r>
            <a:endParaRPr lang="en-US" sz="900" dirty="0"/>
          </a:p>
        </p:txBody>
      </p:sp>
      <p:sp>
        <p:nvSpPr>
          <p:cNvPr id="58" name="Text 56"/>
          <p:cNvSpPr/>
          <p:nvPr/>
        </p:nvSpPr>
        <p:spPr>
          <a:xfrm>
            <a:off x="7315200" y="5102352"/>
            <a:ext cx="2011680" cy="347472"/>
          </a:xfrm>
          <a:prstGeom prst="rect">
            <a:avLst/>
          </a:prstGeom>
          <a:noFill/>
          <a:ln/>
        </p:spPr>
        <p:txBody>
          <a:bodyPr wrap="square" lIns="0" tIns="0" rIns="0" bIns="0" rtlCol="0" anchor="ctr"/>
          <a:lstStyle/>
          <a:p>
            <a:pPr marL="0" indent="0" algn="ctr">
              <a:buNone/>
            </a:pPr>
            <a:r>
              <a:rPr lang="en-US" sz="750" dirty="0">
                <a:solidFill>
                  <a:srgbClr val="4A5568"/>
                </a:solidFill>
                <a:latin typeface="Calibri" pitchFamily="34" charset="0"/>
                <a:ea typeface="Calibri" pitchFamily="34" charset="-122"/>
                <a:cs typeface="Calibri" pitchFamily="34" charset="-120"/>
              </a:rPr>
              <a:t>unique_</a:t>
            </a:r>
            <a:endParaRPr lang="en-US" sz="750" dirty="0"/>
          </a:p>
          <a:p>
            <a:pPr marL="0" indent="0" algn="ctr">
              <a:buNone/>
            </a:pPr>
            <a:r>
              <a:rPr lang="en-US" sz="750" dirty="0">
                <a:solidFill>
                  <a:srgbClr val="4A5568"/>
                </a:solidFill>
                <a:latin typeface="Calibri" pitchFamily="34" charset="0"/>
                <a:ea typeface="Calibri" pitchFamily="34" charset="-122"/>
                <a:cs typeface="Calibri" pitchFamily="34" charset="-120"/>
              </a:rPr>
              <a:t>motifs</a:t>
            </a:r>
            <a:endParaRPr lang="en-US" sz="750" dirty="0"/>
          </a:p>
        </p:txBody>
      </p:sp>
      <p:sp>
        <p:nvSpPr>
          <p:cNvPr id="59" name="Shape 57"/>
          <p:cNvSpPr/>
          <p:nvPr/>
        </p:nvSpPr>
        <p:spPr>
          <a:xfrm>
            <a:off x="7635240" y="6091733"/>
            <a:ext cx="1371600" cy="382219"/>
          </a:xfrm>
          <a:prstGeom prst="rect">
            <a:avLst/>
          </a:prstGeom>
          <a:solidFill>
            <a:srgbClr val="1D4ED8"/>
          </a:solidFill>
          <a:ln w="12700">
            <a:solidFill>
              <a:srgbClr val="1D4ED8"/>
            </a:solidFill>
            <a:prstDash val="solid"/>
          </a:ln>
        </p:spPr>
      </p:sp>
      <p:sp>
        <p:nvSpPr>
          <p:cNvPr id="60" name="Text 58"/>
          <p:cNvSpPr/>
          <p:nvPr/>
        </p:nvSpPr>
        <p:spPr>
          <a:xfrm>
            <a:off x="7635240" y="5835701"/>
            <a:ext cx="1371600" cy="219456"/>
          </a:xfrm>
          <a:prstGeom prst="rect">
            <a:avLst/>
          </a:prstGeom>
          <a:noFill/>
          <a:ln/>
        </p:spPr>
        <p:txBody>
          <a:bodyPr wrap="square" lIns="0" tIns="0" rIns="0" bIns="0" rtlCol="0" anchor="ctr"/>
          <a:lstStyle/>
          <a:p>
            <a:pPr marL="0" indent="0" algn="ctr">
              <a:buNone/>
            </a:pPr>
            <a:r>
              <a:rPr lang="en-US" sz="900" b="1" dirty="0">
                <a:solidFill>
                  <a:srgbClr val="1D4ED8"/>
                </a:solidFill>
                <a:latin typeface="Calibri" pitchFamily="34" charset="0"/>
                <a:ea typeface="Calibri" pitchFamily="34" charset="-122"/>
                <a:cs typeface="Calibri" pitchFamily="34" charset="-120"/>
              </a:rPr>
              <a:t>38%</a:t>
            </a:r>
            <a:endParaRPr lang="en-US" sz="900" dirty="0"/>
          </a:p>
        </p:txBody>
      </p:sp>
      <p:sp>
        <p:nvSpPr>
          <p:cNvPr id="61" name="Text 59"/>
          <p:cNvSpPr/>
          <p:nvPr/>
        </p:nvSpPr>
        <p:spPr>
          <a:xfrm>
            <a:off x="9601200" y="5102352"/>
            <a:ext cx="2011680" cy="347472"/>
          </a:xfrm>
          <a:prstGeom prst="rect">
            <a:avLst/>
          </a:prstGeom>
          <a:noFill/>
          <a:ln/>
        </p:spPr>
        <p:txBody>
          <a:bodyPr wrap="square" lIns="0" tIns="0" rIns="0" bIns="0" rtlCol="0" anchor="ctr"/>
          <a:lstStyle/>
          <a:p>
            <a:pPr marL="0" indent="0" algn="ctr">
              <a:buNone/>
            </a:pPr>
            <a:r>
              <a:rPr lang="en-US" sz="750" dirty="0">
                <a:solidFill>
                  <a:srgbClr val="4A5568"/>
                </a:solidFill>
                <a:latin typeface="Calibri" pitchFamily="34" charset="0"/>
                <a:ea typeface="Calibri" pitchFamily="34" charset="-122"/>
                <a:cs typeface="Calibri" pitchFamily="34" charset="-120"/>
              </a:rPr>
              <a:t>showroom_</a:t>
            </a:r>
            <a:endParaRPr lang="en-US" sz="750" dirty="0"/>
          </a:p>
          <a:p>
            <a:pPr marL="0" indent="0" algn="ctr">
              <a:buNone/>
            </a:pPr>
            <a:r>
              <a:rPr lang="en-US" sz="750" dirty="0">
                <a:solidFill>
                  <a:srgbClr val="4A5568"/>
                </a:solidFill>
                <a:latin typeface="Calibri" pitchFamily="34" charset="0"/>
                <a:ea typeface="Calibri" pitchFamily="34" charset="-122"/>
                <a:cs typeface="Calibri" pitchFamily="34" charset="-120"/>
              </a:rPr>
              <a:t>share</a:t>
            </a:r>
            <a:endParaRPr lang="en-US" sz="750" dirty="0"/>
          </a:p>
        </p:txBody>
      </p:sp>
      <p:sp>
        <p:nvSpPr>
          <p:cNvPr id="62" name="Shape 60"/>
          <p:cNvSpPr/>
          <p:nvPr/>
        </p:nvSpPr>
        <p:spPr>
          <a:xfrm>
            <a:off x="9921240" y="6252667"/>
            <a:ext cx="1371600" cy="221285"/>
          </a:xfrm>
          <a:prstGeom prst="rect">
            <a:avLst/>
          </a:prstGeom>
          <a:solidFill>
            <a:srgbClr val="4A5568"/>
          </a:solidFill>
          <a:ln w="12700">
            <a:solidFill>
              <a:srgbClr val="4A5568"/>
            </a:solidFill>
            <a:prstDash val="solid"/>
          </a:ln>
        </p:spPr>
      </p:sp>
      <p:sp>
        <p:nvSpPr>
          <p:cNvPr id="63" name="Text 61"/>
          <p:cNvSpPr/>
          <p:nvPr/>
        </p:nvSpPr>
        <p:spPr>
          <a:xfrm>
            <a:off x="9921240" y="5996635"/>
            <a:ext cx="1371600" cy="219456"/>
          </a:xfrm>
          <a:prstGeom prst="rect">
            <a:avLst/>
          </a:prstGeom>
          <a:noFill/>
          <a:ln/>
        </p:spPr>
        <p:txBody>
          <a:bodyPr wrap="square" lIns="0" tIns="0" rIns="0" bIns="0" rtlCol="0" anchor="ctr"/>
          <a:lstStyle/>
          <a:p>
            <a:pPr marL="0" indent="0" algn="ctr">
              <a:buNone/>
            </a:pPr>
            <a:r>
              <a:rPr lang="en-US" sz="900" b="1" dirty="0">
                <a:solidFill>
                  <a:srgbClr val="4A55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AI Recommendation Engine — ChromaDB + Vision + NLP</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06</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pic>
        <p:nvPicPr>
          <p:cNvPr id="8" name="Image 0" descr="preencoded.png"/>
          <p:cNvPicPr>
            <a:picLocks noChangeAspect="1"/>
          </p:cNvPicPr>
          <p:nvPr/>
        </p:nvPicPr>
        <p:blipFill>
          <a:blip r:embed="rId3"/>
          <a:srcRect/>
          <a:stretch/>
        </p:blipFill>
        <p:spPr>
          <a:xfrm>
            <a:off x="274320" y="777240"/>
            <a:ext cx="6720840" cy="3474720"/>
          </a:xfrm>
          <a:prstGeom prst="rect">
            <a:avLst/>
          </a:prstGeom>
        </p:spPr>
      </p:pic>
      <p:sp>
        <p:nvSpPr>
          <p:cNvPr id="9" name="Shape 6"/>
          <p:cNvSpPr/>
          <p:nvPr/>
        </p:nvSpPr>
        <p:spPr>
          <a:xfrm>
            <a:off x="7086600" y="777240"/>
            <a:ext cx="480060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0" name="Shape 7"/>
          <p:cNvSpPr/>
          <p:nvPr/>
        </p:nvSpPr>
        <p:spPr>
          <a:xfrm>
            <a:off x="7086600" y="777240"/>
            <a:ext cx="502920" cy="1078992"/>
          </a:xfrm>
          <a:prstGeom prst="rect">
            <a:avLst/>
          </a:prstGeom>
          <a:solidFill>
            <a:srgbClr val="0B1C3F"/>
          </a:solidFill>
          <a:ln w="12700">
            <a:solidFill>
              <a:srgbClr val="0B1C3F"/>
            </a:solidFill>
            <a:prstDash val="solid"/>
          </a:ln>
        </p:spPr>
      </p:sp>
      <p:sp>
        <p:nvSpPr>
          <p:cNvPr id="11" name="Text 8"/>
          <p:cNvSpPr/>
          <p:nvPr/>
        </p:nvSpPr>
        <p:spPr>
          <a:xfrm>
            <a:off x="7086600" y="1097280"/>
            <a:ext cx="50292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2" name="Text 9"/>
          <p:cNvSpPr/>
          <p:nvPr/>
        </p:nvSpPr>
        <p:spPr>
          <a:xfrm>
            <a:off x="7680960" y="868680"/>
            <a:ext cx="4069080" cy="274320"/>
          </a:xfrm>
          <a:prstGeom prst="rect">
            <a:avLst/>
          </a:prstGeom>
          <a:noFill/>
          <a:ln/>
        </p:spPr>
        <p:txBody>
          <a:bodyPr wrap="square" lIns="0" tIns="0" rIns="0" bIns="0" rtlCol="0" anchor="ctr"/>
          <a:lstStyle/>
          <a:p>
            <a:pPr marL="0" indent="0">
              <a:buNone/>
            </a:pPr>
            <a:r>
              <a:rPr lang="en-US" sz="1050" b="1" dirty="0">
                <a:solidFill>
                  <a:srgbClr val="0B1C3F"/>
                </a:solidFill>
                <a:latin typeface="Calibri" pitchFamily="34" charset="0"/>
                <a:ea typeface="Calibri" pitchFamily="34" charset="-122"/>
                <a:cs typeface="Calibri" pitchFamily="34" charset="-120"/>
              </a:rPr>
              <a:t>Cluster Identification</a:t>
            </a:r>
            <a:endParaRPr lang="en-US" sz="1050" dirty="0"/>
          </a:p>
        </p:txBody>
      </p:sp>
      <p:sp>
        <p:nvSpPr>
          <p:cNvPr id="13" name="Text 10"/>
          <p:cNvSpPr/>
          <p:nvPr/>
        </p:nvSpPr>
        <p:spPr>
          <a:xfrm>
            <a:off x="7680960" y="1179576"/>
            <a:ext cx="4069080" cy="59436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Look up account K-Means cluster → Champions receive fundamentally different recommendations than General Trade accounts</a:t>
            </a:r>
            <a:endParaRPr lang="en-US" sz="900" dirty="0"/>
          </a:p>
        </p:txBody>
      </p:sp>
      <p:sp>
        <p:nvSpPr>
          <p:cNvPr id="14" name="Shape 11"/>
          <p:cNvSpPr/>
          <p:nvPr/>
        </p:nvSpPr>
        <p:spPr>
          <a:xfrm>
            <a:off x="7086600" y="1947672"/>
            <a:ext cx="480060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5" name="Shape 12"/>
          <p:cNvSpPr/>
          <p:nvPr/>
        </p:nvSpPr>
        <p:spPr>
          <a:xfrm>
            <a:off x="7086600" y="1947672"/>
            <a:ext cx="502920" cy="1078992"/>
          </a:xfrm>
          <a:prstGeom prst="rect">
            <a:avLst/>
          </a:prstGeom>
          <a:solidFill>
            <a:srgbClr val="1B6B3A"/>
          </a:solidFill>
          <a:ln w="12700">
            <a:solidFill>
              <a:srgbClr val="1B6B3A"/>
            </a:solidFill>
            <a:prstDash val="solid"/>
          </a:ln>
        </p:spPr>
      </p:sp>
      <p:sp>
        <p:nvSpPr>
          <p:cNvPr id="16" name="Text 13"/>
          <p:cNvSpPr/>
          <p:nvPr/>
        </p:nvSpPr>
        <p:spPr>
          <a:xfrm>
            <a:off x="7086600" y="2267712"/>
            <a:ext cx="50292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7" name="Text 14"/>
          <p:cNvSpPr/>
          <p:nvPr/>
        </p:nvSpPr>
        <p:spPr>
          <a:xfrm>
            <a:off x="7680960" y="2039112"/>
            <a:ext cx="4069080" cy="274320"/>
          </a:xfrm>
          <a:prstGeom prst="rect">
            <a:avLst/>
          </a:prstGeom>
          <a:noFill/>
          <a:ln/>
        </p:spPr>
        <p:txBody>
          <a:bodyPr wrap="square" lIns="0" tIns="0" rIns="0" bIns="0" rtlCol="0" anchor="ctr"/>
          <a:lstStyle/>
          <a:p>
            <a:pPr marL="0" indent="0">
              <a:buNone/>
            </a:pPr>
            <a:r>
              <a:rPr lang="en-US" sz="1050" b="1" dirty="0">
                <a:solidFill>
                  <a:srgbClr val="1B6B3A"/>
                </a:solidFill>
                <a:latin typeface="Calibri" pitchFamily="34" charset="0"/>
                <a:ea typeface="Calibri" pitchFamily="34" charset="-122"/>
                <a:cs typeface="Calibri" pitchFamily="34" charset="-120"/>
              </a:rPr>
              <a:t>Persona Aggregation</a:t>
            </a:r>
            <a:endParaRPr lang="en-US" sz="1050" dirty="0"/>
          </a:p>
        </p:txBody>
      </p:sp>
      <p:sp>
        <p:nvSpPr>
          <p:cNvPr id="18" name="Text 15"/>
          <p:cNvSpPr/>
          <p:nvPr/>
        </p:nvSpPr>
        <p:spPr>
          <a:xfrm>
            <a:off x="7680960" y="2350008"/>
            <a:ext cx="4069080" cy="59436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Products ranked by unique_buyers within cluster (not raw qty) → prevents single large orders from skewing recommendations</a:t>
            </a:r>
            <a:endParaRPr lang="en-US" sz="900" dirty="0"/>
          </a:p>
        </p:txBody>
      </p:sp>
      <p:sp>
        <p:nvSpPr>
          <p:cNvPr id="19" name="Shape 16"/>
          <p:cNvSpPr/>
          <p:nvPr/>
        </p:nvSpPr>
        <p:spPr>
          <a:xfrm>
            <a:off x="7086600" y="3118104"/>
            <a:ext cx="480060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0" name="Shape 17"/>
          <p:cNvSpPr/>
          <p:nvPr/>
        </p:nvSpPr>
        <p:spPr>
          <a:xfrm>
            <a:off x="7086600" y="3118104"/>
            <a:ext cx="502920" cy="1078992"/>
          </a:xfrm>
          <a:prstGeom prst="rect">
            <a:avLst/>
          </a:prstGeom>
          <a:solidFill>
            <a:srgbClr val="C9A84C"/>
          </a:solidFill>
          <a:ln w="12700">
            <a:solidFill>
              <a:srgbClr val="C9A84C"/>
            </a:solidFill>
            <a:prstDash val="solid"/>
          </a:ln>
        </p:spPr>
      </p:sp>
      <p:sp>
        <p:nvSpPr>
          <p:cNvPr id="21" name="Text 18"/>
          <p:cNvSpPr/>
          <p:nvPr/>
        </p:nvSpPr>
        <p:spPr>
          <a:xfrm>
            <a:off x="7086600" y="3438144"/>
            <a:ext cx="50292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2" name="Text 19"/>
          <p:cNvSpPr/>
          <p:nvPr/>
        </p:nvSpPr>
        <p:spPr>
          <a:xfrm>
            <a:off x="7680960" y="3209544"/>
            <a:ext cx="4069080" cy="274320"/>
          </a:xfrm>
          <a:prstGeom prst="rect">
            <a:avLst/>
          </a:prstGeom>
          <a:noFill/>
          <a:ln/>
        </p:spPr>
        <p:txBody>
          <a:bodyPr wrap="square" lIns="0" tIns="0" rIns="0" bIns="0" rtlCol="0" anchor="ctr"/>
          <a:lstStyle/>
          <a:p>
            <a:pPr marL="0" indent="0">
              <a:buNone/>
            </a:pPr>
            <a:r>
              <a:rPr lang="en-US" sz="1050" b="1" dirty="0">
                <a:solidFill>
                  <a:srgbClr val="C9A84C"/>
                </a:solidFill>
                <a:latin typeface="Calibri" pitchFamily="34" charset="0"/>
                <a:ea typeface="Calibri" pitchFamily="34" charset="-122"/>
                <a:cs typeface="Calibri" pitchFamily="34" charset="-120"/>
              </a:rPr>
              <a:t>Motif &amp; Category Metadata</a:t>
            </a:r>
            <a:endParaRPr lang="en-US" sz="1050" dirty="0"/>
          </a:p>
        </p:txBody>
      </p:sp>
      <p:sp>
        <p:nvSpPr>
          <p:cNvPr id="23" name="Text 20"/>
          <p:cNvSpPr/>
          <p:nvPr/>
        </p:nvSpPr>
        <p:spPr>
          <a:xfrm>
            <a:off x="7680960" y="3520440"/>
            <a:ext cx="4069080" cy="59436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category_name + motif carried forward → UI explains WHY each item is recommended (trust + transparency)</a:t>
            </a:r>
            <a:endParaRPr lang="en-US" sz="900" dirty="0"/>
          </a:p>
        </p:txBody>
      </p:sp>
      <p:sp>
        <p:nvSpPr>
          <p:cNvPr id="24" name="Shape 21"/>
          <p:cNvSpPr/>
          <p:nvPr/>
        </p:nvSpPr>
        <p:spPr>
          <a:xfrm>
            <a:off x="7086600" y="4288536"/>
            <a:ext cx="480060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5" name="Shape 22"/>
          <p:cNvSpPr/>
          <p:nvPr/>
        </p:nvSpPr>
        <p:spPr>
          <a:xfrm>
            <a:off x="7086600" y="4288536"/>
            <a:ext cx="502920" cy="1078992"/>
          </a:xfrm>
          <a:prstGeom prst="rect">
            <a:avLst/>
          </a:prstGeom>
          <a:solidFill>
            <a:srgbClr val="065A82"/>
          </a:solidFill>
          <a:ln w="12700">
            <a:solidFill>
              <a:srgbClr val="065A82"/>
            </a:solidFill>
            <a:prstDash val="solid"/>
          </a:ln>
        </p:spPr>
      </p:sp>
      <p:sp>
        <p:nvSpPr>
          <p:cNvPr id="26" name="Text 23"/>
          <p:cNvSpPr/>
          <p:nvPr/>
        </p:nvSpPr>
        <p:spPr>
          <a:xfrm>
            <a:off x="7086600" y="4608576"/>
            <a:ext cx="50292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7" name="Text 24"/>
          <p:cNvSpPr/>
          <p:nvPr/>
        </p:nvSpPr>
        <p:spPr>
          <a:xfrm>
            <a:off x="7680960" y="4379976"/>
            <a:ext cx="4069080" cy="274320"/>
          </a:xfrm>
          <a:prstGeom prst="rect">
            <a:avLst/>
          </a:prstGeom>
          <a:noFill/>
          <a:ln/>
        </p:spPr>
        <p:txBody>
          <a:bodyPr wrap="square" lIns="0" tIns="0" rIns="0" bIns="0" rtlCol="0" anchor="ctr"/>
          <a:lstStyle/>
          <a:p>
            <a:pPr marL="0" indent="0">
              <a:buNone/>
            </a:pPr>
            <a:r>
              <a:rPr lang="en-US" sz="1050" b="1" dirty="0">
                <a:solidFill>
                  <a:srgbClr val="065A82"/>
                </a:solidFill>
                <a:latin typeface="Calibri" pitchFamily="34" charset="0"/>
                <a:ea typeface="Calibri" pitchFamily="34" charset="-122"/>
                <a:cs typeface="Calibri" pitchFamily="34" charset="-120"/>
              </a:rPr>
              <a:t>De-duplication Filter</a:t>
            </a:r>
            <a:endParaRPr lang="en-US" sz="1050" dirty="0"/>
          </a:p>
        </p:txBody>
      </p:sp>
      <p:sp>
        <p:nvSpPr>
          <p:cNvPr id="28" name="Text 25"/>
          <p:cNvSpPr/>
          <p:nvPr/>
        </p:nvSpPr>
        <p:spPr>
          <a:xfrm>
            <a:off x="7680960" y="4690872"/>
            <a:ext cx="4069080" cy="59436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All item_numbers already purchased excluded → drives discovery, not repurchase</a:t>
            </a:r>
            <a:endParaRPr lang="en-US" sz="900" dirty="0"/>
          </a:p>
        </p:txBody>
      </p:sp>
      <p:sp>
        <p:nvSpPr>
          <p:cNvPr id="29" name="Shape 26"/>
          <p:cNvSpPr/>
          <p:nvPr/>
        </p:nvSpPr>
        <p:spPr>
          <a:xfrm>
            <a:off x="7086600" y="5458968"/>
            <a:ext cx="4800600" cy="107899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30" name="Shape 27"/>
          <p:cNvSpPr/>
          <p:nvPr/>
        </p:nvSpPr>
        <p:spPr>
          <a:xfrm>
            <a:off x="7086600" y="5458968"/>
            <a:ext cx="502920" cy="1078992"/>
          </a:xfrm>
          <a:prstGeom prst="rect">
            <a:avLst/>
          </a:prstGeom>
          <a:solidFill>
            <a:srgbClr val="1D4ED8"/>
          </a:solidFill>
          <a:ln w="12700">
            <a:solidFill>
              <a:srgbClr val="1D4ED8"/>
            </a:solidFill>
            <a:prstDash val="solid"/>
          </a:ln>
        </p:spPr>
      </p:sp>
      <p:sp>
        <p:nvSpPr>
          <p:cNvPr id="31" name="Text 28"/>
          <p:cNvSpPr/>
          <p:nvPr/>
        </p:nvSpPr>
        <p:spPr>
          <a:xfrm>
            <a:off x="7086600" y="5779008"/>
            <a:ext cx="50292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2" name="Text 29"/>
          <p:cNvSpPr/>
          <p:nvPr/>
        </p:nvSpPr>
        <p:spPr>
          <a:xfrm>
            <a:off x="7680960" y="5550408"/>
            <a:ext cx="4069080" cy="274320"/>
          </a:xfrm>
          <a:prstGeom prst="rect">
            <a:avLst/>
          </a:prstGeom>
          <a:noFill/>
          <a:ln/>
        </p:spPr>
        <p:txBody>
          <a:bodyPr wrap="square" lIns="0" tIns="0" rIns="0" bIns="0" rtlCol="0" anchor="ctr"/>
          <a:lstStyle/>
          <a:p>
            <a:pPr marL="0" indent="0">
              <a:buNone/>
            </a:pPr>
            <a:r>
              <a:rPr lang="en-US" sz="1050" b="1" dirty="0">
                <a:solidFill>
                  <a:srgbClr val="1D4ED8"/>
                </a:solidFill>
                <a:latin typeface="Calibri" pitchFamily="34" charset="0"/>
                <a:ea typeface="Calibri" pitchFamily="34" charset="-122"/>
                <a:cs typeface="Calibri" pitchFamily="34" charset="-120"/>
              </a:rPr>
              <a:t>Vision + Text AI</a:t>
            </a:r>
            <a:endParaRPr lang="en-US" sz="1050" dirty="0"/>
          </a:p>
        </p:txBody>
      </p:sp>
      <p:sp>
        <p:nvSpPr>
          <p:cNvPr id="33" name="Text 30"/>
          <p:cNvSpPr/>
          <p:nvPr/>
        </p:nvSpPr>
        <p:spPr>
          <a:xfrm>
            <a:off x="7680960" y="5861304"/>
            <a:ext cx="4069080" cy="594360"/>
          </a:xfrm>
          <a:prstGeom prst="rect">
            <a:avLst/>
          </a:prstGeom>
          <a:noFill/>
          <a:ln/>
        </p:spPr>
        <p:txBody>
          <a:bodyPr wrap="square" lIns="0" tIns="0" rIns="0" bIns="0" rtlCol="0" anchor="ctr"/>
          <a:lstStyle/>
          <a:p>
            <a:pPr marL="0" indent="0">
              <a:buNone/>
            </a:pPr>
            <a:r>
              <a:rPr lang="en-US" sz="900" dirty="0">
                <a:solidFill>
                  <a:srgbClr val="2B2B2B"/>
                </a:solidFill>
                <a:latin typeface="Calibri" pitchFamily="34" charset="0"/>
                <a:ea typeface="Calibri" pitchFamily="34" charset="-122"/>
                <a:cs typeface="Calibri" pitchFamily="34" charset="-120"/>
              </a:rPr>
              <a:t>Hugging Face embeddings + PyTorch VisionMatcher → semantic similarity search across full 16K product catalogue</a:t>
            </a:r>
            <a:endParaRPr lang="en-US" sz="900" dirty="0"/>
          </a:p>
        </p:txBody>
      </p:sp>
      <p:sp>
        <p:nvSpPr>
          <p:cNvPr id="34" name="Shape 31"/>
          <p:cNvSpPr/>
          <p:nvPr/>
        </p:nvSpPr>
        <p:spPr>
          <a:xfrm>
            <a:off x="274320" y="4370832"/>
            <a:ext cx="6583680" cy="1719072"/>
          </a:xfrm>
          <a:prstGeom prst="rect">
            <a:avLst/>
          </a:prstGeom>
          <a:solidFill>
            <a:srgbClr val="0B1C3F"/>
          </a:solidFill>
          <a:ln w="12700">
            <a:solidFill>
              <a:srgbClr val="0B1C3F"/>
            </a:solidFill>
            <a:prstDash val="solid"/>
          </a:ln>
          <a:effectLst>
            <a:outerShdw blurRad="101600" dist="38100" dir="8100000" algn="bl" rotWithShape="0">
              <a:srgbClr val="000000">
                <a:alpha val="12000"/>
              </a:srgbClr>
            </a:outerShdw>
          </a:effectLst>
        </p:spPr>
      </p:sp>
      <p:sp>
        <p:nvSpPr>
          <p:cNvPr id="35" name="Text 32"/>
          <p:cNvSpPr/>
          <p:nvPr/>
        </p:nvSpPr>
        <p:spPr>
          <a:xfrm>
            <a:off x="457200" y="4434840"/>
            <a:ext cx="6217920" cy="292608"/>
          </a:xfrm>
          <a:prstGeom prst="rect">
            <a:avLst/>
          </a:prstGeom>
          <a:noFill/>
          <a:ln/>
        </p:spPr>
        <p:txBody>
          <a:bodyPr wrap="square" lIns="0" tIns="0" rIns="0" bIns="0" rtlCol="0" anchor="ctr"/>
          <a:lstStyle/>
          <a:p>
            <a:pPr marL="0" indent="0">
              <a:buNone/>
            </a:pPr>
            <a:r>
              <a:rPr lang="en-US" sz="1000" b="1" dirty="0">
                <a:solidFill>
                  <a:srgbClr val="C9A84C"/>
                </a:solidFill>
                <a:latin typeface="Calibri" pitchFamily="34" charset="0"/>
                <a:ea typeface="Calibri" pitchFamily="34" charset="-122"/>
                <a:cs typeface="Calibri" pitchFamily="34" charset="-120"/>
              </a:rPr>
              <a:t>TECH STACK</a:t>
            </a:r>
            <a:endParaRPr lang="en-US" sz="1000" dirty="0"/>
          </a:p>
        </p:txBody>
      </p:sp>
      <p:sp>
        <p:nvSpPr>
          <p:cNvPr id="36" name="Shape 33"/>
          <p:cNvSpPr/>
          <p:nvPr/>
        </p:nvSpPr>
        <p:spPr>
          <a:xfrm>
            <a:off x="457200" y="4800600"/>
            <a:ext cx="1463040" cy="365760"/>
          </a:xfrm>
          <a:prstGeom prst="rect">
            <a:avLst/>
          </a:prstGeom>
          <a:solidFill>
            <a:srgbClr val="132445"/>
          </a:solidFill>
          <a:ln w="6350">
            <a:solidFill>
              <a:srgbClr val="C9A84C"/>
            </a:solidFill>
            <a:prstDash val="solid"/>
          </a:ln>
        </p:spPr>
      </p:sp>
      <p:sp>
        <p:nvSpPr>
          <p:cNvPr id="37" name="Text 34"/>
          <p:cNvSpPr/>
          <p:nvPr/>
        </p:nvSpPr>
        <p:spPr>
          <a:xfrm>
            <a:off x="457200" y="4800600"/>
            <a:ext cx="1463040" cy="36576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Python + Pandas</a:t>
            </a:r>
            <a:endParaRPr lang="en-US" sz="800" dirty="0"/>
          </a:p>
        </p:txBody>
      </p:sp>
      <p:sp>
        <p:nvSpPr>
          <p:cNvPr id="38" name="Shape 35"/>
          <p:cNvSpPr/>
          <p:nvPr/>
        </p:nvSpPr>
        <p:spPr>
          <a:xfrm>
            <a:off x="2057400" y="4800600"/>
            <a:ext cx="1463040" cy="365760"/>
          </a:xfrm>
          <a:prstGeom prst="rect">
            <a:avLst/>
          </a:prstGeom>
          <a:solidFill>
            <a:srgbClr val="132445"/>
          </a:solidFill>
          <a:ln w="6350">
            <a:solidFill>
              <a:srgbClr val="C9A84C"/>
            </a:solidFill>
            <a:prstDash val="solid"/>
          </a:ln>
        </p:spPr>
      </p:sp>
      <p:sp>
        <p:nvSpPr>
          <p:cNvPr id="39" name="Text 36"/>
          <p:cNvSpPr/>
          <p:nvPr/>
        </p:nvSpPr>
        <p:spPr>
          <a:xfrm>
            <a:off x="2057400" y="4800600"/>
            <a:ext cx="1463040" cy="36576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XGBoost + SHAP</a:t>
            </a:r>
            <a:endParaRPr lang="en-US" sz="800" dirty="0"/>
          </a:p>
        </p:txBody>
      </p:sp>
      <p:sp>
        <p:nvSpPr>
          <p:cNvPr id="40" name="Shape 37"/>
          <p:cNvSpPr/>
          <p:nvPr/>
        </p:nvSpPr>
        <p:spPr>
          <a:xfrm>
            <a:off x="3657600" y="4800600"/>
            <a:ext cx="1463040" cy="365760"/>
          </a:xfrm>
          <a:prstGeom prst="rect">
            <a:avLst/>
          </a:prstGeom>
          <a:solidFill>
            <a:srgbClr val="132445"/>
          </a:solidFill>
          <a:ln w="6350">
            <a:solidFill>
              <a:srgbClr val="C9A84C"/>
            </a:solidFill>
            <a:prstDash val="solid"/>
          </a:ln>
        </p:spPr>
      </p:sp>
      <p:sp>
        <p:nvSpPr>
          <p:cNvPr id="41" name="Text 38"/>
          <p:cNvSpPr/>
          <p:nvPr/>
        </p:nvSpPr>
        <p:spPr>
          <a:xfrm>
            <a:off x="3657600" y="4800600"/>
            <a:ext cx="1463040" cy="36576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ChromaDB (Vector DB)</a:t>
            </a:r>
            <a:endParaRPr lang="en-US" sz="800" dirty="0"/>
          </a:p>
        </p:txBody>
      </p:sp>
      <p:sp>
        <p:nvSpPr>
          <p:cNvPr id="42" name="Shape 39"/>
          <p:cNvSpPr/>
          <p:nvPr/>
        </p:nvSpPr>
        <p:spPr>
          <a:xfrm>
            <a:off x="5257800" y="4800600"/>
            <a:ext cx="1463040" cy="365760"/>
          </a:xfrm>
          <a:prstGeom prst="rect">
            <a:avLst/>
          </a:prstGeom>
          <a:solidFill>
            <a:srgbClr val="132445"/>
          </a:solidFill>
          <a:ln w="6350">
            <a:solidFill>
              <a:srgbClr val="C9A84C"/>
            </a:solidFill>
            <a:prstDash val="solid"/>
          </a:ln>
        </p:spPr>
      </p:sp>
      <p:sp>
        <p:nvSpPr>
          <p:cNvPr id="43" name="Text 40"/>
          <p:cNvSpPr/>
          <p:nvPr/>
        </p:nvSpPr>
        <p:spPr>
          <a:xfrm>
            <a:off x="5257800" y="4800600"/>
            <a:ext cx="1463040" cy="36576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Streamlit UI</a:t>
            </a:r>
            <a:endParaRPr lang="en-US" sz="800" dirty="0"/>
          </a:p>
        </p:txBody>
      </p:sp>
      <p:sp>
        <p:nvSpPr>
          <p:cNvPr id="44" name="Shape 41"/>
          <p:cNvSpPr/>
          <p:nvPr/>
        </p:nvSpPr>
        <p:spPr>
          <a:xfrm>
            <a:off x="457200" y="5276088"/>
            <a:ext cx="1463040" cy="365760"/>
          </a:xfrm>
          <a:prstGeom prst="rect">
            <a:avLst/>
          </a:prstGeom>
          <a:solidFill>
            <a:srgbClr val="132445"/>
          </a:solidFill>
          <a:ln w="6350">
            <a:solidFill>
              <a:srgbClr val="C9A84C"/>
            </a:solidFill>
            <a:prstDash val="solid"/>
          </a:ln>
        </p:spPr>
      </p:sp>
      <p:sp>
        <p:nvSpPr>
          <p:cNvPr id="45" name="Text 42"/>
          <p:cNvSpPr/>
          <p:nvPr/>
        </p:nvSpPr>
        <p:spPr>
          <a:xfrm>
            <a:off x="457200" y="5276088"/>
            <a:ext cx="1463040" cy="36576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Power BI Dashboard</a:t>
            </a:r>
            <a:endParaRPr lang="en-US" sz="800" dirty="0"/>
          </a:p>
        </p:txBody>
      </p:sp>
      <p:sp>
        <p:nvSpPr>
          <p:cNvPr id="46" name="Shape 43"/>
          <p:cNvSpPr/>
          <p:nvPr/>
        </p:nvSpPr>
        <p:spPr>
          <a:xfrm>
            <a:off x="2057400" y="5276088"/>
            <a:ext cx="1463040" cy="365760"/>
          </a:xfrm>
          <a:prstGeom prst="rect">
            <a:avLst/>
          </a:prstGeom>
          <a:solidFill>
            <a:srgbClr val="132445"/>
          </a:solidFill>
          <a:ln w="6350">
            <a:solidFill>
              <a:srgbClr val="C9A84C"/>
            </a:solidFill>
            <a:prstDash val="solid"/>
          </a:ln>
        </p:spPr>
      </p:sp>
      <p:sp>
        <p:nvSpPr>
          <p:cNvPr id="47" name="Text 44"/>
          <p:cNvSpPr/>
          <p:nvPr/>
        </p:nvSpPr>
        <p:spPr>
          <a:xfrm>
            <a:off x="2057400" y="5276088"/>
            <a:ext cx="1463040" cy="36576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PyTorch VisionMatcher</a:t>
            </a:r>
            <a:endParaRPr lang="en-US" sz="800" dirty="0"/>
          </a:p>
        </p:txBody>
      </p:sp>
      <p:sp>
        <p:nvSpPr>
          <p:cNvPr id="48" name="Shape 45"/>
          <p:cNvSpPr/>
          <p:nvPr/>
        </p:nvSpPr>
        <p:spPr>
          <a:xfrm>
            <a:off x="3657600" y="5276088"/>
            <a:ext cx="1463040" cy="365760"/>
          </a:xfrm>
          <a:prstGeom prst="rect">
            <a:avLst/>
          </a:prstGeom>
          <a:solidFill>
            <a:srgbClr val="132445"/>
          </a:solidFill>
          <a:ln w="6350">
            <a:solidFill>
              <a:srgbClr val="C9A84C"/>
            </a:solidFill>
            <a:prstDash val="solid"/>
          </a:ln>
        </p:spPr>
      </p:sp>
      <p:sp>
        <p:nvSpPr>
          <p:cNvPr id="49" name="Text 46"/>
          <p:cNvSpPr/>
          <p:nvPr/>
        </p:nvSpPr>
        <p:spPr>
          <a:xfrm>
            <a:off x="3657600" y="5276088"/>
            <a:ext cx="1463040" cy="36576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Hugging Face Embeddings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84C"/>
          </a:solidFill>
          <a:ln w="12700">
            <a:solidFill>
              <a:srgbClr val="C9A84C"/>
            </a:solidFill>
            <a:prstDash val="solid"/>
          </a:ln>
        </p:spPr>
      </p:sp>
      <p:sp>
        <p:nvSpPr>
          <p:cNvPr id="3" name="Shape 1"/>
          <p:cNvSpPr/>
          <p:nvPr/>
        </p:nvSpPr>
        <p:spPr>
          <a:xfrm>
            <a:off x="164592" y="0"/>
            <a:ext cx="11996928" cy="640080"/>
          </a:xfrm>
          <a:prstGeom prst="rect">
            <a:avLst/>
          </a:prstGeom>
          <a:solidFill>
            <a:srgbClr val="0B1C3F"/>
          </a:solidFill>
          <a:ln w="12700">
            <a:solidFill>
              <a:srgbClr val="0B1C3F"/>
            </a:solidFill>
            <a:prstDash val="solid"/>
          </a:ln>
        </p:spPr>
      </p:sp>
      <p:sp>
        <p:nvSpPr>
          <p:cNvPr id="4" name="Text 2"/>
          <p:cNvSpPr/>
          <p:nvPr/>
        </p:nvSpPr>
        <p:spPr>
          <a:xfrm>
            <a:off x="457200" y="64008"/>
            <a:ext cx="8229600" cy="512064"/>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Strategic Recommendations &amp; Commercial Roadmap</a:t>
            </a:r>
            <a:endParaRPr lang="en-US" sz="2000" dirty="0"/>
          </a:p>
        </p:txBody>
      </p:sp>
      <p:sp>
        <p:nvSpPr>
          <p:cNvPr id="5" name="Text 3"/>
          <p:cNvSpPr/>
          <p:nvPr/>
        </p:nvSpPr>
        <p:spPr>
          <a:xfrm>
            <a:off x="457200" y="64008"/>
            <a:ext cx="11521440" cy="512064"/>
          </a:xfrm>
          <a:prstGeom prst="rect">
            <a:avLst/>
          </a:prstGeom>
          <a:noFill/>
          <a:ln/>
        </p:spPr>
        <p:txBody>
          <a:bodyPr wrap="square" lIns="0" tIns="0" rIns="0" bIns="0" rtlCol="0" anchor="ctr"/>
          <a:lstStyle/>
          <a:p>
            <a:pPr marL="0" indent="0" algn="r">
              <a:buNone/>
            </a:pPr>
            <a:r>
              <a:rPr lang="en-US" sz="1100" dirty="0">
                <a:solidFill>
                  <a:srgbClr val="C9A84C"/>
                </a:solidFill>
                <a:latin typeface="Calibri" pitchFamily="34" charset="0"/>
                <a:ea typeface="Calibri" pitchFamily="34" charset="-122"/>
                <a:cs typeface="Calibri" pitchFamily="34" charset="-120"/>
              </a:rPr>
              <a:t>SECTION 07</a:t>
            </a:r>
            <a:endParaRPr lang="en-US" sz="1100" dirty="0"/>
          </a:p>
        </p:txBody>
      </p:sp>
      <p:sp>
        <p:nvSpPr>
          <p:cNvPr id="6" name="Shape 4"/>
          <p:cNvSpPr/>
          <p:nvPr/>
        </p:nvSpPr>
        <p:spPr>
          <a:xfrm>
            <a:off x="164592" y="6537960"/>
            <a:ext cx="11996928" cy="320040"/>
          </a:xfrm>
          <a:prstGeom prst="rect">
            <a:avLst/>
          </a:prstGeom>
          <a:solidFill>
            <a:srgbClr val="0B1C3F"/>
          </a:solidFill>
          <a:ln w="12700">
            <a:solidFill>
              <a:srgbClr val="0B1C3F"/>
            </a:solidFill>
            <a:prstDash val="solid"/>
          </a:ln>
        </p:spPr>
      </p:sp>
      <p:sp>
        <p:nvSpPr>
          <p:cNvPr id="7" name="Text 5"/>
          <p:cNvSpPr/>
          <p:nvPr/>
        </p:nvSpPr>
        <p:spPr>
          <a:xfrm>
            <a:off x="457200" y="6565392"/>
            <a:ext cx="11247120" cy="256032"/>
          </a:xfrm>
          <a:prstGeom prst="rect">
            <a:avLst/>
          </a:prstGeom>
          <a:noFill/>
          <a:ln/>
        </p:spPr>
        <p:txBody>
          <a:bodyPr wrap="square" lIns="0" tIns="0" rIns="0" bIns="0" rtlCol="0" anchor="ctr"/>
          <a:lstStyle/>
          <a:p>
            <a:pPr marL="0" indent="0">
              <a:buNone/>
            </a:pPr>
            <a:r>
              <a:rPr lang="en-US" sz="800" dirty="0">
                <a:solidFill>
                  <a:srgbClr val="8A9AB5"/>
                </a:solidFill>
                <a:latin typeface="Calibri" pitchFamily="34" charset="0"/>
                <a:ea typeface="Calibri" pitchFamily="34" charset="-122"/>
                <a:cs typeface="Calibri" pitchFamily="34" charset="-120"/>
              </a:rPr>
              <a:t>LuxeIntelligence  |  F. Schumacher &amp; Co.  |  2025  |  Avinash Patnaik, CSA Research Italy</a:t>
            </a:r>
            <a:endParaRPr lang="en-US" sz="800" dirty="0"/>
          </a:p>
        </p:txBody>
      </p:sp>
      <p:sp>
        <p:nvSpPr>
          <p:cNvPr id="8" name="Shape 6"/>
          <p:cNvSpPr/>
          <p:nvPr/>
        </p:nvSpPr>
        <p:spPr>
          <a:xfrm>
            <a:off x="274320" y="777240"/>
            <a:ext cx="3794760" cy="263347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txBody>
          <a:bodyPr/>
          <a:lstStyle/>
          <a:p>
            <a:endParaRPr lang="it-IT" dirty="0"/>
          </a:p>
        </p:txBody>
      </p:sp>
      <p:sp>
        <p:nvSpPr>
          <p:cNvPr id="9" name="Shape 7"/>
          <p:cNvSpPr/>
          <p:nvPr/>
        </p:nvSpPr>
        <p:spPr>
          <a:xfrm>
            <a:off x="274320" y="777240"/>
            <a:ext cx="3794760" cy="475488"/>
          </a:xfrm>
          <a:prstGeom prst="rect">
            <a:avLst/>
          </a:prstGeom>
          <a:solidFill>
            <a:srgbClr val="1B6B3A"/>
          </a:solidFill>
          <a:ln w="12700">
            <a:solidFill>
              <a:srgbClr val="1B6B3A"/>
            </a:solidFill>
            <a:prstDash val="solid"/>
          </a:ln>
        </p:spPr>
      </p:sp>
      <p:sp>
        <p:nvSpPr>
          <p:cNvPr id="10" name="Shape 8"/>
          <p:cNvSpPr/>
          <p:nvPr/>
        </p:nvSpPr>
        <p:spPr>
          <a:xfrm>
            <a:off x="347472" y="868680"/>
            <a:ext cx="320040" cy="292608"/>
          </a:xfrm>
          <a:prstGeom prst="rect">
            <a:avLst/>
          </a:prstGeom>
          <a:solidFill>
            <a:srgbClr val="FFFFFF"/>
          </a:solidFill>
          <a:ln w="12700">
            <a:solidFill>
              <a:srgbClr val="FFFFFF"/>
            </a:solidFill>
            <a:prstDash val="solid"/>
          </a:ln>
        </p:spPr>
      </p:sp>
      <p:sp>
        <p:nvSpPr>
          <p:cNvPr id="11" name="Text 9"/>
          <p:cNvSpPr/>
          <p:nvPr/>
        </p:nvSpPr>
        <p:spPr>
          <a:xfrm>
            <a:off x="347472" y="868680"/>
            <a:ext cx="320040" cy="292608"/>
          </a:xfrm>
          <a:prstGeom prst="rect">
            <a:avLst/>
          </a:prstGeom>
          <a:noFill/>
          <a:ln/>
        </p:spPr>
        <p:txBody>
          <a:bodyPr wrap="square" lIns="0" tIns="0" rIns="0" bIns="0" rtlCol="0" anchor="ctr"/>
          <a:lstStyle/>
          <a:p>
            <a:pPr marL="0" indent="0" algn="ctr">
              <a:buNone/>
            </a:pPr>
            <a:r>
              <a:rPr lang="en-US" sz="800" b="1" dirty="0">
                <a:solidFill>
                  <a:srgbClr val="1B6B3A"/>
                </a:solidFill>
                <a:latin typeface="Calibri" pitchFamily="34" charset="0"/>
                <a:ea typeface="Calibri" pitchFamily="34" charset="-122"/>
                <a:cs typeface="Calibri" pitchFamily="34" charset="-120"/>
              </a:rPr>
              <a:t>R1</a:t>
            </a:r>
            <a:endParaRPr lang="en-US" sz="800" dirty="0"/>
          </a:p>
        </p:txBody>
      </p:sp>
      <p:sp>
        <p:nvSpPr>
          <p:cNvPr id="12" name="Text 10"/>
          <p:cNvSpPr/>
          <p:nvPr/>
        </p:nvSpPr>
        <p:spPr>
          <a:xfrm>
            <a:off x="749808" y="868680"/>
            <a:ext cx="32004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Protect Champions</a:t>
            </a:r>
            <a:endParaRPr lang="en-US" sz="1100" dirty="0"/>
          </a:p>
        </p:txBody>
      </p:sp>
      <p:sp>
        <p:nvSpPr>
          <p:cNvPr id="13" name="Text 11"/>
          <p:cNvSpPr/>
          <p:nvPr/>
        </p:nvSpPr>
        <p:spPr>
          <a:xfrm>
            <a:off x="365760" y="1325880"/>
            <a:ext cx="3566160" cy="237744"/>
          </a:xfrm>
          <a:prstGeom prst="rect">
            <a:avLst/>
          </a:prstGeom>
          <a:noFill/>
          <a:ln/>
        </p:spPr>
        <p:txBody>
          <a:bodyPr wrap="square" lIns="0" tIns="0" rIns="0" bIns="0" rtlCol="0" anchor="ctr"/>
          <a:lstStyle/>
          <a:p>
            <a:pPr marL="0" indent="0">
              <a:buNone/>
            </a:pPr>
            <a:r>
              <a:rPr lang="en-US" sz="1100" i="1" dirty="0">
                <a:solidFill>
                  <a:srgbClr val="1B6B3A"/>
                </a:solidFill>
                <a:latin typeface="Calibri" pitchFamily="34" charset="0"/>
                <a:ea typeface="Calibri" pitchFamily="34" charset="-122"/>
                <a:cs typeface="Calibri" pitchFamily="34" charset="-120"/>
              </a:rPr>
              <a:t>Cluster 2 - 76.6% revenue concentration</a:t>
            </a:r>
            <a:endParaRPr lang="en-US" sz="1100" dirty="0"/>
          </a:p>
        </p:txBody>
      </p:sp>
      <p:sp>
        <p:nvSpPr>
          <p:cNvPr id="14" name="Text 12"/>
          <p:cNvSpPr/>
          <p:nvPr/>
        </p:nvSpPr>
        <p:spPr>
          <a:xfrm>
            <a:off x="365760" y="1600200"/>
            <a:ext cx="3611880" cy="1691640"/>
          </a:xfrm>
          <a:prstGeom prst="rect">
            <a:avLst/>
          </a:prstGeom>
          <a:noFill/>
          <a:ln/>
        </p:spPr>
        <p:txBody>
          <a:bodyPr wrap="square" lIns="0" tIns="0" rIns="0" bIns="0" rtlCol="0" anchor="t"/>
          <a:lstStyle/>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Dedicated senior rep assignment</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Early new collection access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Exclusive trade pricing tiers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Proactive pre-season outreach before major buying cycles</a:t>
            </a:r>
            <a:endParaRPr lang="en-US" sz="1100" dirty="0"/>
          </a:p>
        </p:txBody>
      </p:sp>
      <p:sp>
        <p:nvSpPr>
          <p:cNvPr id="15" name="Shape 13"/>
          <p:cNvSpPr/>
          <p:nvPr/>
        </p:nvSpPr>
        <p:spPr>
          <a:xfrm>
            <a:off x="4251960" y="777240"/>
            <a:ext cx="3794760" cy="263347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16" name="Shape 14"/>
          <p:cNvSpPr/>
          <p:nvPr/>
        </p:nvSpPr>
        <p:spPr>
          <a:xfrm>
            <a:off x="4251960" y="777240"/>
            <a:ext cx="3794760" cy="475488"/>
          </a:xfrm>
          <a:prstGeom prst="rect">
            <a:avLst/>
          </a:prstGeom>
          <a:solidFill>
            <a:srgbClr val="B45309"/>
          </a:solidFill>
          <a:ln w="12700">
            <a:solidFill>
              <a:srgbClr val="B45309"/>
            </a:solidFill>
            <a:prstDash val="solid"/>
          </a:ln>
        </p:spPr>
      </p:sp>
      <p:sp>
        <p:nvSpPr>
          <p:cNvPr id="17" name="Shape 15"/>
          <p:cNvSpPr/>
          <p:nvPr/>
        </p:nvSpPr>
        <p:spPr>
          <a:xfrm>
            <a:off x="4325112" y="868680"/>
            <a:ext cx="320040" cy="292608"/>
          </a:xfrm>
          <a:prstGeom prst="rect">
            <a:avLst/>
          </a:prstGeom>
          <a:solidFill>
            <a:srgbClr val="FFFFFF"/>
          </a:solidFill>
          <a:ln w="12700">
            <a:solidFill>
              <a:srgbClr val="FFFFFF"/>
            </a:solidFill>
            <a:prstDash val="solid"/>
          </a:ln>
        </p:spPr>
      </p:sp>
      <p:sp>
        <p:nvSpPr>
          <p:cNvPr id="18" name="Text 16"/>
          <p:cNvSpPr/>
          <p:nvPr/>
        </p:nvSpPr>
        <p:spPr>
          <a:xfrm>
            <a:off x="4325112" y="868680"/>
            <a:ext cx="320040" cy="292608"/>
          </a:xfrm>
          <a:prstGeom prst="rect">
            <a:avLst/>
          </a:prstGeom>
          <a:noFill/>
          <a:ln/>
        </p:spPr>
        <p:txBody>
          <a:bodyPr wrap="square" lIns="0" tIns="0" rIns="0" bIns="0" rtlCol="0" anchor="ctr"/>
          <a:lstStyle/>
          <a:p>
            <a:pPr marL="0" indent="0" algn="ctr">
              <a:buNone/>
            </a:pPr>
            <a:r>
              <a:rPr lang="en-US" sz="800" b="1" dirty="0">
                <a:solidFill>
                  <a:srgbClr val="B45309"/>
                </a:solidFill>
                <a:latin typeface="Calibri" pitchFamily="34" charset="0"/>
                <a:ea typeface="Calibri" pitchFamily="34" charset="-122"/>
                <a:cs typeface="Calibri" pitchFamily="34" charset="-120"/>
              </a:rPr>
              <a:t>R2</a:t>
            </a:r>
            <a:endParaRPr lang="en-US" sz="800" dirty="0"/>
          </a:p>
        </p:txBody>
      </p:sp>
      <p:sp>
        <p:nvSpPr>
          <p:cNvPr id="19" name="Text 17"/>
          <p:cNvSpPr/>
          <p:nvPr/>
        </p:nvSpPr>
        <p:spPr>
          <a:xfrm>
            <a:off x="4727448" y="868680"/>
            <a:ext cx="32004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Win Back At-Risk</a:t>
            </a:r>
            <a:endParaRPr lang="en-US" sz="1100" dirty="0"/>
          </a:p>
        </p:txBody>
      </p:sp>
      <p:sp>
        <p:nvSpPr>
          <p:cNvPr id="20" name="Text 18"/>
          <p:cNvSpPr/>
          <p:nvPr/>
        </p:nvSpPr>
        <p:spPr>
          <a:xfrm>
            <a:off x="4343400" y="1325880"/>
            <a:ext cx="3566160" cy="237744"/>
          </a:xfrm>
          <a:prstGeom prst="rect">
            <a:avLst/>
          </a:prstGeom>
          <a:noFill/>
          <a:ln/>
        </p:spPr>
        <p:txBody>
          <a:bodyPr wrap="square" lIns="0" tIns="0" rIns="0" bIns="0" rtlCol="0" anchor="ctr"/>
          <a:lstStyle/>
          <a:p>
            <a:pPr marL="0" indent="0">
              <a:buNone/>
            </a:pPr>
            <a:r>
              <a:rPr lang="en-US" sz="1100" i="1" dirty="0">
                <a:solidFill>
                  <a:srgbClr val="B45309"/>
                </a:solidFill>
                <a:latin typeface="Calibri" pitchFamily="34" charset="0"/>
                <a:ea typeface="Calibri" pitchFamily="34" charset="-122"/>
                <a:cs typeface="Calibri" pitchFamily="34" charset="-120"/>
              </a:rPr>
              <a:t>Cluster 0 - Highest near-term ROI</a:t>
            </a:r>
            <a:endParaRPr lang="en-US" sz="1100" dirty="0"/>
          </a:p>
        </p:txBody>
      </p:sp>
      <p:sp>
        <p:nvSpPr>
          <p:cNvPr id="21" name="Text 19"/>
          <p:cNvSpPr/>
          <p:nvPr/>
        </p:nvSpPr>
        <p:spPr>
          <a:xfrm>
            <a:off x="4343400" y="1600200"/>
            <a:ext cx="3611880" cy="1691640"/>
          </a:xfrm>
          <a:prstGeom prst="rect">
            <a:avLst/>
          </a:prstGeom>
          <a:noFill/>
          <a:ln/>
        </p:spPr>
        <p:txBody>
          <a:bodyPr wrap="square" lIns="0" tIns="0" rIns="0" bIns="0" rtlCol="0" anchor="t"/>
          <a:lstStyle/>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Personalised outreach referencing past purchase categories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Time-limited trade incentives to create urgency</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Re-sample new arrivals aligned to historical motif preferences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Target accounts with historical spend &gt; $5,000 first</a:t>
            </a:r>
            <a:endParaRPr lang="en-US" sz="1100" dirty="0"/>
          </a:p>
        </p:txBody>
      </p:sp>
      <p:sp>
        <p:nvSpPr>
          <p:cNvPr id="22" name="Shape 20"/>
          <p:cNvSpPr/>
          <p:nvPr/>
        </p:nvSpPr>
        <p:spPr>
          <a:xfrm>
            <a:off x="8229600" y="777240"/>
            <a:ext cx="3794760" cy="263347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23" name="Shape 21"/>
          <p:cNvSpPr/>
          <p:nvPr/>
        </p:nvSpPr>
        <p:spPr>
          <a:xfrm>
            <a:off x="8229600" y="777240"/>
            <a:ext cx="3794760" cy="475488"/>
          </a:xfrm>
          <a:prstGeom prst="rect">
            <a:avLst/>
          </a:prstGeom>
          <a:solidFill>
            <a:srgbClr val="0B1C3F"/>
          </a:solidFill>
          <a:ln w="12700">
            <a:solidFill>
              <a:srgbClr val="0B1C3F"/>
            </a:solidFill>
            <a:prstDash val="solid"/>
          </a:ln>
        </p:spPr>
      </p:sp>
      <p:sp>
        <p:nvSpPr>
          <p:cNvPr id="24" name="Shape 22"/>
          <p:cNvSpPr/>
          <p:nvPr/>
        </p:nvSpPr>
        <p:spPr>
          <a:xfrm>
            <a:off x="8302752" y="868680"/>
            <a:ext cx="320040" cy="292608"/>
          </a:xfrm>
          <a:prstGeom prst="rect">
            <a:avLst/>
          </a:prstGeom>
          <a:solidFill>
            <a:srgbClr val="FFFFFF"/>
          </a:solidFill>
          <a:ln w="12700">
            <a:solidFill>
              <a:srgbClr val="FFFFFF"/>
            </a:solidFill>
            <a:prstDash val="solid"/>
          </a:ln>
        </p:spPr>
      </p:sp>
      <p:sp>
        <p:nvSpPr>
          <p:cNvPr id="25" name="Text 23"/>
          <p:cNvSpPr/>
          <p:nvPr/>
        </p:nvSpPr>
        <p:spPr>
          <a:xfrm>
            <a:off x="8302752" y="868680"/>
            <a:ext cx="320040" cy="292608"/>
          </a:xfrm>
          <a:prstGeom prst="rect">
            <a:avLst/>
          </a:prstGeom>
          <a:noFill/>
          <a:ln/>
        </p:spPr>
        <p:txBody>
          <a:bodyPr wrap="square" lIns="0" tIns="0" rIns="0" bIns="0" rtlCol="0" anchor="ctr"/>
          <a:lstStyle/>
          <a:p>
            <a:pPr marL="0" indent="0" algn="ctr">
              <a:buNone/>
            </a:pPr>
            <a:r>
              <a:rPr lang="en-US" sz="800" b="1" dirty="0">
                <a:solidFill>
                  <a:srgbClr val="0B1C3F"/>
                </a:solidFill>
                <a:latin typeface="Calibri" pitchFamily="34" charset="0"/>
                <a:ea typeface="Calibri" pitchFamily="34" charset="-122"/>
                <a:cs typeface="Calibri" pitchFamily="34" charset="-120"/>
              </a:rPr>
              <a:t>R3</a:t>
            </a:r>
            <a:endParaRPr lang="en-US" sz="800" dirty="0"/>
          </a:p>
        </p:txBody>
      </p:sp>
      <p:sp>
        <p:nvSpPr>
          <p:cNvPr id="26" name="Text 24"/>
          <p:cNvSpPr/>
          <p:nvPr/>
        </p:nvSpPr>
        <p:spPr>
          <a:xfrm>
            <a:off x="8705088" y="868680"/>
            <a:ext cx="32004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Activate Propensity Scores</a:t>
            </a:r>
            <a:endParaRPr lang="en-US" sz="1100" dirty="0"/>
          </a:p>
        </p:txBody>
      </p:sp>
      <p:sp>
        <p:nvSpPr>
          <p:cNvPr id="27" name="Text 25"/>
          <p:cNvSpPr/>
          <p:nvPr/>
        </p:nvSpPr>
        <p:spPr>
          <a:xfrm>
            <a:off x="8321040" y="1325880"/>
            <a:ext cx="3566160" cy="237744"/>
          </a:xfrm>
          <a:prstGeom prst="rect">
            <a:avLst/>
          </a:prstGeom>
          <a:noFill/>
          <a:ln/>
        </p:spPr>
        <p:txBody>
          <a:bodyPr wrap="square" lIns="0" tIns="0" rIns="0" bIns="0" rtlCol="0" anchor="ctr"/>
          <a:lstStyle/>
          <a:p>
            <a:pPr marL="0" indent="0">
              <a:buNone/>
            </a:pPr>
            <a:r>
              <a:rPr lang="en-US" sz="1100" i="1" dirty="0" err="1">
                <a:solidFill>
                  <a:srgbClr val="0B1C3F"/>
                </a:solidFill>
                <a:latin typeface="Calibri" pitchFamily="34" charset="0"/>
                <a:ea typeface="Calibri" pitchFamily="34" charset="-122"/>
                <a:cs typeface="Calibri" pitchFamily="34" charset="-120"/>
              </a:rPr>
              <a:t>XGBoost</a:t>
            </a:r>
            <a:r>
              <a:rPr lang="en-US" sz="1100" i="1" dirty="0">
                <a:solidFill>
                  <a:srgbClr val="0B1C3F"/>
                </a:solidFill>
                <a:latin typeface="Calibri" pitchFamily="34" charset="0"/>
                <a:ea typeface="Calibri" pitchFamily="34" charset="-122"/>
                <a:cs typeface="Calibri" pitchFamily="34" charset="-120"/>
              </a:rPr>
              <a:t> - AUCPR 0.926</a:t>
            </a:r>
            <a:endParaRPr lang="en-US" sz="1100" dirty="0"/>
          </a:p>
        </p:txBody>
      </p:sp>
      <p:sp>
        <p:nvSpPr>
          <p:cNvPr id="28" name="Text 26"/>
          <p:cNvSpPr/>
          <p:nvPr/>
        </p:nvSpPr>
        <p:spPr>
          <a:xfrm>
            <a:off x="8321040" y="1600200"/>
            <a:ext cx="3611880" cy="1691640"/>
          </a:xfrm>
          <a:prstGeom prst="rect">
            <a:avLst/>
          </a:prstGeom>
          <a:noFill/>
          <a:ln/>
        </p:spPr>
        <p:txBody>
          <a:bodyPr wrap="square" lIns="0" tIns="0" rIns="0" bIns="0" rtlCol="0" anchor="t"/>
          <a:lstStyle/>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Deploy Model 1 tiers as CRM workflow triggers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Daily-refresh Model 2 hot list for sales calls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10–15% projected improvement in conversion efficiency</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Resolve avg_item_price leakage before production push</a:t>
            </a:r>
            <a:endParaRPr lang="en-US" sz="1100" dirty="0"/>
          </a:p>
        </p:txBody>
      </p:sp>
      <p:sp>
        <p:nvSpPr>
          <p:cNvPr id="29" name="Shape 27"/>
          <p:cNvSpPr/>
          <p:nvPr/>
        </p:nvSpPr>
        <p:spPr>
          <a:xfrm>
            <a:off x="274320" y="3566160"/>
            <a:ext cx="3794760" cy="263347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30" name="Shape 28"/>
          <p:cNvSpPr/>
          <p:nvPr/>
        </p:nvSpPr>
        <p:spPr>
          <a:xfrm>
            <a:off x="274320" y="3566160"/>
            <a:ext cx="3794760" cy="475488"/>
          </a:xfrm>
          <a:prstGeom prst="rect">
            <a:avLst/>
          </a:prstGeom>
          <a:solidFill>
            <a:srgbClr val="1D4ED8"/>
          </a:solidFill>
          <a:ln w="12700">
            <a:solidFill>
              <a:srgbClr val="1D4ED8"/>
            </a:solidFill>
            <a:prstDash val="solid"/>
          </a:ln>
        </p:spPr>
      </p:sp>
      <p:sp>
        <p:nvSpPr>
          <p:cNvPr id="31" name="Shape 29"/>
          <p:cNvSpPr/>
          <p:nvPr/>
        </p:nvSpPr>
        <p:spPr>
          <a:xfrm>
            <a:off x="347472" y="3657600"/>
            <a:ext cx="320040" cy="292608"/>
          </a:xfrm>
          <a:prstGeom prst="rect">
            <a:avLst/>
          </a:prstGeom>
          <a:solidFill>
            <a:srgbClr val="FFFFFF"/>
          </a:solidFill>
          <a:ln w="12700">
            <a:solidFill>
              <a:srgbClr val="FFFFFF"/>
            </a:solidFill>
            <a:prstDash val="solid"/>
          </a:ln>
        </p:spPr>
      </p:sp>
      <p:sp>
        <p:nvSpPr>
          <p:cNvPr id="32" name="Text 30"/>
          <p:cNvSpPr/>
          <p:nvPr/>
        </p:nvSpPr>
        <p:spPr>
          <a:xfrm>
            <a:off x="347472" y="3657600"/>
            <a:ext cx="320040" cy="292608"/>
          </a:xfrm>
          <a:prstGeom prst="rect">
            <a:avLst/>
          </a:prstGeom>
          <a:noFill/>
          <a:ln/>
        </p:spPr>
        <p:txBody>
          <a:bodyPr wrap="square" lIns="0" tIns="0" rIns="0" bIns="0" rtlCol="0" anchor="ctr"/>
          <a:lstStyle/>
          <a:p>
            <a:pPr marL="0" indent="0" algn="ctr">
              <a:buNone/>
            </a:pPr>
            <a:r>
              <a:rPr lang="en-US" sz="800" b="1" dirty="0">
                <a:solidFill>
                  <a:srgbClr val="1D4ED8"/>
                </a:solidFill>
                <a:latin typeface="Calibri" pitchFamily="34" charset="0"/>
                <a:ea typeface="Calibri" pitchFamily="34" charset="-122"/>
                <a:cs typeface="Calibri" pitchFamily="34" charset="-120"/>
              </a:rPr>
              <a:t>R4</a:t>
            </a:r>
            <a:endParaRPr lang="en-US" sz="800" dirty="0"/>
          </a:p>
        </p:txBody>
      </p:sp>
      <p:sp>
        <p:nvSpPr>
          <p:cNvPr id="33" name="Text 31"/>
          <p:cNvSpPr/>
          <p:nvPr/>
        </p:nvSpPr>
        <p:spPr>
          <a:xfrm>
            <a:off x="749808" y="3657600"/>
            <a:ext cx="32004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Affinity Merchandising</a:t>
            </a:r>
            <a:endParaRPr lang="en-US" sz="1100" dirty="0"/>
          </a:p>
        </p:txBody>
      </p:sp>
      <p:sp>
        <p:nvSpPr>
          <p:cNvPr id="34" name="Text 32"/>
          <p:cNvSpPr/>
          <p:nvPr/>
        </p:nvSpPr>
        <p:spPr>
          <a:xfrm>
            <a:off x="365760" y="4114800"/>
            <a:ext cx="3566160" cy="237744"/>
          </a:xfrm>
          <a:prstGeom prst="rect">
            <a:avLst/>
          </a:prstGeom>
          <a:noFill/>
          <a:ln/>
        </p:spPr>
        <p:txBody>
          <a:bodyPr wrap="square" lIns="0" tIns="0" rIns="0" bIns="0" rtlCol="0" anchor="ctr"/>
          <a:lstStyle/>
          <a:p>
            <a:pPr marL="0" indent="0">
              <a:buNone/>
            </a:pPr>
            <a:r>
              <a:rPr lang="en-US" sz="1100" i="1" dirty="0">
                <a:solidFill>
                  <a:srgbClr val="1D4ED8"/>
                </a:solidFill>
                <a:latin typeface="Calibri" pitchFamily="34" charset="0"/>
                <a:ea typeface="Calibri" pitchFamily="34" charset="-122"/>
                <a:cs typeface="Calibri" pitchFamily="34" charset="-120"/>
              </a:rPr>
              <a:t>Product Intelligence - $100–$250 Zone</a:t>
            </a:r>
            <a:endParaRPr lang="en-US" sz="1100" dirty="0"/>
          </a:p>
        </p:txBody>
      </p:sp>
      <p:sp>
        <p:nvSpPr>
          <p:cNvPr id="35" name="Text 33"/>
          <p:cNvSpPr/>
          <p:nvPr/>
        </p:nvSpPr>
        <p:spPr>
          <a:xfrm>
            <a:off x="365760" y="4389120"/>
            <a:ext cx="3611880" cy="1691640"/>
          </a:xfrm>
          <a:prstGeom prst="rect">
            <a:avLst/>
          </a:prstGeom>
          <a:noFill/>
          <a:ln/>
        </p:spPr>
        <p:txBody>
          <a:bodyPr wrap="square" lIns="0" tIns="0" rIns="0" bIns="0" rtlCol="0" anchor="t"/>
          <a:lstStyle/>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'Complete the Look' recommendations on product PDPs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Focus sample programme budget in the Goldilocks Zone</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Pre-packed sample kits based on affinity correlation pairs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Separate Fabrics / Wallcovering funnels (−0.69 correlation</a:t>
            </a:r>
            <a:r>
              <a:rPr lang="en-US" sz="900" dirty="0">
                <a:solidFill>
                  <a:srgbClr val="2B2B2B"/>
                </a:solidFill>
                <a:latin typeface="Calibri" pitchFamily="34" charset="0"/>
                <a:ea typeface="Calibri" pitchFamily="34" charset="-122"/>
                <a:cs typeface="Calibri" pitchFamily="34" charset="-120"/>
              </a:rPr>
              <a:t>)</a:t>
            </a:r>
            <a:endParaRPr lang="en-US" sz="900" dirty="0"/>
          </a:p>
        </p:txBody>
      </p:sp>
      <p:sp>
        <p:nvSpPr>
          <p:cNvPr id="36" name="Shape 34"/>
          <p:cNvSpPr/>
          <p:nvPr/>
        </p:nvSpPr>
        <p:spPr>
          <a:xfrm>
            <a:off x="4251960" y="3566160"/>
            <a:ext cx="3794760" cy="263347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37" name="Shape 35"/>
          <p:cNvSpPr/>
          <p:nvPr/>
        </p:nvSpPr>
        <p:spPr>
          <a:xfrm>
            <a:off x="4251960" y="3566160"/>
            <a:ext cx="3794760" cy="475488"/>
          </a:xfrm>
          <a:prstGeom prst="rect">
            <a:avLst/>
          </a:prstGeom>
          <a:solidFill>
            <a:srgbClr val="065A82"/>
          </a:solidFill>
          <a:ln w="12700">
            <a:solidFill>
              <a:srgbClr val="065A82"/>
            </a:solidFill>
            <a:prstDash val="solid"/>
          </a:ln>
        </p:spPr>
      </p:sp>
      <p:sp>
        <p:nvSpPr>
          <p:cNvPr id="38" name="Shape 36"/>
          <p:cNvSpPr/>
          <p:nvPr/>
        </p:nvSpPr>
        <p:spPr>
          <a:xfrm>
            <a:off x="4325112" y="3657600"/>
            <a:ext cx="320040" cy="292608"/>
          </a:xfrm>
          <a:prstGeom prst="rect">
            <a:avLst/>
          </a:prstGeom>
          <a:solidFill>
            <a:srgbClr val="FFFFFF"/>
          </a:solidFill>
          <a:ln w="12700">
            <a:solidFill>
              <a:srgbClr val="FFFFFF"/>
            </a:solidFill>
            <a:prstDash val="solid"/>
          </a:ln>
        </p:spPr>
      </p:sp>
      <p:sp>
        <p:nvSpPr>
          <p:cNvPr id="39" name="Text 37"/>
          <p:cNvSpPr/>
          <p:nvPr/>
        </p:nvSpPr>
        <p:spPr>
          <a:xfrm>
            <a:off x="4325112" y="3657600"/>
            <a:ext cx="320040" cy="292608"/>
          </a:xfrm>
          <a:prstGeom prst="rect">
            <a:avLst/>
          </a:prstGeom>
          <a:noFill/>
          <a:ln/>
        </p:spPr>
        <p:txBody>
          <a:bodyPr wrap="square" lIns="0" tIns="0" rIns="0" bIns="0" rtlCol="0" anchor="ctr"/>
          <a:lstStyle/>
          <a:p>
            <a:pPr marL="0" indent="0" algn="ctr">
              <a:buNone/>
            </a:pPr>
            <a:r>
              <a:rPr lang="en-US" sz="800" b="1" dirty="0">
                <a:solidFill>
                  <a:srgbClr val="065A82"/>
                </a:solidFill>
                <a:latin typeface="Calibri" pitchFamily="34" charset="0"/>
                <a:ea typeface="Calibri" pitchFamily="34" charset="-122"/>
                <a:cs typeface="Calibri" pitchFamily="34" charset="-120"/>
              </a:rPr>
              <a:t>R5</a:t>
            </a:r>
            <a:endParaRPr lang="en-US" sz="800" dirty="0"/>
          </a:p>
        </p:txBody>
      </p:sp>
      <p:sp>
        <p:nvSpPr>
          <p:cNvPr id="40" name="Text 38"/>
          <p:cNvSpPr/>
          <p:nvPr/>
        </p:nvSpPr>
        <p:spPr>
          <a:xfrm>
            <a:off x="4727448" y="3657600"/>
            <a:ext cx="32004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Regional Reallocation</a:t>
            </a:r>
            <a:endParaRPr lang="en-US" sz="1100" dirty="0"/>
          </a:p>
        </p:txBody>
      </p:sp>
      <p:sp>
        <p:nvSpPr>
          <p:cNvPr id="41" name="Text 39"/>
          <p:cNvSpPr/>
          <p:nvPr/>
        </p:nvSpPr>
        <p:spPr>
          <a:xfrm>
            <a:off x="4343400" y="4114800"/>
            <a:ext cx="3566160" cy="237744"/>
          </a:xfrm>
          <a:prstGeom prst="rect">
            <a:avLst/>
          </a:prstGeom>
          <a:noFill/>
          <a:ln/>
        </p:spPr>
        <p:txBody>
          <a:bodyPr wrap="square" lIns="0" tIns="0" rIns="0" bIns="0" rtlCol="0" anchor="ctr"/>
          <a:lstStyle/>
          <a:p>
            <a:pPr marL="0" indent="0">
              <a:buNone/>
            </a:pPr>
            <a:r>
              <a:rPr lang="en-US" sz="1100" i="1" dirty="0">
                <a:solidFill>
                  <a:srgbClr val="065A82"/>
                </a:solidFill>
                <a:latin typeface="Calibri" pitchFamily="34" charset="0"/>
                <a:ea typeface="Calibri" pitchFamily="34" charset="-122"/>
                <a:cs typeface="Calibri" pitchFamily="34" charset="-120"/>
              </a:rPr>
              <a:t>High-Velocity vs. Low-Velocity Territories</a:t>
            </a:r>
            <a:endParaRPr lang="en-US" sz="1100" dirty="0"/>
          </a:p>
        </p:txBody>
      </p:sp>
      <p:sp>
        <p:nvSpPr>
          <p:cNvPr id="42" name="Text 40"/>
          <p:cNvSpPr/>
          <p:nvPr/>
        </p:nvSpPr>
        <p:spPr>
          <a:xfrm>
            <a:off x="4343400" y="4389120"/>
            <a:ext cx="3611880" cy="1691640"/>
          </a:xfrm>
          <a:prstGeom prst="rect">
            <a:avLst/>
          </a:prstGeom>
          <a:noFill/>
          <a:ln/>
        </p:spPr>
        <p:txBody>
          <a:bodyPr wrap="square" lIns="0" tIns="0" rIns="0" bIns="0" rtlCol="0" anchor="t"/>
          <a:lstStyle/>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Power BI real-time conversion velocity dashboard</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Redirect spend: Low-Velocity → High-Velocity regions</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Gulf Coast &amp; Heartland prioritised for rep headcount</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Pacific Northwest / Southwest: digital-first strategy</a:t>
            </a:r>
            <a:endParaRPr lang="en-US" sz="1100" dirty="0"/>
          </a:p>
        </p:txBody>
      </p:sp>
      <p:sp>
        <p:nvSpPr>
          <p:cNvPr id="43" name="Shape 41"/>
          <p:cNvSpPr/>
          <p:nvPr/>
        </p:nvSpPr>
        <p:spPr>
          <a:xfrm>
            <a:off x="8229600" y="3566160"/>
            <a:ext cx="3794760" cy="2633472"/>
          </a:xfrm>
          <a:prstGeom prst="rect">
            <a:avLst/>
          </a:prstGeom>
          <a:solidFill>
            <a:srgbClr val="FFFFFF"/>
          </a:solidFill>
          <a:ln w="6350">
            <a:solidFill>
              <a:srgbClr val="E8EDF4"/>
            </a:solidFill>
            <a:prstDash val="solid"/>
          </a:ln>
          <a:effectLst>
            <a:outerShdw blurRad="101600" dist="38100" dir="8100000" algn="bl" rotWithShape="0">
              <a:srgbClr val="000000">
                <a:alpha val="12000"/>
              </a:srgbClr>
            </a:outerShdw>
          </a:effectLst>
        </p:spPr>
      </p:sp>
      <p:sp>
        <p:nvSpPr>
          <p:cNvPr id="44" name="Shape 42"/>
          <p:cNvSpPr/>
          <p:nvPr/>
        </p:nvSpPr>
        <p:spPr>
          <a:xfrm>
            <a:off x="8229600" y="3566160"/>
            <a:ext cx="3794760" cy="475488"/>
          </a:xfrm>
          <a:prstGeom prst="rect">
            <a:avLst/>
          </a:prstGeom>
          <a:solidFill>
            <a:srgbClr val="7C2D12"/>
          </a:solidFill>
          <a:ln w="12700">
            <a:solidFill>
              <a:srgbClr val="7C2D12"/>
            </a:solidFill>
            <a:prstDash val="solid"/>
          </a:ln>
        </p:spPr>
      </p:sp>
      <p:sp>
        <p:nvSpPr>
          <p:cNvPr id="45" name="Shape 43"/>
          <p:cNvSpPr/>
          <p:nvPr/>
        </p:nvSpPr>
        <p:spPr>
          <a:xfrm>
            <a:off x="8302752" y="3657600"/>
            <a:ext cx="320040" cy="292608"/>
          </a:xfrm>
          <a:prstGeom prst="rect">
            <a:avLst/>
          </a:prstGeom>
          <a:solidFill>
            <a:srgbClr val="FFFFFF"/>
          </a:solidFill>
          <a:ln w="12700">
            <a:solidFill>
              <a:srgbClr val="FFFFFF"/>
            </a:solidFill>
            <a:prstDash val="solid"/>
          </a:ln>
        </p:spPr>
      </p:sp>
      <p:sp>
        <p:nvSpPr>
          <p:cNvPr id="46" name="Text 44"/>
          <p:cNvSpPr/>
          <p:nvPr/>
        </p:nvSpPr>
        <p:spPr>
          <a:xfrm>
            <a:off x="8302752" y="3657600"/>
            <a:ext cx="320040" cy="292608"/>
          </a:xfrm>
          <a:prstGeom prst="rect">
            <a:avLst/>
          </a:prstGeom>
          <a:noFill/>
          <a:ln/>
        </p:spPr>
        <p:txBody>
          <a:bodyPr wrap="square" lIns="0" tIns="0" rIns="0" bIns="0" rtlCol="0" anchor="ctr"/>
          <a:lstStyle/>
          <a:p>
            <a:pPr marL="0" indent="0" algn="ctr">
              <a:buNone/>
            </a:pPr>
            <a:r>
              <a:rPr lang="en-US" sz="800" b="1" dirty="0">
                <a:solidFill>
                  <a:srgbClr val="7C2D12"/>
                </a:solidFill>
                <a:latin typeface="Calibri" pitchFamily="34" charset="0"/>
                <a:ea typeface="Calibri" pitchFamily="34" charset="-122"/>
                <a:cs typeface="Calibri" pitchFamily="34" charset="-120"/>
              </a:rPr>
              <a:t>R6</a:t>
            </a:r>
            <a:endParaRPr lang="en-US" sz="800" dirty="0"/>
          </a:p>
        </p:txBody>
      </p:sp>
      <p:sp>
        <p:nvSpPr>
          <p:cNvPr id="47" name="Text 45"/>
          <p:cNvSpPr/>
          <p:nvPr/>
        </p:nvSpPr>
        <p:spPr>
          <a:xfrm>
            <a:off x="8705088" y="3657600"/>
            <a:ext cx="3200400" cy="2743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Future AI Roadmap</a:t>
            </a:r>
            <a:endParaRPr lang="en-US" sz="1100" dirty="0"/>
          </a:p>
        </p:txBody>
      </p:sp>
      <p:sp>
        <p:nvSpPr>
          <p:cNvPr id="48" name="Text 46"/>
          <p:cNvSpPr/>
          <p:nvPr/>
        </p:nvSpPr>
        <p:spPr>
          <a:xfrm>
            <a:off x="8321040" y="4114800"/>
            <a:ext cx="3566160" cy="237744"/>
          </a:xfrm>
          <a:prstGeom prst="rect">
            <a:avLst/>
          </a:prstGeom>
          <a:noFill/>
          <a:ln/>
        </p:spPr>
        <p:txBody>
          <a:bodyPr wrap="square" lIns="0" tIns="0" rIns="0" bIns="0" rtlCol="0" anchor="ctr"/>
          <a:lstStyle/>
          <a:p>
            <a:pPr marL="0" indent="0">
              <a:buNone/>
            </a:pPr>
            <a:r>
              <a:rPr lang="en-US" sz="1100" i="1" dirty="0">
                <a:solidFill>
                  <a:srgbClr val="7C2D12"/>
                </a:solidFill>
                <a:latin typeface="Calibri" pitchFamily="34" charset="0"/>
                <a:ea typeface="Calibri" pitchFamily="34" charset="-122"/>
                <a:cs typeface="Calibri" pitchFamily="34" charset="-120"/>
              </a:rPr>
              <a:t>CLIP + TFT + RLHF</a:t>
            </a:r>
            <a:endParaRPr lang="en-US" sz="1100" dirty="0"/>
          </a:p>
        </p:txBody>
      </p:sp>
      <p:sp>
        <p:nvSpPr>
          <p:cNvPr id="49" name="Text 47"/>
          <p:cNvSpPr/>
          <p:nvPr/>
        </p:nvSpPr>
        <p:spPr>
          <a:xfrm>
            <a:off x="8321040" y="4389120"/>
            <a:ext cx="3611880" cy="1691640"/>
          </a:xfrm>
          <a:prstGeom prst="rect">
            <a:avLst/>
          </a:prstGeom>
          <a:noFill/>
          <a:ln/>
        </p:spPr>
        <p:txBody>
          <a:bodyPr wrap="square" lIns="0" tIns="0" rIns="0" bIns="0" rtlCol="0" anchor="t"/>
          <a:lstStyle/>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CLIP fine-tuning on Schumacher catalogue for visual search</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Temporal Fusion Transformers for demand forecasting</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RLHF feedback loop (click → sample → sale) for rec engine</a:t>
            </a:r>
            <a:endParaRPr lang="en-US" sz="1100" dirty="0"/>
          </a:p>
          <a:p>
            <a:pPr marL="342900" indent="-342900">
              <a:buSzPct val="100000"/>
              <a:buChar char="•"/>
            </a:pPr>
            <a:r>
              <a:rPr lang="en-US" sz="1100" dirty="0">
                <a:solidFill>
                  <a:srgbClr val="2B2B2B"/>
                </a:solidFill>
                <a:latin typeface="Calibri" pitchFamily="34" charset="0"/>
                <a:ea typeface="Calibri" pitchFamily="34" charset="-122"/>
                <a:cs typeface="Calibri" pitchFamily="34" charset="-120"/>
              </a:rPr>
              <a:t>ChromaDB / Pinecone HNSW for sub-millisecond vector search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C3F"/>
        </a:solidFill>
        <a:effectLst/>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C9A84C"/>
          </a:solidFill>
          <a:ln w="12700">
            <a:solidFill>
              <a:srgbClr val="C9A84C"/>
            </a:solidFill>
            <a:prstDash val="solid"/>
          </a:ln>
        </p:spPr>
      </p:sp>
      <p:sp>
        <p:nvSpPr>
          <p:cNvPr id="3" name="Shape 1"/>
          <p:cNvSpPr/>
          <p:nvPr/>
        </p:nvSpPr>
        <p:spPr>
          <a:xfrm>
            <a:off x="7863840" y="0"/>
            <a:ext cx="4297680" cy="6858000"/>
          </a:xfrm>
          <a:prstGeom prst="rect">
            <a:avLst/>
          </a:prstGeom>
          <a:solidFill>
            <a:srgbClr val="0F2855"/>
          </a:solidFill>
          <a:ln w="12700">
            <a:solidFill>
              <a:srgbClr val="0F2855"/>
            </a:solidFill>
            <a:prstDash val="solid"/>
          </a:ln>
        </p:spPr>
      </p:sp>
      <p:pic>
        <p:nvPicPr>
          <p:cNvPr id="4" name="Image 0" descr="preencoded.png"/>
          <p:cNvPicPr>
            <a:picLocks noChangeAspect="1"/>
          </p:cNvPicPr>
          <p:nvPr/>
        </p:nvPicPr>
        <p:blipFill>
          <a:blip r:embed="rId3"/>
          <a:stretch>
            <a:fillRect/>
          </a:stretch>
        </p:blipFill>
        <p:spPr>
          <a:xfrm>
            <a:off x="9158522" y="980021"/>
            <a:ext cx="1708315" cy="1708315"/>
          </a:xfrm>
          <a:prstGeom prst="ellipse">
            <a:avLst/>
          </a:prstGeom>
        </p:spPr>
      </p:pic>
      <p:sp>
        <p:nvSpPr>
          <p:cNvPr id="5" name="Text 2"/>
          <p:cNvSpPr/>
          <p:nvPr/>
        </p:nvSpPr>
        <p:spPr>
          <a:xfrm>
            <a:off x="865273" y="1207277"/>
            <a:ext cx="7333129" cy="1005840"/>
          </a:xfrm>
          <a:prstGeom prst="rect">
            <a:avLst/>
          </a:prstGeom>
          <a:noFill/>
          <a:ln/>
        </p:spPr>
        <p:txBody>
          <a:bodyPr wrap="square" lIns="0" tIns="0" rIns="0" bIns="0" rtlCol="0" anchor="ctr"/>
          <a:lstStyle/>
          <a:p>
            <a:pPr marL="0" indent="0">
              <a:buNone/>
            </a:pPr>
            <a:r>
              <a:rPr lang="en-US" sz="5800" b="1" kern="0" spc="800" dirty="0">
                <a:solidFill>
                  <a:srgbClr val="FFFFFF"/>
                </a:solidFill>
                <a:latin typeface="Calibri" pitchFamily="34" charset="0"/>
                <a:ea typeface="Calibri" pitchFamily="34" charset="-122"/>
                <a:cs typeface="Calibri" pitchFamily="34" charset="-120"/>
              </a:rPr>
              <a:t>THANK YOU</a:t>
            </a:r>
            <a:endParaRPr lang="en-US" sz="5800" dirty="0"/>
          </a:p>
        </p:txBody>
      </p:sp>
      <p:sp>
        <p:nvSpPr>
          <p:cNvPr id="6" name="Shape 3"/>
          <p:cNvSpPr/>
          <p:nvPr/>
        </p:nvSpPr>
        <p:spPr>
          <a:xfrm>
            <a:off x="914400" y="2176272"/>
            <a:ext cx="5029200" cy="45720"/>
          </a:xfrm>
          <a:prstGeom prst="rect">
            <a:avLst/>
          </a:prstGeom>
          <a:solidFill>
            <a:srgbClr val="C9A84C"/>
          </a:solidFill>
          <a:ln w="12700">
            <a:solidFill>
              <a:srgbClr val="C9A84C"/>
            </a:solidFill>
            <a:prstDash val="solid"/>
          </a:ln>
        </p:spPr>
      </p:sp>
      <p:sp>
        <p:nvSpPr>
          <p:cNvPr id="7" name="Text 4"/>
          <p:cNvSpPr/>
          <p:nvPr/>
        </p:nvSpPr>
        <p:spPr>
          <a:xfrm>
            <a:off x="914400" y="2304288"/>
            <a:ext cx="7315200" cy="384048"/>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LuxeIntelligence — F. Schumacher &amp; Co. Trade Analytics 2025</a:t>
            </a:r>
            <a:endParaRPr lang="en-US" sz="1500" dirty="0"/>
          </a:p>
        </p:txBody>
      </p:sp>
      <p:sp>
        <p:nvSpPr>
          <p:cNvPr id="8" name="Shape 5"/>
          <p:cNvSpPr/>
          <p:nvPr/>
        </p:nvSpPr>
        <p:spPr>
          <a:xfrm>
            <a:off x="914400" y="2926080"/>
            <a:ext cx="2011680" cy="1051560"/>
          </a:xfrm>
          <a:prstGeom prst="rect">
            <a:avLst/>
          </a:prstGeom>
          <a:solidFill>
            <a:srgbClr val="132445"/>
          </a:solidFill>
          <a:ln w="7620">
            <a:solidFill>
              <a:srgbClr val="C9A84C"/>
            </a:solidFill>
            <a:prstDash val="solid"/>
          </a:ln>
        </p:spPr>
      </p:sp>
      <p:sp>
        <p:nvSpPr>
          <p:cNvPr id="9" name="Text 6"/>
          <p:cNvSpPr/>
          <p:nvPr/>
        </p:nvSpPr>
        <p:spPr>
          <a:xfrm>
            <a:off x="914400" y="3017520"/>
            <a:ext cx="2011680" cy="457200"/>
          </a:xfrm>
          <a:prstGeom prst="rect">
            <a:avLst/>
          </a:prstGeom>
          <a:noFill/>
          <a:ln/>
        </p:spPr>
        <p:txBody>
          <a:bodyPr wrap="square" lIns="0" tIns="0" rIns="0" bIns="0" rtlCol="0" anchor="ctr"/>
          <a:lstStyle/>
          <a:p>
            <a:pPr marL="0" indent="0" algn="ctr">
              <a:buNone/>
            </a:pPr>
            <a:r>
              <a:rPr lang="en-US" sz="2200" b="1" dirty="0">
                <a:solidFill>
                  <a:srgbClr val="C9A84C"/>
                </a:solidFill>
                <a:latin typeface="Calibri" pitchFamily="34" charset="0"/>
                <a:ea typeface="Calibri" pitchFamily="34" charset="-122"/>
                <a:cs typeface="Calibri" pitchFamily="34" charset="-120"/>
              </a:rPr>
              <a:t>1,983,549</a:t>
            </a:r>
            <a:endParaRPr lang="en-US" sz="2200" dirty="0"/>
          </a:p>
        </p:txBody>
      </p:sp>
      <p:sp>
        <p:nvSpPr>
          <p:cNvPr id="10" name="Text 7"/>
          <p:cNvSpPr/>
          <p:nvPr/>
        </p:nvSpPr>
        <p:spPr>
          <a:xfrm>
            <a:off x="914400" y="3493008"/>
            <a:ext cx="2011680" cy="365760"/>
          </a:xfrm>
          <a:prstGeom prst="rect">
            <a:avLst/>
          </a:prstGeom>
          <a:noFill/>
          <a:ln/>
        </p:spPr>
        <p:txBody>
          <a:bodyPr wrap="square" lIns="0" tIns="0" rIns="0" bIns="0" rtlCol="0" anchor="ctr"/>
          <a:lstStyle/>
          <a:p>
            <a:pPr marL="0" indent="0" algn="ctr">
              <a:buNone/>
            </a:pPr>
            <a:r>
              <a:rPr lang="en-US" sz="850" dirty="0">
                <a:solidFill>
                  <a:srgbClr val="CADCFC"/>
                </a:solidFill>
                <a:latin typeface="Calibri" pitchFamily="34" charset="0"/>
                <a:ea typeface="Calibri" pitchFamily="34" charset="-122"/>
                <a:cs typeface="Calibri" pitchFamily="34" charset="-120"/>
              </a:rPr>
              <a:t>Transactions Analysed</a:t>
            </a:r>
            <a:endParaRPr lang="en-US" sz="850" dirty="0"/>
          </a:p>
        </p:txBody>
      </p:sp>
      <p:sp>
        <p:nvSpPr>
          <p:cNvPr id="11" name="Shape 8"/>
          <p:cNvSpPr/>
          <p:nvPr/>
        </p:nvSpPr>
        <p:spPr>
          <a:xfrm>
            <a:off x="3108960" y="2926080"/>
            <a:ext cx="2011680" cy="1051560"/>
          </a:xfrm>
          <a:prstGeom prst="rect">
            <a:avLst/>
          </a:prstGeom>
          <a:solidFill>
            <a:srgbClr val="132445"/>
          </a:solidFill>
          <a:ln w="7620">
            <a:solidFill>
              <a:srgbClr val="C9A84C"/>
            </a:solidFill>
            <a:prstDash val="solid"/>
          </a:ln>
        </p:spPr>
      </p:sp>
      <p:sp>
        <p:nvSpPr>
          <p:cNvPr id="12" name="Text 9"/>
          <p:cNvSpPr/>
          <p:nvPr/>
        </p:nvSpPr>
        <p:spPr>
          <a:xfrm>
            <a:off x="3108960" y="3017520"/>
            <a:ext cx="2011680" cy="457200"/>
          </a:xfrm>
          <a:prstGeom prst="rect">
            <a:avLst/>
          </a:prstGeom>
          <a:noFill/>
          <a:ln/>
        </p:spPr>
        <p:txBody>
          <a:bodyPr wrap="square" lIns="0" tIns="0" rIns="0" bIns="0" rtlCol="0" anchor="ctr"/>
          <a:lstStyle/>
          <a:p>
            <a:pPr marL="0" indent="0" algn="ctr">
              <a:buNone/>
            </a:pPr>
            <a:r>
              <a:rPr lang="en-US" sz="2200" b="1" dirty="0">
                <a:solidFill>
                  <a:srgbClr val="C9A84C"/>
                </a:solidFill>
                <a:latin typeface="Calibri" pitchFamily="34" charset="0"/>
                <a:ea typeface="Calibri" pitchFamily="34" charset="-122"/>
                <a:cs typeface="Calibri" pitchFamily="34" charset="-120"/>
              </a:rPr>
              <a:t>27,374</a:t>
            </a:r>
            <a:endParaRPr lang="en-US" sz="2200" dirty="0"/>
          </a:p>
        </p:txBody>
      </p:sp>
      <p:sp>
        <p:nvSpPr>
          <p:cNvPr id="13" name="Text 10"/>
          <p:cNvSpPr/>
          <p:nvPr/>
        </p:nvSpPr>
        <p:spPr>
          <a:xfrm>
            <a:off x="3108960" y="3493008"/>
            <a:ext cx="2011680" cy="365760"/>
          </a:xfrm>
          <a:prstGeom prst="rect">
            <a:avLst/>
          </a:prstGeom>
          <a:noFill/>
          <a:ln/>
        </p:spPr>
        <p:txBody>
          <a:bodyPr wrap="square" lIns="0" tIns="0" rIns="0" bIns="0" rtlCol="0" anchor="ctr"/>
          <a:lstStyle/>
          <a:p>
            <a:pPr marL="0" indent="0" algn="ctr">
              <a:buNone/>
            </a:pPr>
            <a:r>
              <a:rPr lang="en-US" sz="850" dirty="0">
                <a:solidFill>
                  <a:srgbClr val="CADCFC"/>
                </a:solidFill>
                <a:latin typeface="Calibri" pitchFamily="34" charset="0"/>
                <a:ea typeface="Calibri" pitchFamily="34" charset="-122"/>
                <a:cs typeface="Calibri" pitchFamily="34" charset="-120"/>
              </a:rPr>
              <a:t>Trade Accounts Profiled</a:t>
            </a:r>
            <a:endParaRPr lang="en-US" sz="850" dirty="0"/>
          </a:p>
        </p:txBody>
      </p:sp>
      <p:sp>
        <p:nvSpPr>
          <p:cNvPr id="14" name="Shape 11"/>
          <p:cNvSpPr/>
          <p:nvPr/>
        </p:nvSpPr>
        <p:spPr>
          <a:xfrm>
            <a:off x="5303520" y="2926080"/>
            <a:ext cx="2011680" cy="1051560"/>
          </a:xfrm>
          <a:prstGeom prst="rect">
            <a:avLst/>
          </a:prstGeom>
          <a:solidFill>
            <a:srgbClr val="132445"/>
          </a:solidFill>
          <a:ln w="7620">
            <a:solidFill>
              <a:srgbClr val="C9A84C"/>
            </a:solidFill>
            <a:prstDash val="solid"/>
          </a:ln>
        </p:spPr>
      </p:sp>
      <p:sp>
        <p:nvSpPr>
          <p:cNvPr id="15" name="Text 12"/>
          <p:cNvSpPr/>
          <p:nvPr/>
        </p:nvSpPr>
        <p:spPr>
          <a:xfrm>
            <a:off x="5303520" y="3017520"/>
            <a:ext cx="2011680" cy="457200"/>
          </a:xfrm>
          <a:prstGeom prst="rect">
            <a:avLst/>
          </a:prstGeom>
          <a:noFill/>
          <a:ln/>
        </p:spPr>
        <p:txBody>
          <a:bodyPr wrap="square" lIns="0" tIns="0" rIns="0" bIns="0" rtlCol="0" anchor="ctr"/>
          <a:lstStyle/>
          <a:p>
            <a:pPr marL="0" indent="0" algn="ctr">
              <a:buNone/>
            </a:pPr>
            <a:r>
              <a:rPr lang="en-US" sz="2200" b="1" dirty="0">
                <a:solidFill>
                  <a:srgbClr val="C9A84C"/>
                </a:solidFill>
                <a:latin typeface="Calibri" pitchFamily="34" charset="0"/>
                <a:ea typeface="Calibri" pitchFamily="34" charset="-122"/>
                <a:cs typeface="Calibri" pitchFamily="34" charset="-120"/>
              </a:rPr>
              <a:t>76.6%</a:t>
            </a:r>
            <a:endParaRPr lang="en-US" sz="2200" dirty="0"/>
          </a:p>
        </p:txBody>
      </p:sp>
      <p:sp>
        <p:nvSpPr>
          <p:cNvPr id="16" name="Text 13"/>
          <p:cNvSpPr/>
          <p:nvPr/>
        </p:nvSpPr>
        <p:spPr>
          <a:xfrm>
            <a:off x="5303520" y="3493008"/>
            <a:ext cx="2011680" cy="365760"/>
          </a:xfrm>
          <a:prstGeom prst="rect">
            <a:avLst/>
          </a:prstGeom>
          <a:noFill/>
          <a:ln/>
        </p:spPr>
        <p:txBody>
          <a:bodyPr wrap="square" lIns="0" tIns="0" rIns="0" bIns="0" rtlCol="0" anchor="ctr"/>
          <a:lstStyle/>
          <a:p>
            <a:pPr marL="0" indent="0" algn="ctr">
              <a:buNone/>
            </a:pPr>
            <a:r>
              <a:rPr lang="en-US" sz="850" dirty="0">
                <a:solidFill>
                  <a:srgbClr val="CADCFC"/>
                </a:solidFill>
                <a:latin typeface="Calibri" pitchFamily="34" charset="0"/>
                <a:ea typeface="Calibri" pitchFamily="34" charset="-122"/>
                <a:cs typeface="Calibri" pitchFamily="34" charset="-120"/>
              </a:rPr>
              <a:t>Revenue in Champions Cluster</a:t>
            </a:r>
            <a:endParaRPr lang="en-US" sz="850" dirty="0"/>
          </a:p>
        </p:txBody>
      </p:sp>
      <p:sp>
        <p:nvSpPr>
          <p:cNvPr id="17" name="Shape 14"/>
          <p:cNvSpPr/>
          <p:nvPr/>
        </p:nvSpPr>
        <p:spPr>
          <a:xfrm>
            <a:off x="914400" y="4114800"/>
            <a:ext cx="2011680" cy="1051560"/>
          </a:xfrm>
          <a:prstGeom prst="rect">
            <a:avLst/>
          </a:prstGeom>
          <a:solidFill>
            <a:srgbClr val="132445"/>
          </a:solidFill>
          <a:ln w="7620">
            <a:solidFill>
              <a:srgbClr val="C9A84C"/>
            </a:solidFill>
            <a:prstDash val="solid"/>
          </a:ln>
        </p:spPr>
      </p:sp>
      <p:sp>
        <p:nvSpPr>
          <p:cNvPr id="18" name="Text 15"/>
          <p:cNvSpPr/>
          <p:nvPr/>
        </p:nvSpPr>
        <p:spPr>
          <a:xfrm>
            <a:off x="914400" y="4206240"/>
            <a:ext cx="2011680" cy="457200"/>
          </a:xfrm>
          <a:prstGeom prst="rect">
            <a:avLst/>
          </a:prstGeom>
          <a:noFill/>
          <a:ln/>
        </p:spPr>
        <p:txBody>
          <a:bodyPr wrap="square" lIns="0" tIns="0" rIns="0" bIns="0" rtlCol="0" anchor="ctr"/>
          <a:lstStyle/>
          <a:p>
            <a:pPr marL="0" indent="0" algn="ctr">
              <a:buNone/>
            </a:pPr>
            <a:r>
              <a:rPr lang="en-US" sz="2200" b="1" dirty="0">
                <a:solidFill>
                  <a:srgbClr val="C9A84C"/>
                </a:solidFill>
                <a:latin typeface="Calibri" pitchFamily="34" charset="0"/>
                <a:ea typeface="Calibri" pitchFamily="34" charset="-122"/>
                <a:cs typeface="Calibri" pitchFamily="34" charset="-120"/>
              </a:rPr>
              <a:t>0.926</a:t>
            </a:r>
            <a:endParaRPr lang="en-US" sz="2200" dirty="0"/>
          </a:p>
        </p:txBody>
      </p:sp>
      <p:sp>
        <p:nvSpPr>
          <p:cNvPr id="19" name="Text 16"/>
          <p:cNvSpPr/>
          <p:nvPr/>
        </p:nvSpPr>
        <p:spPr>
          <a:xfrm>
            <a:off x="914400" y="4681728"/>
            <a:ext cx="2011680" cy="365760"/>
          </a:xfrm>
          <a:prstGeom prst="rect">
            <a:avLst/>
          </a:prstGeom>
          <a:noFill/>
          <a:ln/>
        </p:spPr>
        <p:txBody>
          <a:bodyPr wrap="square" lIns="0" tIns="0" rIns="0" bIns="0" rtlCol="0" anchor="ctr"/>
          <a:lstStyle/>
          <a:p>
            <a:pPr marL="0" indent="0" algn="ctr">
              <a:buNone/>
            </a:pPr>
            <a:r>
              <a:rPr lang="en-US" sz="850" dirty="0">
                <a:solidFill>
                  <a:srgbClr val="CADCFC"/>
                </a:solidFill>
                <a:latin typeface="Calibri" pitchFamily="34" charset="0"/>
                <a:ea typeface="Calibri" pitchFamily="34" charset="-122"/>
                <a:cs typeface="Calibri" pitchFamily="34" charset="-120"/>
              </a:rPr>
              <a:t>XGBoost AUCPR Score</a:t>
            </a:r>
            <a:endParaRPr lang="en-US" sz="850" dirty="0"/>
          </a:p>
        </p:txBody>
      </p:sp>
      <p:sp>
        <p:nvSpPr>
          <p:cNvPr id="20" name="Shape 17"/>
          <p:cNvSpPr/>
          <p:nvPr/>
        </p:nvSpPr>
        <p:spPr>
          <a:xfrm>
            <a:off x="3108960" y="4114800"/>
            <a:ext cx="2011680" cy="1051560"/>
          </a:xfrm>
          <a:prstGeom prst="rect">
            <a:avLst/>
          </a:prstGeom>
          <a:solidFill>
            <a:srgbClr val="132445"/>
          </a:solidFill>
          <a:ln w="7620">
            <a:solidFill>
              <a:srgbClr val="C9A84C"/>
            </a:solidFill>
            <a:prstDash val="solid"/>
          </a:ln>
        </p:spPr>
      </p:sp>
      <p:sp>
        <p:nvSpPr>
          <p:cNvPr id="21" name="Text 18"/>
          <p:cNvSpPr/>
          <p:nvPr/>
        </p:nvSpPr>
        <p:spPr>
          <a:xfrm>
            <a:off x="3108960" y="4206240"/>
            <a:ext cx="2011680" cy="457200"/>
          </a:xfrm>
          <a:prstGeom prst="rect">
            <a:avLst/>
          </a:prstGeom>
          <a:noFill/>
          <a:ln/>
        </p:spPr>
        <p:txBody>
          <a:bodyPr wrap="square" lIns="0" tIns="0" rIns="0" bIns="0" rtlCol="0" anchor="ctr"/>
          <a:lstStyle/>
          <a:p>
            <a:pPr marL="0" indent="0" algn="ctr">
              <a:buNone/>
            </a:pPr>
            <a:r>
              <a:rPr lang="en-US" sz="2200" b="1" dirty="0">
                <a:solidFill>
                  <a:srgbClr val="C9A84C"/>
                </a:solidFill>
                <a:latin typeface="Calibri" pitchFamily="34" charset="0"/>
                <a:ea typeface="Calibri" pitchFamily="34" charset="-122"/>
                <a:cs typeface="Calibri" pitchFamily="34" charset="-120"/>
              </a:rPr>
              <a:t>37</a:t>
            </a:r>
            <a:endParaRPr lang="en-US" sz="2200" dirty="0"/>
          </a:p>
        </p:txBody>
      </p:sp>
      <p:sp>
        <p:nvSpPr>
          <p:cNvPr id="22" name="Text 19"/>
          <p:cNvSpPr/>
          <p:nvPr/>
        </p:nvSpPr>
        <p:spPr>
          <a:xfrm>
            <a:off x="3108960" y="4681728"/>
            <a:ext cx="2011680" cy="365760"/>
          </a:xfrm>
          <a:prstGeom prst="rect">
            <a:avLst/>
          </a:prstGeom>
          <a:noFill/>
          <a:ln/>
        </p:spPr>
        <p:txBody>
          <a:bodyPr wrap="square" lIns="0" tIns="0" rIns="0" bIns="0" rtlCol="0" anchor="ctr"/>
          <a:lstStyle/>
          <a:p>
            <a:pPr marL="0" indent="0" algn="ctr">
              <a:buNone/>
            </a:pPr>
            <a:r>
              <a:rPr lang="en-US" sz="850" dirty="0">
                <a:solidFill>
                  <a:srgbClr val="CADCFC"/>
                </a:solidFill>
                <a:latin typeface="Calibri" pitchFamily="34" charset="0"/>
                <a:ea typeface="Calibri" pitchFamily="34" charset="-122"/>
                <a:cs typeface="Calibri" pitchFamily="34" charset="-120"/>
              </a:rPr>
              <a:t>Avg Samples to First Sale</a:t>
            </a:r>
            <a:endParaRPr lang="en-US" sz="850" dirty="0"/>
          </a:p>
        </p:txBody>
      </p:sp>
      <p:sp>
        <p:nvSpPr>
          <p:cNvPr id="23" name="Shape 20"/>
          <p:cNvSpPr/>
          <p:nvPr/>
        </p:nvSpPr>
        <p:spPr>
          <a:xfrm>
            <a:off x="5303520" y="4114800"/>
            <a:ext cx="2011680" cy="1051560"/>
          </a:xfrm>
          <a:prstGeom prst="rect">
            <a:avLst/>
          </a:prstGeom>
          <a:solidFill>
            <a:srgbClr val="132445"/>
          </a:solidFill>
          <a:ln w="7620">
            <a:solidFill>
              <a:srgbClr val="C9A84C"/>
            </a:solidFill>
            <a:prstDash val="solid"/>
          </a:ln>
        </p:spPr>
      </p:sp>
      <p:sp>
        <p:nvSpPr>
          <p:cNvPr id="24" name="Text 21"/>
          <p:cNvSpPr/>
          <p:nvPr/>
        </p:nvSpPr>
        <p:spPr>
          <a:xfrm>
            <a:off x="5303520" y="4206240"/>
            <a:ext cx="2011680" cy="457200"/>
          </a:xfrm>
          <a:prstGeom prst="rect">
            <a:avLst/>
          </a:prstGeom>
          <a:noFill/>
          <a:ln/>
        </p:spPr>
        <p:txBody>
          <a:bodyPr wrap="square" lIns="0" tIns="0" rIns="0" bIns="0" rtlCol="0" anchor="ctr"/>
          <a:lstStyle/>
          <a:p>
            <a:pPr marL="0" indent="0" algn="ctr">
              <a:buNone/>
            </a:pPr>
            <a:r>
              <a:rPr lang="en-US" sz="2200" b="1" dirty="0">
                <a:solidFill>
                  <a:srgbClr val="C9A84C"/>
                </a:solidFill>
                <a:latin typeface="Calibri" pitchFamily="34" charset="0"/>
                <a:ea typeface="Calibri" pitchFamily="34" charset="-122"/>
                <a:cs typeface="Calibri" pitchFamily="34" charset="-120"/>
              </a:rPr>
              <a:t>70%</a:t>
            </a:r>
            <a:endParaRPr lang="en-US" sz="2200" dirty="0"/>
          </a:p>
        </p:txBody>
      </p:sp>
      <p:sp>
        <p:nvSpPr>
          <p:cNvPr id="25" name="Text 22"/>
          <p:cNvSpPr/>
          <p:nvPr/>
        </p:nvSpPr>
        <p:spPr>
          <a:xfrm>
            <a:off x="5303520" y="4681728"/>
            <a:ext cx="2011680" cy="365760"/>
          </a:xfrm>
          <a:prstGeom prst="rect">
            <a:avLst/>
          </a:prstGeom>
          <a:noFill/>
          <a:ln/>
        </p:spPr>
        <p:txBody>
          <a:bodyPr wrap="square" lIns="0" tIns="0" rIns="0" bIns="0" rtlCol="0" anchor="ctr"/>
          <a:lstStyle/>
          <a:p>
            <a:pPr marL="0" indent="0" algn="ctr">
              <a:buNone/>
            </a:pPr>
            <a:r>
              <a:rPr lang="en-US" sz="850" dirty="0">
                <a:solidFill>
                  <a:srgbClr val="CADCFC"/>
                </a:solidFill>
                <a:latin typeface="Calibri" pitchFamily="34" charset="0"/>
                <a:ea typeface="Calibri" pitchFamily="34" charset="-122"/>
                <a:cs typeface="Calibri" pitchFamily="34" charset="-120"/>
              </a:rPr>
              <a:t>Account Conversion Rate</a:t>
            </a:r>
            <a:endParaRPr lang="en-US" sz="850" dirty="0"/>
          </a:p>
        </p:txBody>
      </p:sp>
      <p:sp>
        <p:nvSpPr>
          <p:cNvPr id="26" name="Text 23"/>
          <p:cNvSpPr/>
          <p:nvPr/>
        </p:nvSpPr>
        <p:spPr>
          <a:xfrm>
            <a:off x="914400" y="5989320"/>
            <a:ext cx="7315200" cy="256032"/>
          </a:xfrm>
          <a:prstGeom prst="rect">
            <a:avLst/>
          </a:prstGeom>
          <a:noFill/>
          <a:ln/>
        </p:spPr>
        <p:txBody>
          <a:bodyPr wrap="square" lIns="0" tIns="0" rIns="0" bIns="0" rtlCol="0" anchor="ctr"/>
          <a:lstStyle/>
          <a:p>
            <a:pPr marL="0" indent="0">
              <a:buNone/>
            </a:pPr>
            <a:r>
              <a:rPr lang="en-US" sz="1000" dirty="0">
                <a:solidFill>
                  <a:srgbClr val="8A9AB5"/>
                </a:solidFill>
                <a:latin typeface="Calibri" pitchFamily="34" charset="0"/>
                <a:ea typeface="Calibri" pitchFamily="34" charset="-122"/>
                <a:cs typeface="Calibri" pitchFamily="34" charset="-120"/>
              </a:rPr>
              <a:t>Avinash Patnaik  ·  CSA Research Italy  ·  avinash@csaresearch.it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2565</Words>
  <Application>Microsoft Office PowerPoint</Application>
  <PresentationFormat>Widescreen</PresentationFormat>
  <Paragraphs>389</Paragraphs>
  <Slides>16</Slides>
  <Notes>16</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16</vt:i4>
      </vt:variant>
    </vt:vector>
  </HeadingPairs>
  <TitlesOfParts>
    <vt:vector size="20" baseType="lpstr">
      <vt:lpstr>Arial</vt:lpstr>
      <vt:lpstr>Calibri</vt:lpstr>
      <vt:lpstr>Courier New</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LuxeIntelligence — F. Schumacher &amp; Co.</dc:title>
  <dc:subject>PptxGenJS Presentation</dc:subject>
  <dc:creator>Avinash Patnaik</dc:creator>
  <cp:lastModifiedBy>Avinash, Patnaik</cp:lastModifiedBy>
  <cp:revision>10</cp:revision>
  <dcterms:created xsi:type="dcterms:W3CDTF">2026-03-10T14:21:08Z</dcterms:created>
  <dcterms:modified xsi:type="dcterms:W3CDTF">2026-03-10T14:42:40Z</dcterms:modified>
</cp:coreProperties>
</file>