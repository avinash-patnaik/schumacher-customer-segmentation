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3" r:id="rId6"/>
    <p:sldId id="260" r:id="rId7"/>
    <p:sldId id="261" r:id="rId8"/>
    <p:sldId id="268" r:id="rId9"/>
    <p:sldId id="262"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10/03/2026</a:t>
            </a:fld>
            <a:endParaRPr lang="it-IT"/>
          </a:p>
        </p:txBody>
      </p:sp>
      <p:sp>
        <p:nvSpPr>
          <p:cNvPr id="5" name="Footer Placeholder 4"/>
          <p:cNvSpPr>
            <a:spLocks noGrp="1"/>
          </p:cNvSpPr>
          <p:nvPr>
            <p:ph type="ftr" sz="quarter" idx="11"/>
          </p:nvPr>
        </p:nvSpPr>
        <p:spPr/>
        <p:txBody>
          <a:bodyPr/>
          <a:lstStyle/>
          <a:p>
            <a:endParaRPr lang="it-IT"/>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9432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it-IT"/>
              <a:t>Fare clic per modificare lo stile del titolo dello schema</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10/03/2026</a:t>
            </a:fld>
            <a:endParaRPr lang="it-IT"/>
          </a:p>
        </p:txBody>
      </p:sp>
      <p:sp>
        <p:nvSpPr>
          <p:cNvPr id="5" name="Footer Placeholder 4"/>
          <p:cNvSpPr>
            <a:spLocks noGrp="1"/>
          </p:cNvSpPr>
          <p:nvPr>
            <p:ph type="ftr" sz="quarter" idx="11"/>
          </p:nvPr>
        </p:nvSpPr>
        <p:spPr/>
        <p:txBody>
          <a:bodyPr/>
          <a:lstStyle/>
          <a:p>
            <a:endParaRPr lang="it-IT"/>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835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fld id="{8733D1AA-C967-485F-9C0F-3A10FB3D7970}" type="datetimeFigureOut">
              <a:rPr lang="it-IT" smtClean="0"/>
              <a:t>10/03/2026</a:t>
            </a:fld>
            <a:endParaRPr lang="it-IT"/>
          </a:p>
        </p:txBody>
      </p:sp>
      <p:sp>
        <p:nvSpPr>
          <p:cNvPr id="5" name="Footer Placeholder 4"/>
          <p:cNvSpPr>
            <a:spLocks noGrp="1"/>
          </p:cNvSpPr>
          <p:nvPr>
            <p:ph type="ftr" sz="quarter" idx="11"/>
          </p:nvPr>
        </p:nvSpPr>
        <p:spPr/>
        <p:txBody>
          <a:bodyPr/>
          <a:lstStyle/>
          <a:p>
            <a:endParaRPr lang="it-IT"/>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464809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8733D1AA-C967-485F-9C0F-3A10FB3D7970}" type="datetimeFigureOut">
              <a:rPr lang="it-IT" smtClean="0"/>
              <a:t>10/03/2026</a:t>
            </a:fld>
            <a:endParaRPr lang="it-IT"/>
          </a:p>
        </p:txBody>
      </p:sp>
      <p:sp>
        <p:nvSpPr>
          <p:cNvPr id="6" name="Footer Placeholder 5"/>
          <p:cNvSpPr>
            <a:spLocks noGrp="1"/>
          </p:cNvSpPr>
          <p:nvPr>
            <p:ph type="ftr" sz="quarter" idx="11"/>
          </p:nvPr>
        </p:nvSpPr>
        <p:spPr/>
        <p:txBody>
          <a:bodyPr/>
          <a:lstStyle/>
          <a:p>
            <a:endParaRPr lang="it-IT"/>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267157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8733D1AA-C967-485F-9C0F-3A10FB3D7970}" type="datetimeFigureOut">
              <a:rPr lang="it-IT" smtClean="0"/>
              <a:t>10/03/2026</a:t>
            </a:fld>
            <a:endParaRPr lang="it-IT"/>
          </a:p>
        </p:txBody>
      </p:sp>
      <p:sp>
        <p:nvSpPr>
          <p:cNvPr id="8" name="Footer Placeholder 7"/>
          <p:cNvSpPr>
            <a:spLocks noGrp="1"/>
          </p:cNvSpPr>
          <p:nvPr>
            <p:ph type="ftr" sz="quarter" idx="11"/>
          </p:nvPr>
        </p:nvSpPr>
        <p:spPr/>
        <p:txBody>
          <a:bodyPr/>
          <a:lstStyle/>
          <a:p>
            <a:endParaRPr lang="it-IT"/>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1395585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8733D1AA-C967-485F-9C0F-3A10FB3D7970}" type="datetimeFigureOut">
              <a:rPr lang="it-IT" smtClean="0"/>
              <a:t>10/03/2026</a:t>
            </a:fld>
            <a:endParaRPr lang="it-IT"/>
          </a:p>
        </p:txBody>
      </p:sp>
      <p:sp>
        <p:nvSpPr>
          <p:cNvPr id="4" name="Footer Placeholder 3"/>
          <p:cNvSpPr>
            <a:spLocks noGrp="1"/>
          </p:cNvSpPr>
          <p:nvPr>
            <p:ph type="ftr" sz="quarter" idx="11"/>
          </p:nvPr>
        </p:nvSpPr>
        <p:spPr/>
        <p:txBody>
          <a:bodyPr/>
          <a:lstStyle/>
          <a:p>
            <a:endParaRPr lang="it-IT"/>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807969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33D1AA-C967-485F-9C0F-3A10FB3D7970}" type="datetimeFigureOut">
              <a:rPr lang="it-IT" smtClean="0"/>
              <a:t>10/03/2026</a:t>
            </a:fld>
            <a:endParaRPr lang="it-IT"/>
          </a:p>
        </p:txBody>
      </p:sp>
      <p:sp>
        <p:nvSpPr>
          <p:cNvPr id="3" name="Footer Placeholder 2"/>
          <p:cNvSpPr>
            <a:spLocks noGrp="1"/>
          </p:cNvSpPr>
          <p:nvPr>
            <p:ph type="ftr" sz="quarter" idx="11"/>
          </p:nvPr>
        </p:nvSpPr>
        <p:spPr/>
        <p:txBody>
          <a:bodyPr/>
          <a:lstStyle/>
          <a:p>
            <a:endParaRPr lang="it-IT"/>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148395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10/03/2026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926211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10/03/2026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1356687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fld id="{8733D1AA-C967-485F-9C0F-3A10FB3D7970}" type="datetimeFigureOut">
              <a:rPr lang="it-IT" smtClean="0"/>
              <a:t>10/03/2026</a:t>
            </a:fld>
            <a:endParaRPr lang="it-IT"/>
          </a:p>
        </p:txBody>
      </p:sp>
      <p:sp>
        <p:nvSpPr>
          <p:cNvPr id="5" name="Footer Placeholder 4"/>
          <p:cNvSpPr>
            <a:spLocks noGrp="1"/>
          </p:cNvSpPr>
          <p:nvPr>
            <p:ph type="ftr" sz="quarter" idx="11"/>
          </p:nvPr>
        </p:nvSpPr>
        <p:spPr/>
        <p:txBody>
          <a:bodyPr/>
          <a:lstStyle/>
          <a:p>
            <a:endParaRPr lang="it-IT"/>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58890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fld id="{8733D1AA-C967-485F-9C0F-3A10FB3D7970}" type="datetimeFigureOut">
              <a:rPr lang="it-IT" smtClean="0"/>
              <a:t>10/03/2026</a:t>
            </a:fld>
            <a:endParaRPr lang="it-IT"/>
          </a:p>
        </p:txBody>
      </p:sp>
      <p:sp>
        <p:nvSpPr>
          <p:cNvPr id="5" name="Footer Placeholder 4"/>
          <p:cNvSpPr>
            <a:spLocks noGrp="1"/>
          </p:cNvSpPr>
          <p:nvPr>
            <p:ph type="ftr" sz="quarter" idx="11"/>
          </p:nvPr>
        </p:nvSpPr>
        <p:spPr/>
        <p:txBody>
          <a:bodyPr/>
          <a:lstStyle/>
          <a:p>
            <a:endParaRPr lang="it-IT"/>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7E1431-C1E0-41A9-B616-72E172E29B7F}" type="slidenum">
              <a:rPr lang="it-IT" smtClean="0"/>
              <a:t>‹N›</a:t>
            </a:fld>
            <a:endParaRPr lang="it-IT"/>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3515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10/03/2026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1834623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10/03/2026</a:t>
            </a:fld>
            <a:endParaRPr lang="it-IT"/>
          </a:p>
        </p:txBody>
      </p:sp>
      <p:sp>
        <p:nvSpPr>
          <p:cNvPr id="6" name="Footer Placeholder 5"/>
          <p:cNvSpPr>
            <a:spLocks noGrp="1"/>
          </p:cNvSpPr>
          <p:nvPr>
            <p:ph type="ftr" sz="quarter" idx="11"/>
          </p:nvPr>
        </p:nvSpPr>
        <p:spPr/>
        <p:txBody>
          <a:bodyPr/>
          <a:lstStyle/>
          <a:p>
            <a:endParaRPr lang="it-IT"/>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68284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10/03/2026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2540501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10/03/2026</a:t>
            </a:fld>
            <a:endParaRPr lang="it-IT"/>
          </a:p>
        </p:txBody>
      </p:sp>
      <p:sp>
        <p:nvSpPr>
          <p:cNvPr id="5" name="Footer Placeholder 4"/>
          <p:cNvSpPr>
            <a:spLocks noGrp="1"/>
          </p:cNvSpPr>
          <p:nvPr>
            <p:ph type="ftr" sz="quarter" idx="11"/>
          </p:nvPr>
        </p:nvSpPr>
        <p:spPr/>
        <p:txBody>
          <a:bodyPr/>
          <a:lstStyle/>
          <a:p>
            <a:endParaRPr lang="it-IT"/>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77697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10/03/2026</a:t>
            </a:fld>
            <a:endParaRPr lang="it-IT"/>
          </a:p>
        </p:txBody>
      </p:sp>
      <p:sp>
        <p:nvSpPr>
          <p:cNvPr id="5" name="Footer Placeholder 4"/>
          <p:cNvSpPr>
            <a:spLocks noGrp="1"/>
          </p:cNvSpPr>
          <p:nvPr>
            <p:ph type="ftr" sz="quarter" idx="11"/>
          </p:nvPr>
        </p:nvSpPr>
        <p:spPr/>
        <p:txBody>
          <a:bodyPr/>
          <a:lstStyle/>
          <a:p>
            <a:endParaRPr lang="it-IT"/>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2108179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733D1AA-C967-485F-9C0F-3A10FB3D7970}" type="datetimeFigureOut">
              <a:rPr lang="it-IT" smtClean="0"/>
              <a:t>10/03/2026</a:t>
            </a:fld>
            <a:endParaRPr lang="it-IT"/>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it-IT"/>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F7E1431-C1E0-41A9-B616-72E172E29B7F}" type="slidenum">
              <a:rPr lang="it-IT" smtClean="0"/>
              <a:t>‹N›</a:t>
            </a:fld>
            <a:endParaRPr lang="it-IT"/>
          </a:p>
        </p:txBody>
      </p:sp>
    </p:spTree>
    <p:extLst>
      <p:ext uri="{BB962C8B-B14F-4D97-AF65-F5344CB8AC3E}">
        <p14:creationId xmlns:p14="http://schemas.microsoft.com/office/powerpoint/2010/main" val="267678396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chemeClr val="bg2">
                <a:tint val="90000"/>
                <a:satMod val="92000"/>
                <a:lumMod val="120000"/>
              </a:schemeClr>
            </a:gs>
            <a:gs pos="100000">
              <a:schemeClr val="bg2">
                <a:shade val="98000"/>
                <a:satMod val="120000"/>
                <a:lumMod val="98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15F93F-1E59-4795-A782-7FBC48CE51A7}"/>
              </a:ext>
            </a:extLst>
          </p:cNvPr>
          <p:cNvSpPr>
            <a:spLocks noGrp="1"/>
          </p:cNvSpPr>
          <p:nvPr>
            <p:ph type="ctrTitle"/>
          </p:nvPr>
        </p:nvSpPr>
        <p:spPr>
          <a:xfrm>
            <a:off x="1205845" y="2400704"/>
            <a:ext cx="10486535" cy="2056591"/>
          </a:xfrm>
        </p:spPr>
        <p:txBody>
          <a:bodyPr>
            <a:normAutofit/>
          </a:bodyPr>
          <a:lstStyle/>
          <a:p>
            <a:pPr algn="ctr">
              <a:lnSpc>
                <a:spcPct val="150000"/>
              </a:lnSpc>
            </a:pPr>
            <a:r>
              <a:rPr lang="en-IN" sz="4000" b="1" dirty="0" err="1"/>
              <a:t>LuxeIntelligence</a:t>
            </a:r>
            <a:br>
              <a:rPr lang="en-IN" sz="4000" b="1" dirty="0"/>
            </a:br>
            <a:r>
              <a:rPr lang="it-IT" sz="4000" b="1" dirty="0"/>
              <a:t>End-to-End Analytics &amp; AI </a:t>
            </a:r>
            <a:r>
              <a:rPr lang="it-IT" sz="4000" b="1" dirty="0" err="1"/>
              <a:t>Ecosystem</a:t>
            </a:r>
            <a:endParaRPr lang="it-IT" sz="4000" b="1" dirty="0"/>
          </a:p>
        </p:txBody>
      </p:sp>
      <p:pic>
        <p:nvPicPr>
          <p:cNvPr id="5" name="Immagine 4">
            <a:extLst>
              <a:ext uri="{FF2B5EF4-FFF2-40B4-BE49-F238E27FC236}">
                <a16:creationId xmlns:a16="http://schemas.microsoft.com/office/drawing/2014/main" id="{05AD469A-F7E3-40A2-9700-0F0380498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3094" y="207389"/>
            <a:ext cx="2316723" cy="2056591"/>
          </a:xfrm>
          <a:prstGeom prst="rect">
            <a:avLst/>
          </a:prstGeom>
          <a:ln>
            <a:solidFill>
              <a:schemeClr val="bg1"/>
            </a:solidFill>
          </a:ln>
        </p:spPr>
      </p:pic>
    </p:spTree>
    <p:extLst>
      <p:ext uri="{BB962C8B-B14F-4D97-AF65-F5344CB8AC3E}">
        <p14:creationId xmlns:p14="http://schemas.microsoft.com/office/powerpoint/2010/main" val="63349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CA164D-326F-40BE-9102-1F1FDE9C5467}"/>
              </a:ext>
            </a:extLst>
          </p:cNvPr>
          <p:cNvSpPr>
            <a:spLocks noGrp="1"/>
          </p:cNvSpPr>
          <p:nvPr>
            <p:ph type="title"/>
          </p:nvPr>
        </p:nvSpPr>
        <p:spPr>
          <a:xfrm>
            <a:off x="2485349" y="104157"/>
            <a:ext cx="8911687" cy="720596"/>
          </a:xfrm>
        </p:spPr>
        <p:txBody>
          <a:bodyPr>
            <a:normAutofit/>
          </a:bodyPr>
          <a:lstStyle/>
          <a:p>
            <a:r>
              <a:rPr lang="en-US" sz="2800" dirty="0"/>
              <a:t>Objective &amp; Data Foundation (Data Audit)</a:t>
            </a:r>
            <a:endParaRPr lang="it-IT" sz="2800" dirty="0"/>
          </a:p>
        </p:txBody>
      </p:sp>
      <p:graphicFrame>
        <p:nvGraphicFramePr>
          <p:cNvPr id="8" name="Segnaposto contenuto 7">
            <a:extLst>
              <a:ext uri="{FF2B5EF4-FFF2-40B4-BE49-F238E27FC236}">
                <a16:creationId xmlns:a16="http://schemas.microsoft.com/office/drawing/2014/main" id="{D4BF77F2-B520-46B4-93CF-85144BFB34CF}"/>
              </a:ext>
            </a:extLst>
          </p:cNvPr>
          <p:cNvGraphicFramePr>
            <a:graphicFrameLocks noGrp="1"/>
          </p:cNvGraphicFramePr>
          <p:nvPr>
            <p:ph idx="1"/>
            <p:extLst>
              <p:ext uri="{D42A27DB-BD31-4B8C-83A1-F6EECF244321}">
                <p14:modId xmlns:p14="http://schemas.microsoft.com/office/powerpoint/2010/main" val="3217136552"/>
              </p:ext>
            </p:extLst>
          </p:nvPr>
        </p:nvGraphicFramePr>
        <p:xfrm>
          <a:off x="1352083" y="2672180"/>
          <a:ext cx="4026741" cy="3070388"/>
        </p:xfrm>
        <a:graphic>
          <a:graphicData uri="http://schemas.openxmlformats.org/drawingml/2006/table">
            <a:tbl>
              <a:tblPr firstRow="1" firstCol="1" bandRow="1">
                <a:tableStyleId>{5C22544A-7EE6-4342-B048-85BDC9FD1C3A}</a:tableStyleId>
              </a:tblPr>
              <a:tblGrid>
                <a:gridCol w="1717604">
                  <a:extLst>
                    <a:ext uri="{9D8B030D-6E8A-4147-A177-3AD203B41FA5}">
                      <a16:colId xmlns:a16="http://schemas.microsoft.com/office/drawing/2014/main" val="3785856914"/>
                    </a:ext>
                  </a:extLst>
                </a:gridCol>
                <a:gridCol w="1039805">
                  <a:extLst>
                    <a:ext uri="{9D8B030D-6E8A-4147-A177-3AD203B41FA5}">
                      <a16:colId xmlns:a16="http://schemas.microsoft.com/office/drawing/2014/main" val="343277957"/>
                    </a:ext>
                  </a:extLst>
                </a:gridCol>
                <a:gridCol w="1269332">
                  <a:extLst>
                    <a:ext uri="{9D8B030D-6E8A-4147-A177-3AD203B41FA5}">
                      <a16:colId xmlns:a16="http://schemas.microsoft.com/office/drawing/2014/main" val="4066742544"/>
                    </a:ext>
                  </a:extLst>
                </a:gridCol>
              </a:tblGrid>
              <a:tr h="1039136">
                <a:tc>
                  <a:txBody>
                    <a:bodyPr/>
                    <a:lstStyle/>
                    <a:p>
                      <a:pPr algn="ctr">
                        <a:lnSpc>
                          <a:spcPct val="115000"/>
                        </a:lnSpc>
                        <a:spcBef>
                          <a:spcPts val="500"/>
                        </a:spcBef>
                        <a:spcAft>
                          <a:spcPts val="0"/>
                        </a:spcAft>
                      </a:pPr>
                      <a:r>
                        <a:rPr lang="it-IT" sz="1200" dirty="0" err="1">
                          <a:effectLst/>
                        </a:rPr>
                        <a:t>Table</a:t>
                      </a:r>
                      <a:endParaRPr lang="it-IT" sz="100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200">
                          <a:effectLst/>
                        </a:rPr>
                        <a:t>Row Count</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200">
                          <a:effectLst/>
                        </a:rPr>
                        <a:t>Column Count</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318618129"/>
                  </a:ext>
                </a:extLst>
              </a:tr>
              <a:tr h="496058">
                <a:tc>
                  <a:txBody>
                    <a:bodyPr/>
                    <a:lstStyle/>
                    <a:p>
                      <a:pPr algn="ctr">
                        <a:lnSpc>
                          <a:spcPct val="115000"/>
                        </a:lnSpc>
                        <a:spcBef>
                          <a:spcPts val="500"/>
                        </a:spcBef>
                        <a:spcAft>
                          <a:spcPts val="0"/>
                        </a:spcAft>
                      </a:pPr>
                      <a:r>
                        <a:rPr lang="it-IT" sz="1200">
                          <a:effectLst/>
                        </a:rPr>
                        <a:t>Transactions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1,983,549</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9</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106270321"/>
                  </a:ext>
                </a:extLst>
              </a:tr>
              <a:tr h="496058">
                <a:tc>
                  <a:txBody>
                    <a:bodyPr/>
                    <a:lstStyle/>
                    <a:p>
                      <a:pPr algn="ctr">
                        <a:lnSpc>
                          <a:spcPct val="115000"/>
                        </a:lnSpc>
                        <a:spcBef>
                          <a:spcPts val="500"/>
                        </a:spcBef>
                        <a:spcAft>
                          <a:spcPts val="0"/>
                        </a:spcAft>
                      </a:pPr>
                      <a:r>
                        <a:rPr lang="it-IT" sz="1200">
                          <a:effectLst/>
                        </a:rPr>
                        <a:t>Item_master</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a:effectLst/>
                        </a:rPr>
                        <a:t>16,064</a:t>
                      </a:r>
                      <a:endParaRPr lang="it-IT" sz="1050" b="1">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10</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3333876139"/>
                  </a:ext>
                </a:extLst>
              </a:tr>
              <a:tr h="1039136">
                <a:tc>
                  <a:txBody>
                    <a:bodyPr/>
                    <a:lstStyle/>
                    <a:p>
                      <a:pPr algn="ctr">
                        <a:lnSpc>
                          <a:spcPct val="115000"/>
                        </a:lnSpc>
                        <a:spcBef>
                          <a:spcPts val="500"/>
                        </a:spcBef>
                        <a:spcAft>
                          <a:spcPts val="0"/>
                        </a:spcAft>
                      </a:pPr>
                      <a:r>
                        <a:rPr lang="it-IT" sz="1200">
                          <a:effectLst/>
                        </a:rPr>
                        <a:t>Customer_master</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a:effectLst/>
                        </a:rPr>
                        <a:t>29,691</a:t>
                      </a:r>
                      <a:endParaRPr lang="it-IT" sz="1050" b="1">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4</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1794934798"/>
                  </a:ext>
                </a:extLst>
              </a:tr>
            </a:tbl>
          </a:graphicData>
        </a:graphic>
      </p:graphicFrame>
      <p:sp>
        <p:nvSpPr>
          <p:cNvPr id="7" name="Segnaposto contenuto 2">
            <a:extLst>
              <a:ext uri="{FF2B5EF4-FFF2-40B4-BE49-F238E27FC236}">
                <a16:creationId xmlns:a16="http://schemas.microsoft.com/office/drawing/2014/main" id="{8A73DBA8-E660-45CB-B2DF-3C814751B9A0}"/>
              </a:ext>
            </a:extLst>
          </p:cNvPr>
          <p:cNvSpPr txBox="1">
            <a:spLocks/>
          </p:cNvSpPr>
          <p:nvPr/>
        </p:nvSpPr>
        <p:spPr>
          <a:xfrm>
            <a:off x="1674812" y="757518"/>
            <a:ext cx="10311000" cy="147021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algn="just"/>
            <a:r>
              <a:rPr lang="en-IN" dirty="0">
                <a:solidFill>
                  <a:schemeClr val="tx1"/>
                </a:solidFill>
              </a:rPr>
              <a:t>Objective:  To transform high-volume transactional and behavioural data into a </a:t>
            </a:r>
            <a:r>
              <a:rPr lang="en-IN" b="1" dirty="0">
                <a:solidFill>
                  <a:schemeClr val="tx1"/>
                </a:solidFill>
              </a:rPr>
              <a:t>360 Designer Intelligence Suite</a:t>
            </a:r>
            <a:r>
              <a:rPr lang="en-IN" dirty="0">
                <a:solidFill>
                  <a:schemeClr val="tx1"/>
                </a:solidFill>
              </a:rPr>
              <a:t>. By bridging the gap between sample intent and purchase reality, this project aims to optimize conversion velocity, personalize the luxury customer journey, and provide the sales team with predictive tools to drive measurable revenue growth.</a:t>
            </a:r>
            <a:endParaRPr lang="it-IT" dirty="0">
              <a:solidFill>
                <a:schemeClr val="tx1"/>
              </a:solidFill>
            </a:endParaRPr>
          </a:p>
          <a:p>
            <a:endParaRPr lang="it-IT" dirty="0"/>
          </a:p>
        </p:txBody>
      </p:sp>
      <p:pic>
        <p:nvPicPr>
          <p:cNvPr id="9" name="Immagine 8">
            <a:extLst>
              <a:ext uri="{FF2B5EF4-FFF2-40B4-BE49-F238E27FC236}">
                <a16:creationId xmlns:a16="http://schemas.microsoft.com/office/drawing/2014/main" id="{59621943-C8A9-4E94-A3FF-3EA0BAC36EAE}"/>
              </a:ext>
            </a:extLst>
          </p:cNvPr>
          <p:cNvPicPr/>
          <p:nvPr/>
        </p:nvPicPr>
        <p:blipFill>
          <a:blip r:embed="rId2">
            <a:extLst>
              <a:ext uri="{28A0092B-C50C-407E-A947-70E740481C1C}">
                <a14:useLocalDpi xmlns:a14="http://schemas.microsoft.com/office/drawing/2010/main" val="0"/>
              </a:ext>
            </a:extLst>
          </a:blip>
          <a:stretch>
            <a:fillRect/>
          </a:stretch>
        </p:blipFill>
        <p:spPr>
          <a:xfrm>
            <a:off x="5624382" y="2672180"/>
            <a:ext cx="6361430" cy="3140710"/>
          </a:xfrm>
          <a:prstGeom prst="rect">
            <a:avLst/>
          </a:prstGeom>
        </p:spPr>
      </p:pic>
    </p:spTree>
    <p:extLst>
      <p:ext uri="{BB962C8B-B14F-4D97-AF65-F5344CB8AC3E}">
        <p14:creationId xmlns:p14="http://schemas.microsoft.com/office/powerpoint/2010/main" val="760906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BFE241B-E8D6-4863-9E93-CF5DFF8A865B}"/>
              </a:ext>
            </a:extLst>
          </p:cNvPr>
          <p:cNvSpPr>
            <a:spLocks noGrp="1"/>
          </p:cNvSpPr>
          <p:nvPr>
            <p:ph type="title"/>
          </p:nvPr>
        </p:nvSpPr>
        <p:spPr>
          <a:xfrm>
            <a:off x="3695585" y="8965"/>
            <a:ext cx="6034821" cy="627529"/>
          </a:xfrm>
        </p:spPr>
        <p:txBody>
          <a:bodyPr>
            <a:normAutofit fontScale="90000"/>
          </a:bodyPr>
          <a:lstStyle/>
          <a:p>
            <a:r>
              <a:rPr lang="en-IN" b="1" dirty="0"/>
              <a:t>Conversion Funnel Analysis</a:t>
            </a:r>
            <a:endParaRPr lang="it-IT" b="1" dirty="0"/>
          </a:p>
        </p:txBody>
      </p:sp>
      <p:pic>
        <p:nvPicPr>
          <p:cNvPr id="4" name="Segnaposto contenuto 3">
            <a:extLst>
              <a:ext uri="{FF2B5EF4-FFF2-40B4-BE49-F238E27FC236}">
                <a16:creationId xmlns:a16="http://schemas.microsoft.com/office/drawing/2014/main" id="{761BC9EC-E744-43FF-9D13-831223EB1DD1}"/>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889" y="512484"/>
            <a:ext cx="6034821" cy="2723775"/>
          </a:xfrm>
          <a:prstGeom prst="rect">
            <a:avLst/>
          </a:prstGeom>
        </p:spPr>
      </p:pic>
      <p:pic>
        <p:nvPicPr>
          <p:cNvPr id="5" name="Immagine 4">
            <a:extLst>
              <a:ext uri="{FF2B5EF4-FFF2-40B4-BE49-F238E27FC236}">
                <a16:creationId xmlns:a16="http://schemas.microsoft.com/office/drawing/2014/main" id="{D7C1497A-3324-4616-B0FF-1B78C6A40D67}"/>
              </a:ext>
            </a:extLst>
          </p:cNvPr>
          <p:cNvPicPr/>
          <p:nvPr/>
        </p:nvPicPr>
        <p:blipFill>
          <a:blip r:embed="rId3">
            <a:extLst>
              <a:ext uri="{28A0092B-C50C-407E-A947-70E740481C1C}">
                <a14:useLocalDpi xmlns:a14="http://schemas.microsoft.com/office/drawing/2010/main" val="0"/>
              </a:ext>
            </a:extLst>
          </a:blip>
          <a:stretch>
            <a:fillRect/>
          </a:stretch>
        </p:blipFill>
        <p:spPr>
          <a:xfrm>
            <a:off x="166629" y="4239346"/>
            <a:ext cx="6083342" cy="2274575"/>
          </a:xfrm>
          <a:prstGeom prst="rect">
            <a:avLst/>
          </a:prstGeom>
        </p:spPr>
      </p:pic>
      <p:sp>
        <p:nvSpPr>
          <p:cNvPr id="7" name="CasellaDiTesto 6">
            <a:extLst>
              <a:ext uri="{FF2B5EF4-FFF2-40B4-BE49-F238E27FC236}">
                <a16:creationId xmlns:a16="http://schemas.microsoft.com/office/drawing/2014/main" id="{881A1B7E-BD0C-4EA6-80A1-617ADC421F1A}"/>
              </a:ext>
            </a:extLst>
          </p:cNvPr>
          <p:cNvSpPr txBox="1"/>
          <p:nvPr/>
        </p:nvSpPr>
        <p:spPr>
          <a:xfrm>
            <a:off x="166629" y="3236259"/>
            <a:ext cx="6131861" cy="1200329"/>
          </a:xfrm>
          <a:prstGeom prst="rect">
            <a:avLst/>
          </a:prstGeom>
          <a:noFill/>
        </p:spPr>
        <p:txBody>
          <a:bodyPr wrap="square" rtlCol="0">
            <a:spAutoFit/>
          </a:bodyPr>
          <a:lstStyle/>
          <a:p>
            <a:r>
              <a:rPr lang="en-IN" b="1" dirty="0"/>
              <a:t>"</a:t>
            </a:r>
            <a:r>
              <a:rPr lang="en-IN" b="1" dirty="0">
                <a:highlight>
                  <a:srgbClr val="FFFF00"/>
                </a:highlight>
              </a:rPr>
              <a:t>Halo Effect</a:t>
            </a:r>
            <a:r>
              <a:rPr lang="en-IN" b="1" dirty="0"/>
              <a:t>"</a:t>
            </a:r>
            <a:r>
              <a:rPr lang="en-IN" dirty="0"/>
              <a:t> : </a:t>
            </a:r>
            <a:r>
              <a:rPr lang="en-IN" sz="1200" dirty="0"/>
              <a:t>a sample request is a high-intent signal that a design project is active. Even if the specific sampled SKU is not selected (conversion at the item level), the account remains highly likely to purchase an alternative product from the brand (conversion at the account level).</a:t>
            </a:r>
            <a:endParaRPr lang="it-IT" sz="1200" dirty="0"/>
          </a:p>
          <a:p>
            <a:endParaRPr lang="it-IT" dirty="0"/>
          </a:p>
        </p:txBody>
      </p:sp>
      <p:sp>
        <p:nvSpPr>
          <p:cNvPr id="8" name="CasellaDiTesto 7">
            <a:extLst>
              <a:ext uri="{FF2B5EF4-FFF2-40B4-BE49-F238E27FC236}">
                <a16:creationId xmlns:a16="http://schemas.microsoft.com/office/drawing/2014/main" id="{55F6E9DD-CABE-4D29-8E3B-EDD9CA1475E8}"/>
              </a:ext>
            </a:extLst>
          </p:cNvPr>
          <p:cNvSpPr txBox="1"/>
          <p:nvPr/>
        </p:nvSpPr>
        <p:spPr>
          <a:xfrm>
            <a:off x="7212280" y="4822070"/>
            <a:ext cx="4567341" cy="923330"/>
          </a:xfrm>
          <a:prstGeom prst="rect">
            <a:avLst/>
          </a:prstGeom>
          <a:noFill/>
        </p:spPr>
        <p:txBody>
          <a:bodyPr wrap="square" rtlCol="0">
            <a:spAutoFit/>
          </a:bodyPr>
          <a:lstStyle/>
          <a:p>
            <a:r>
              <a:rPr lang="en-IN" dirty="0"/>
              <a:t>On average, a new account requires approximately </a:t>
            </a:r>
            <a:r>
              <a:rPr lang="en-IN" b="1" dirty="0"/>
              <a:t>37 samples</a:t>
            </a:r>
            <a:r>
              <a:rPr lang="en-IN" dirty="0"/>
              <a:t> to convert into the successful transaction.</a:t>
            </a:r>
            <a:endParaRPr lang="it-IT" dirty="0"/>
          </a:p>
        </p:txBody>
      </p:sp>
      <p:pic>
        <p:nvPicPr>
          <p:cNvPr id="9" name="Immagine 8">
            <a:extLst>
              <a:ext uri="{FF2B5EF4-FFF2-40B4-BE49-F238E27FC236}">
                <a16:creationId xmlns:a16="http://schemas.microsoft.com/office/drawing/2014/main" id="{07C77E30-F2C4-43F4-A463-7615F1CDB0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510" y="1739102"/>
            <a:ext cx="5436120" cy="2697486"/>
          </a:xfrm>
          <a:prstGeom prst="rect">
            <a:avLst/>
          </a:prstGeom>
        </p:spPr>
      </p:pic>
    </p:spTree>
    <p:extLst>
      <p:ext uri="{BB962C8B-B14F-4D97-AF65-F5344CB8AC3E}">
        <p14:creationId xmlns:p14="http://schemas.microsoft.com/office/powerpoint/2010/main" val="1855487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B110D968-F8CA-482B-8AA6-67F6A3E8155A}"/>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8960" y="0"/>
            <a:ext cx="6031584" cy="3346514"/>
          </a:xfrm>
          <a:prstGeom prst="rect">
            <a:avLst/>
          </a:prstGeom>
        </p:spPr>
      </p:pic>
      <p:pic>
        <p:nvPicPr>
          <p:cNvPr id="5" name="Immagine 4">
            <a:extLst>
              <a:ext uri="{FF2B5EF4-FFF2-40B4-BE49-F238E27FC236}">
                <a16:creationId xmlns:a16="http://schemas.microsoft.com/office/drawing/2014/main" id="{50323886-BE5F-4078-83FF-61DF3DF8241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6160416" y="-1"/>
            <a:ext cx="6031584" cy="3346514"/>
          </a:xfrm>
          <a:prstGeom prst="rect">
            <a:avLst/>
          </a:prstGeom>
        </p:spPr>
      </p:pic>
      <p:sp>
        <p:nvSpPr>
          <p:cNvPr id="2" name="CasellaDiTesto 1">
            <a:extLst>
              <a:ext uri="{FF2B5EF4-FFF2-40B4-BE49-F238E27FC236}">
                <a16:creationId xmlns:a16="http://schemas.microsoft.com/office/drawing/2014/main" id="{839153FA-E063-4F01-B560-83185737B7B3}"/>
              </a:ext>
            </a:extLst>
          </p:cNvPr>
          <p:cNvSpPr txBox="1"/>
          <p:nvPr/>
        </p:nvSpPr>
        <p:spPr>
          <a:xfrm>
            <a:off x="650449" y="3429000"/>
            <a:ext cx="11019935" cy="3179190"/>
          </a:xfrm>
          <a:prstGeom prst="rect">
            <a:avLst/>
          </a:prstGeom>
          <a:noFill/>
        </p:spPr>
        <p:txBody>
          <a:bodyPr wrap="square" rtlCol="0">
            <a:spAutoFit/>
          </a:bodyPr>
          <a:lstStyle/>
          <a:p>
            <a:r>
              <a:rPr lang="en-US" b="1" dirty="0"/>
              <a:t>Channel Efficiency &amp; Sales Velocity</a:t>
            </a:r>
            <a:endParaRPr lang="en-US" dirty="0"/>
          </a:p>
          <a:p>
            <a:r>
              <a:rPr lang="en-US" b="1" dirty="0"/>
              <a:t>Key Finding:</a:t>
            </a:r>
            <a:r>
              <a:rPr lang="en-US" dirty="0"/>
              <a:t> There is a strong correlation between </a:t>
            </a:r>
            <a:r>
              <a:rPr lang="en-US" b="1" dirty="0"/>
              <a:t>Human Interaction</a:t>
            </a:r>
            <a:r>
              <a:rPr lang="en-US" dirty="0"/>
              <a:t> and both </a:t>
            </a:r>
            <a:r>
              <a:rPr lang="en-US" b="1" dirty="0"/>
              <a:t>Speed</a:t>
            </a:r>
            <a:r>
              <a:rPr lang="en-US" dirty="0"/>
              <a:t> and </a:t>
            </a:r>
            <a:r>
              <a:rPr lang="en-US" b="1" dirty="0"/>
              <a:t>Probability</a:t>
            </a:r>
            <a:r>
              <a:rPr lang="en-US" dirty="0"/>
              <a:t> of sale.</a:t>
            </a:r>
          </a:p>
          <a:p>
            <a:r>
              <a:rPr lang="en-US" b="1" dirty="0"/>
              <a:t>Showroom Strength:</a:t>
            </a:r>
            <a:r>
              <a:rPr lang="en-US" dirty="0"/>
              <a:t> The Showroom is our most efficient channel, converting nearly </a:t>
            </a:r>
            <a:r>
              <a:rPr lang="en-US" b="1" dirty="0"/>
              <a:t>1 in 5 leads</a:t>
            </a:r>
            <a:r>
              <a:rPr lang="en-US" dirty="0"/>
              <a:t> in just </a:t>
            </a:r>
            <a:r>
              <a:rPr lang="en-US" b="1" dirty="0"/>
              <a:t>44 days</a:t>
            </a:r>
            <a:r>
              <a:rPr lang="en-US" dirty="0"/>
              <a:t>.</a:t>
            </a:r>
          </a:p>
          <a:p>
            <a:r>
              <a:rPr lang="en-US" b="1" dirty="0"/>
              <a:t>The Web Gap:</a:t>
            </a:r>
            <a:r>
              <a:rPr lang="en-US" dirty="0"/>
              <a:t> Web leads have the lowest conversion (13.6%) and take nearly a week longer to close than showroom leads. This represents a significant opportunity to implement digital "White Glove" services to close the gap.</a:t>
            </a:r>
          </a:p>
          <a:p>
            <a:r>
              <a:rPr lang="en-US" b="1" dirty="0"/>
              <a:t>Customer Commitment:</a:t>
            </a:r>
            <a:r>
              <a:rPr lang="en-US" dirty="0"/>
              <a:t> On average, a successful sale is preceded by </a:t>
            </a:r>
            <a:r>
              <a:rPr lang="en-US" b="1" dirty="0"/>
              <a:t>2.5 unique samples</a:t>
            </a:r>
            <a:r>
              <a:rPr lang="en-US" dirty="0"/>
              <a:t>, suggesting that our customers have a high degree of focus once they start the sampling process.</a:t>
            </a:r>
          </a:p>
          <a:p>
            <a:endParaRPr lang="it-IT" dirty="0"/>
          </a:p>
        </p:txBody>
      </p:sp>
    </p:spTree>
    <p:extLst>
      <p:ext uri="{BB962C8B-B14F-4D97-AF65-F5344CB8AC3E}">
        <p14:creationId xmlns:p14="http://schemas.microsoft.com/office/powerpoint/2010/main" val="2102711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93245106-512F-47EC-BA49-CEE823D0C989}"/>
              </a:ext>
            </a:extLst>
          </p:cNvPr>
          <p:cNvPicPr/>
          <p:nvPr/>
        </p:nvPicPr>
        <p:blipFill>
          <a:blip r:embed="rId2">
            <a:extLst>
              <a:ext uri="{28A0092B-C50C-407E-A947-70E740481C1C}">
                <a14:useLocalDpi xmlns:a14="http://schemas.microsoft.com/office/drawing/2010/main" val="0"/>
              </a:ext>
            </a:extLst>
          </a:blip>
          <a:stretch>
            <a:fillRect/>
          </a:stretch>
        </p:blipFill>
        <p:spPr>
          <a:xfrm>
            <a:off x="198467" y="0"/>
            <a:ext cx="6120130" cy="3476625"/>
          </a:xfrm>
          <a:prstGeom prst="rect">
            <a:avLst/>
          </a:prstGeom>
        </p:spPr>
      </p:pic>
      <p:pic>
        <p:nvPicPr>
          <p:cNvPr id="5" name="Immagine 4">
            <a:extLst>
              <a:ext uri="{FF2B5EF4-FFF2-40B4-BE49-F238E27FC236}">
                <a16:creationId xmlns:a16="http://schemas.microsoft.com/office/drawing/2014/main" id="{3133A6FE-A22D-4E19-9E2C-ED3879519A44}"/>
              </a:ext>
            </a:extLst>
          </p:cNvPr>
          <p:cNvPicPr/>
          <p:nvPr/>
        </p:nvPicPr>
        <p:blipFill>
          <a:blip r:embed="rId3">
            <a:extLst>
              <a:ext uri="{28A0092B-C50C-407E-A947-70E740481C1C}">
                <a14:useLocalDpi xmlns:a14="http://schemas.microsoft.com/office/drawing/2010/main" val="0"/>
              </a:ext>
            </a:extLst>
          </a:blip>
          <a:stretch>
            <a:fillRect/>
          </a:stretch>
        </p:blipFill>
        <p:spPr>
          <a:xfrm>
            <a:off x="6318597" y="4762"/>
            <a:ext cx="5873403" cy="3467100"/>
          </a:xfrm>
          <a:prstGeom prst="rect">
            <a:avLst/>
          </a:prstGeom>
        </p:spPr>
      </p:pic>
      <p:pic>
        <p:nvPicPr>
          <p:cNvPr id="6" name="Immagine 5">
            <a:extLst>
              <a:ext uri="{FF2B5EF4-FFF2-40B4-BE49-F238E27FC236}">
                <a16:creationId xmlns:a16="http://schemas.microsoft.com/office/drawing/2014/main" id="{4545A832-49D8-4EB4-AA28-F9AE7869F13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98467" y="3428999"/>
            <a:ext cx="11993533" cy="3429001"/>
          </a:xfrm>
          <a:prstGeom prst="rect">
            <a:avLst/>
          </a:prstGeom>
        </p:spPr>
      </p:pic>
      <p:sp>
        <p:nvSpPr>
          <p:cNvPr id="7" name="CasellaDiTesto 6">
            <a:extLst>
              <a:ext uri="{FF2B5EF4-FFF2-40B4-BE49-F238E27FC236}">
                <a16:creationId xmlns:a16="http://schemas.microsoft.com/office/drawing/2014/main" id="{40E00BF3-3BC7-4756-95D0-357B39392B94}"/>
              </a:ext>
            </a:extLst>
          </p:cNvPr>
          <p:cNvSpPr txBox="1"/>
          <p:nvPr/>
        </p:nvSpPr>
        <p:spPr>
          <a:xfrm>
            <a:off x="198467" y="6136848"/>
            <a:ext cx="4326399" cy="523220"/>
          </a:xfrm>
          <a:prstGeom prst="rect">
            <a:avLst/>
          </a:prstGeom>
          <a:noFill/>
        </p:spPr>
        <p:txBody>
          <a:bodyPr wrap="square" rtlCol="0">
            <a:spAutoFit/>
          </a:bodyPr>
          <a:lstStyle/>
          <a:p>
            <a:r>
              <a:rPr lang="en-IN" sz="2800" b="1" dirty="0"/>
              <a:t>REGIONAL ANALYSIS</a:t>
            </a:r>
            <a:endParaRPr lang="it-IT" sz="2800" b="1" dirty="0"/>
          </a:p>
        </p:txBody>
      </p:sp>
    </p:spTree>
    <p:extLst>
      <p:ext uri="{BB962C8B-B14F-4D97-AF65-F5344CB8AC3E}">
        <p14:creationId xmlns:p14="http://schemas.microsoft.com/office/powerpoint/2010/main" val="1954613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48E83-732D-4952-BFA9-E9651FE2AEBE}"/>
              </a:ext>
            </a:extLst>
          </p:cNvPr>
          <p:cNvSpPr>
            <a:spLocks noGrp="1"/>
          </p:cNvSpPr>
          <p:nvPr>
            <p:ph type="title"/>
          </p:nvPr>
        </p:nvSpPr>
        <p:spPr>
          <a:xfrm>
            <a:off x="2951145" y="0"/>
            <a:ext cx="6909294" cy="686216"/>
          </a:xfrm>
        </p:spPr>
        <p:txBody>
          <a:bodyPr>
            <a:normAutofit/>
          </a:bodyPr>
          <a:lstStyle/>
          <a:p>
            <a:r>
              <a:rPr lang="en-IN" sz="3200" b="1" dirty="0"/>
              <a:t>RFM Analysis &amp; Segmentation</a:t>
            </a:r>
            <a:endParaRPr lang="it-IT" sz="3200" b="1" dirty="0"/>
          </a:p>
        </p:txBody>
      </p:sp>
      <p:sp>
        <p:nvSpPr>
          <p:cNvPr id="3" name="Segnaposto contenuto 2">
            <a:extLst>
              <a:ext uri="{FF2B5EF4-FFF2-40B4-BE49-F238E27FC236}">
                <a16:creationId xmlns:a16="http://schemas.microsoft.com/office/drawing/2014/main" id="{DCBE29C5-50A3-4E21-B036-BC8A3FAD9003}"/>
              </a:ext>
            </a:extLst>
          </p:cNvPr>
          <p:cNvSpPr>
            <a:spLocks noGrp="1"/>
          </p:cNvSpPr>
          <p:nvPr>
            <p:ph idx="1"/>
          </p:nvPr>
        </p:nvSpPr>
        <p:spPr>
          <a:xfrm>
            <a:off x="1684238" y="799337"/>
            <a:ext cx="6705617" cy="1295400"/>
          </a:xfrm>
        </p:spPr>
        <p:txBody>
          <a:bodyPr/>
          <a:lstStyle/>
          <a:p>
            <a:pPr lvl="0"/>
            <a:r>
              <a:rPr lang="en-IN" b="1" dirty="0"/>
              <a:t>Recency (R):</a:t>
            </a:r>
            <a:r>
              <a:rPr lang="en-IN" dirty="0"/>
              <a:t> Days since the last order.</a:t>
            </a:r>
            <a:endParaRPr lang="it-IT" dirty="0"/>
          </a:p>
          <a:p>
            <a:pPr lvl="0"/>
            <a:r>
              <a:rPr lang="en-IN" b="1" dirty="0"/>
              <a:t>Frequency (F):</a:t>
            </a:r>
            <a:r>
              <a:rPr lang="en-IN" dirty="0"/>
              <a:t> Total number of unique orders placed.</a:t>
            </a:r>
            <a:endParaRPr lang="it-IT" dirty="0"/>
          </a:p>
          <a:p>
            <a:pPr lvl="0"/>
            <a:r>
              <a:rPr lang="en-IN" b="1" dirty="0"/>
              <a:t>Monetary (M):</a:t>
            </a:r>
            <a:r>
              <a:rPr lang="en-IN" dirty="0"/>
              <a:t> Total net revenue generated.</a:t>
            </a:r>
            <a:endParaRPr lang="it-IT" dirty="0"/>
          </a:p>
          <a:p>
            <a:pPr marL="0" indent="0">
              <a:buNone/>
            </a:pPr>
            <a:endParaRPr lang="it-IT" dirty="0"/>
          </a:p>
        </p:txBody>
      </p:sp>
      <p:pic>
        <p:nvPicPr>
          <p:cNvPr id="4" name="Immagine 3">
            <a:extLst>
              <a:ext uri="{FF2B5EF4-FFF2-40B4-BE49-F238E27FC236}">
                <a16:creationId xmlns:a16="http://schemas.microsoft.com/office/drawing/2014/main" id="{776BD827-0BA0-4A9D-A33D-2F2DD24246C6}"/>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1398" y="2020685"/>
            <a:ext cx="6044367" cy="3852213"/>
          </a:xfrm>
          <a:prstGeom prst="rect">
            <a:avLst/>
          </a:prstGeom>
        </p:spPr>
      </p:pic>
      <p:graphicFrame>
        <p:nvGraphicFramePr>
          <p:cNvPr id="5" name="Tabella 4">
            <a:extLst>
              <a:ext uri="{FF2B5EF4-FFF2-40B4-BE49-F238E27FC236}">
                <a16:creationId xmlns:a16="http://schemas.microsoft.com/office/drawing/2014/main" id="{18862CF3-7321-43F7-9F80-D39A56D075ED}"/>
              </a:ext>
            </a:extLst>
          </p:cNvPr>
          <p:cNvGraphicFramePr>
            <a:graphicFrameLocks noGrp="1"/>
          </p:cNvGraphicFramePr>
          <p:nvPr>
            <p:extLst>
              <p:ext uri="{D42A27DB-BD31-4B8C-83A1-F6EECF244321}">
                <p14:modId xmlns:p14="http://schemas.microsoft.com/office/powerpoint/2010/main" val="289067988"/>
              </p:ext>
            </p:extLst>
          </p:nvPr>
        </p:nvGraphicFramePr>
        <p:xfrm>
          <a:off x="6245766" y="2068442"/>
          <a:ext cx="5744835" cy="3664255"/>
        </p:xfrm>
        <a:graphic>
          <a:graphicData uri="http://schemas.openxmlformats.org/drawingml/2006/table">
            <a:tbl>
              <a:tblPr firstRow="1" firstCol="1" bandRow="1">
                <a:tableStyleId>{5C22544A-7EE6-4342-B048-85BDC9FD1C3A}</a:tableStyleId>
              </a:tblPr>
              <a:tblGrid>
                <a:gridCol w="1914945">
                  <a:extLst>
                    <a:ext uri="{9D8B030D-6E8A-4147-A177-3AD203B41FA5}">
                      <a16:colId xmlns:a16="http://schemas.microsoft.com/office/drawing/2014/main" val="1914478879"/>
                    </a:ext>
                  </a:extLst>
                </a:gridCol>
                <a:gridCol w="1914945">
                  <a:extLst>
                    <a:ext uri="{9D8B030D-6E8A-4147-A177-3AD203B41FA5}">
                      <a16:colId xmlns:a16="http://schemas.microsoft.com/office/drawing/2014/main" val="3356255554"/>
                    </a:ext>
                  </a:extLst>
                </a:gridCol>
                <a:gridCol w="1914945">
                  <a:extLst>
                    <a:ext uri="{9D8B030D-6E8A-4147-A177-3AD203B41FA5}">
                      <a16:colId xmlns:a16="http://schemas.microsoft.com/office/drawing/2014/main" val="4016412939"/>
                    </a:ext>
                  </a:extLst>
                </a:gridCol>
              </a:tblGrid>
              <a:tr h="326263">
                <a:tc>
                  <a:txBody>
                    <a:bodyPr/>
                    <a:lstStyle/>
                    <a:p>
                      <a:pPr algn="ctr">
                        <a:lnSpc>
                          <a:spcPct val="115000"/>
                        </a:lnSpc>
                        <a:spcBef>
                          <a:spcPts val="500"/>
                        </a:spcBef>
                        <a:spcAft>
                          <a:spcPts val="2400"/>
                        </a:spcAft>
                      </a:pPr>
                      <a:r>
                        <a:rPr lang="it-IT" sz="1050" dirty="0" err="1">
                          <a:effectLst/>
                        </a:rPr>
                        <a:t>Segment</a:t>
                      </a:r>
                      <a:endParaRPr lang="it-IT" sz="105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2400"/>
                        </a:spcAft>
                      </a:pPr>
                      <a:r>
                        <a:rPr lang="it-IT" sz="1050" dirty="0" err="1">
                          <a:effectLst/>
                        </a:rPr>
                        <a:t>Criteria</a:t>
                      </a:r>
                      <a:r>
                        <a:rPr lang="it-IT" sz="1050" dirty="0">
                          <a:effectLst/>
                        </a:rPr>
                        <a:t> (R, F, M </a:t>
                      </a:r>
                      <a:r>
                        <a:rPr lang="it-IT" sz="1050" dirty="0" err="1">
                          <a:effectLst/>
                        </a:rPr>
                        <a:t>Scores</a:t>
                      </a:r>
                      <a:r>
                        <a:rPr lang="it-IT" sz="1050" dirty="0">
                          <a:effectLst/>
                        </a:rPr>
                        <a:t>)</a:t>
                      </a:r>
                      <a:endParaRPr lang="it-IT" sz="105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2400"/>
                        </a:spcAft>
                      </a:pPr>
                      <a:r>
                        <a:rPr lang="it-IT" sz="1050" dirty="0">
                          <a:effectLst/>
                        </a:rPr>
                        <a:t>Business Description</a:t>
                      </a:r>
                      <a:endParaRPr lang="it-IT" sz="105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3430774944"/>
                  </a:ext>
                </a:extLst>
              </a:tr>
              <a:tr h="624924">
                <a:tc>
                  <a:txBody>
                    <a:bodyPr/>
                    <a:lstStyle/>
                    <a:p>
                      <a:pPr algn="ctr">
                        <a:lnSpc>
                          <a:spcPct val="115000"/>
                        </a:lnSpc>
                        <a:spcBef>
                          <a:spcPts val="500"/>
                        </a:spcBef>
                        <a:spcAft>
                          <a:spcPts val="2400"/>
                        </a:spcAft>
                      </a:pPr>
                      <a:r>
                        <a:rPr lang="it-IT" sz="1000" dirty="0">
                          <a:effectLst/>
                        </a:rPr>
                        <a:t>Champions (VIP)</a:t>
                      </a:r>
                      <a:endParaRPr lang="it-IT" sz="100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2400"/>
                        </a:spcAft>
                      </a:pPr>
                      <a:r>
                        <a:rPr lang="it-IT" sz="1000">
                          <a:effectLst/>
                        </a:rPr>
                        <a:t>R &gt;= 4, F &gt;= 4, M &gt;= 4</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Your most valuable, active, and loyal designers.</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119530299"/>
                  </a:ext>
                </a:extLst>
              </a:tr>
              <a:tr h="624924">
                <a:tc>
                  <a:txBody>
                    <a:bodyPr/>
                    <a:lstStyle/>
                    <a:p>
                      <a:pPr algn="ctr">
                        <a:lnSpc>
                          <a:spcPct val="115000"/>
                        </a:lnSpc>
                        <a:spcBef>
                          <a:spcPts val="500"/>
                        </a:spcBef>
                        <a:spcAft>
                          <a:spcPts val="0"/>
                        </a:spcAft>
                      </a:pPr>
                      <a:r>
                        <a:rPr lang="it-IT" sz="1000">
                          <a:effectLst/>
                        </a:rPr>
                        <a:t>Loyal Customers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3, F &gt;= 3</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Consistent purchasers who keep the business steady.</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396626300"/>
                  </a:ext>
                </a:extLst>
              </a:tr>
              <a:tr h="624924">
                <a:tc>
                  <a:txBody>
                    <a:bodyPr/>
                    <a:lstStyle/>
                    <a:p>
                      <a:pPr algn="ctr">
                        <a:lnSpc>
                          <a:spcPct val="115000"/>
                        </a:lnSpc>
                        <a:spcBef>
                          <a:spcPts val="500"/>
                        </a:spcBef>
                        <a:spcAft>
                          <a:spcPts val="0"/>
                        </a:spcAft>
                      </a:pPr>
                      <a:r>
                        <a:rPr lang="it-IT" sz="1000">
                          <a:effectLst/>
                        </a:rPr>
                        <a:t>New Prospects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4, F &gt;= 2</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dirty="0">
                          <a:effectLst/>
                        </a:rPr>
                        <a:t>Recently joined or made their first small purchase.</a:t>
                      </a:r>
                      <a:endParaRPr lang="it-IT" sz="1000" dirty="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066839217"/>
                  </a:ext>
                </a:extLst>
              </a:tr>
              <a:tr h="624924">
                <a:tc>
                  <a:txBody>
                    <a:bodyPr/>
                    <a:lstStyle/>
                    <a:p>
                      <a:pPr algn="ctr">
                        <a:lnSpc>
                          <a:spcPct val="115000"/>
                        </a:lnSpc>
                        <a:spcBef>
                          <a:spcPts val="500"/>
                        </a:spcBef>
                        <a:spcAft>
                          <a:spcPts val="0"/>
                        </a:spcAft>
                      </a:pPr>
                      <a:r>
                        <a:rPr lang="it-IT" sz="1000" dirty="0">
                          <a:effectLst/>
                        </a:rPr>
                        <a:t>At Risk (High Value)</a:t>
                      </a:r>
                      <a:endParaRPr lang="it-IT" sz="100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2, M &gt;= 4</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Former big spenders who haven't ordered recently.</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3165762732"/>
                  </a:ext>
                </a:extLst>
              </a:tr>
              <a:tr h="419148">
                <a:tc>
                  <a:txBody>
                    <a:bodyPr/>
                    <a:lstStyle/>
                    <a:p>
                      <a:pPr algn="ctr">
                        <a:lnSpc>
                          <a:spcPct val="115000"/>
                        </a:lnSpc>
                        <a:spcBef>
                          <a:spcPts val="500"/>
                        </a:spcBef>
                        <a:spcAft>
                          <a:spcPts val="0"/>
                        </a:spcAft>
                      </a:pPr>
                      <a:r>
                        <a:rPr lang="it-IT" sz="1000">
                          <a:effectLst/>
                        </a:rPr>
                        <a:t>Hibernating</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2, F &gt;= 2</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Inactive accounts with low lifetime value.</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206439819"/>
                  </a:ext>
                </a:extLst>
              </a:tr>
              <a:tr h="419148">
                <a:tc>
                  <a:txBody>
                    <a:bodyPr/>
                    <a:lstStyle/>
                    <a:p>
                      <a:pPr algn="ctr">
                        <a:lnSpc>
                          <a:spcPct val="115000"/>
                        </a:lnSpc>
                        <a:spcBef>
                          <a:spcPts val="500"/>
                        </a:spcBef>
                        <a:spcAft>
                          <a:spcPts val="0"/>
                        </a:spcAft>
                      </a:pPr>
                      <a:r>
                        <a:rPr lang="it-IT" sz="1000">
                          <a:effectLst/>
                        </a:rPr>
                        <a:t>General Trade</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All Others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dirty="0">
                          <a:effectLst/>
                        </a:rPr>
                        <a:t>The standard "middle" of the customer base.</a:t>
                      </a:r>
                      <a:endParaRPr lang="it-IT" sz="1000" dirty="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65169125"/>
                  </a:ext>
                </a:extLst>
              </a:tr>
            </a:tbl>
          </a:graphicData>
        </a:graphic>
      </p:graphicFrame>
    </p:spTree>
    <p:extLst>
      <p:ext uri="{BB962C8B-B14F-4D97-AF65-F5344CB8AC3E}">
        <p14:creationId xmlns:p14="http://schemas.microsoft.com/office/powerpoint/2010/main" val="3869347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DC08E-7B83-4632-8C63-924083F5DBD2}"/>
              </a:ext>
            </a:extLst>
          </p:cNvPr>
          <p:cNvSpPr>
            <a:spLocks noGrp="1"/>
          </p:cNvSpPr>
          <p:nvPr>
            <p:ph type="title"/>
          </p:nvPr>
        </p:nvSpPr>
        <p:spPr>
          <a:xfrm>
            <a:off x="4078057" y="54223"/>
            <a:ext cx="5187901" cy="772998"/>
          </a:xfrm>
        </p:spPr>
        <p:txBody>
          <a:bodyPr>
            <a:normAutofit/>
          </a:bodyPr>
          <a:lstStyle/>
          <a:p>
            <a:r>
              <a:rPr lang="en-IN" sz="3200" b="1" dirty="0"/>
              <a:t>KNN IMPLEMENTATION</a:t>
            </a:r>
            <a:endParaRPr lang="it-IT" sz="3200" b="1" dirty="0"/>
          </a:p>
        </p:txBody>
      </p:sp>
      <p:sp>
        <p:nvSpPr>
          <p:cNvPr id="3" name="Segnaposto contenuto 2">
            <a:extLst>
              <a:ext uri="{FF2B5EF4-FFF2-40B4-BE49-F238E27FC236}">
                <a16:creationId xmlns:a16="http://schemas.microsoft.com/office/drawing/2014/main" id="{87725C53-FEA8-44B9-A8CE-A3EC0DBE8768}"/>
              </a:ext>
            </a:extLst>
          </p:cNvPr>
          <p:cNvSpPr>
            <a:spLocks noGrp="1"/>
          </p:cNvSpPr>
          <p:nvPr>
            <p:ph idx="1"/>
          </p:nvPr>
        </p:nvSpPr>
        <p:spPr>
          <a:xfrm>
            <a:off x="6485640" y="2185758"/>
            <a:ext cx="5560637" cy="4488419"/>
          </a:xfrm>
        </p:spPr>
        <p:txBody>
          <a:bodyPr>
            <a:normAutofit/>
          </a:bodyPr>
          <a:lstStyle/>
          <a:p>
            <a:pPr lvl="0"/>
            <a:r>
              <a:rPr lang="en-IN" b="1" dirty="0"/>
              <a:t>Cluster 1 (Premier Trade):</a:t>
            </a:r>
            <a:r>
              <a:rPr lang="en-IN" dirty="0"/>
              <a:t> Exhibits the highest median Frequency and Monetary values. The tight interquartile range (IQR) in Recency indicates a consistent, high-velocity purchasing pattern.</a:t>
            </a:r>
          </a:p>
          <a:p>
            <a:r>
              <a:rPr lang="en-IN" b="1" dirty="0"/>
              <a:t>Cluster 2 (High-Intent Samplers):</a:t>
            </a:r>
            <a:r>
              <a:rPr lang="en-IN" dirty="0"/>
              <a:t> Displays a disproportionately high </a:t>
            </a:r>
            <a:r>
              <a:rPr lang="en-IN" dirty="0" err="1"/>
              <a:t>Sample_Count</a:t>
            </a:r>
            <a:r>
              <a:rPr lang="en-IN" dirty="0"/>
              <a:t> relative to current Monetary value. This represents a prime conversion opportunity for the sales team.</a:t>
            </a:r>
            <a:endParaRPr lang="it-IT" dirty="0"/>
          </a:p>
          <a:p>
            <a:pPr lvl="0"/>
            <a:r>
              <a:rPr lang="en-IN" b="1" dirty="0"/>
              <a:t>Cluster 3 (Dormant/Low-Value):</a:t>
            </a:r>
            <a:r>
              <a:rPr lang="en-IN" dirty="0"/>
              <a:t> Characterized by a significantly higher median Recency and lower Monetary density, indicating churn risk or one-off residential purchasers.</a:t>
            </a:r>
            <a:endParaRPr lang="it-IT" dirty="0"/>
          </a:p>
          <a:p>
            <a:endParaRPr lang="it-IT" dirty="0"/>
          </a:p>
        </p:txBody>
      </p:sp>
      <p:sp>
        <p:nvSpPr>
          <p:cNvPr id="4" name="Rettangolo 3">
            <a:extLst>
              <a:ext uri="{FF2B5EF4-FFF2-40B4-BE49-F238E27FC236}">
                <a16:creationId xmlns:a16="http://schemas.microsoft.com/office/drawing/2014/main" id="{A5CE0E2D-2DAF-4F65-9D7B-BB5AA9234805}"/>
              </a:ext>
            </a:extLst>
          </p:cNvPr>
          <p:cNvSpPr/>
          <p:nvPr/>
        </p:nvSpPr>
        <p:spPr>
          <a:xfrm>
            <a:off x="1764500" y="772998"/>
            <a:ext cx="6136616" cy="388953"/>
          </a:xfrm>
          <a:prstGeom prst="rect">
            <a:avLst/>
          </a:prstGeom>
        </p:spPr>
        <p:txBody>
          <a:bodyPr wrap="none">
            <a:spAutoFit/>
          </a:bodyPr>
          <a:lstStyle/>
          <a:p>
            <a:pPr>
              <a:lnSpc>
                <a:spcPct val="115000"/>
              </a:lnSpc>
              <a:spcBef>
                <a:spcPts val="500"/>
              </a:spcBef>
              <a:spcAft>
                <a:spcPts val="0"/>
              </a:spcAft>
            </a:pPr>
            <a:r>
              <a:rPr lang="en-IN" dirty="0">
                <a:solidFill>
                  <a:schemeClr val="accent1">
                    <a:lumMod val="50000"/>
                  </a:schemeClr>
                </a:solidFill>
                <a:latin typeface="Consolas" panose="020B0609020204030204" pitchFamily="49" charset="0"/>
                <a:ea typeface="Times New Roman" panose="02020603050405020304" pitchFamily="18" charset="0"/>
                <a:cs typeface="Times New Roman" panose="02020603050405020304" pitchFamily="18" charset="0"/>
              </a:rPr>
              <a:t>features</a:t>
            </a:r>
            <a:r>
              <a:rPr lang="en-IN" dirty="0">
                <a:latin typeface="Consolas" panose="020B0609020204030204" pitchFamily="49" charset="0"/>
                <a:ea typeface="Times New Roman" panose="02020603050405020304" pitchFamily="18" charset="0"/>
                <a:cs typeface="Times New Roman" panose="02020603050405020304" pitchFamily="18" charset="0"/>
              </a:rPr>
              <a:t> = ['Recency', 'Frequency', 'Monetary']</a:t>
            </a:r>
            <a:endParaRPr lang="it-IT" sz="2000" dirty="0">
              <a:effectLst/>
              <a:latin typeface="Century Gothic" panose="020B0502020202020204" pitchFamily="34" charset="0"/>
              <a:ea typeface="Times New Roman" panose="02020603050405020304" pitchFamily="18" charset="0"/>
              <a:cs typeface="Tahoma" panose="020B0604030504040204" pitchFamily="34" charset="0"/>
            </a:endParaRPr>
          </a:p>
        </p:txBody>
      </p:sp>
      <p:sp>
        <p:nvSpPr>
          <p:cNvPr id="5" name="Rettangolo 4">
            <a:extLst>
              <a:ext uri="{FF2B5EF4-FFF2-40B4-BE49-F238E27FC236}">
                <a16:creationId xmlns:a16="http://schemas.microsoft.com/office/drawing/2014/main" id="{813A2561-2273-407F-99E3-3335BE1B57F0}"/>
              </a:ext>
            </a:extLst>
          </p:cNvPr>
          <p:cNvSpPr/>
          <p:nvPr/>
        </p:nvSpPr>
        <p:spPr>
          <a:xfrm>
            <a:off x="1805116" y="1161951"/>
            <a:ext cx="8347552" cy="634854"/>
          </a:xfrm>
          <a:prstGeom prst="rect">
            <a:avLst/>
          </a:prstGeom>
        </p:spPr>
        <p:txBody>
          <a:bodyPr wrap="square">
            <a:spAutoFit/>
          </a:bodyPr>
          <a:lstStyle/>
          <a:p>
            <a:pPr>
              <a:lnSpc>
                <a:spcPct val="115000"/>
              </a:lnSpc>
              <a:spcBef>
                <a:spcPts val="500"/>
              </a:spcBef>
              <a:spcAft>
                <a:spcPts val="0"/>
              </a:spcAft>
            </a:pP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 =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n_clusters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=4,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random_state</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=42,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n_init</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=10)</a:t>
            </a:r>
            <a:endParaRPr lang="it-IT" sz="1600" dirty="0">
              <a:solidFill>
                <a:srgbClr val="00B050"/>
              </a:solidFill>
              <a:latin typeface="Century Gothic" panose="020B0502020202020204" pitchFamily="34" charset="0"/>
              <a:ea typeface="Times New Roman" panose="02020603050405020304" pitchFamily="18" charset="0"/>
              <a:cs typeface="Tahoma" panose="020B0604030504040204" pitchFamily="34" charset="0"/>
            </a:endParaRPr>
          </a:p>
          <a:p>
            <a:pPr>
              <a:lnSpc>
                <a:spcPct val="115000"/>
              </a:lnSpc>
              <a:spcBef>
                <a:spcPts val="500"/>
              </a:spcBef>
              <a:spcAft>
                <a:spcPts val="0"/>
              </a:spcAft>
            </a:pP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rfm</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['Cluster'] =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kmeans.fit_transform</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rfm_scaled</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).argmax(axis=1) </a:t>
            </a:r>
            <a:endParaRPr lang="it-IT" sz="1600" dirty="0">
              <a:solidFill>
                <a:srgbClr val="00B050"/>
              </a:solidFill>
              <a:effectLst/>
              <a:latin typeface="Century Gothic" panose="020B0502020202020204" pitchFamily="34" charset="0"/>
              <a:ea typeface="Times New Roman" panose="02020603050405020304" pitchFamily="18" charset="0"/>
              <a:cs typeface="Tahoma" panose="020B0604030504040204" pitchFamily="34" charset="0"/>
            </a:endParaRPr>
          </a:p>
        </p:txBody>
      </p:sp>
      <p:pic>
        <p:nvPicPr>
          <p:cNvPr id="6" name="Immagine 5">
            <a:extLst>
              <a:ext uri="{FF2B5EF4-FFF2-40B4-BE49-F238E27FC236}">
                <a16:creationId xmlns:a16="http://schemas.microsoft.com/office/drawing/2014/main" id="{9117756A-327D-4BE7-8828-A177180B69B7}"/>
              </a:ext>
            </a:extLst>
          </p:cNvPr>
          <p:cNvPicPr/>
          <p:nvPr/>
        </p:nvPicPr>
        <p:blipFill>
          <a:blip r:embed="rId2">
            <a:extLst>
              <a:ext uri="{28A0092B-C50C-407E-A947-70E740481C1C}">
                <a14:useLocalDpi xmlns:a14="http://schemas.microsoft.com/office/drawing/2010/main" val="0"/>
              </a:ext>
            </a:extLst>
          </a:blip>
          <a:stretch>
            <a:fillRect/>
          </a:stretch>
        </p:blipFill>
        <p:spPr>
          <a:xfrm>
            <a:off x="216816" y="2185758"/>
            <a:ext cx="6344239" cy="4153689"/>
          </a:xfrm>
          <a:prstGeom prst="rect">
            <a:avLst/>
          </a:prstGeom>
        </p:spPr>
      </p:pic>
    </p:spTree>
    <p:extLst>
      <p:ext uri="{BB962C8B-B14F-4D97-AF65-F5344CB8AC3E}">
        <p14:creationId xmlns:p14="http://schemas.microsoft.com/office/powerpoint/2010/main" val="126486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CA2CD5-5A4D-413B-9BF4-7ECF200146E0}"/>
              </a:ext>
            </a:extLst>
          </p:cNvPr>
          <p:cNvSpPr>
            <a:spLocks noGrp="1"/>
          </p:cNvSpPr>
          <p:nvPr>
            <p:ph type="title"/>
          </p:nvPr>
        </p:nvSpPr>
        <p:spPr>
          <a:xfrm>
            <a:off x="1677972" y="96209"/>
            <a:ext cx="10275215" cy="771057"/>
          </a:xfrm>
        </p:spPr>
        <p:txBody>
          <a:bodyPr>
            <a:normAutofit/>
          </a:bodyPr>
          <a:lstStyle/>
          <a:p>
            <a:r>
              <a:rPr lang="en-IN" sz="3200" b="1" dirty="0"/>
              <a:t>KNN IMPLEMENTATION (Bug fix implemented)</a:t>
            </a:r>
            <a:endParaRPr lang="it-IT" sz="3200" dirty="0"/>
          </a:p>
        </p:txBody>
      </p:sp>
      <p:pic>
        <p:nvPicPr>
          <p:cNvPr id="6" name="Segnaposto contenuto 5">
            <a:extLst>
              <a:ext uri="{FF2B5EF4-FFF2-40B4-BE49-F238E27FC236}">
                <a16:creationId xmlns:a16="http://schemas.microsoft.com/office/drawing/2014/main" id="{B74CE5B5-775F-48C9-A063-E8D874CCC8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943" y="1813252"/>
            <a:ext cx="6510636" cy="3778250"/>
          </a:xfrm>
        </p:spPr>
      </p:pic>
      <p:sp>
        <p:nvSpPr>
          <p:cNvPr id="4" name="Rettangolo 3">
            <a:extLst>
              <a:ext uri="{FF2B5EF4-FFF2-40B4-BE49-F238E27FC236}">
                <a16:creationId xmlns:a16="http://schemas.microsoft.com/office/drawing/2014/main" id="{D0E31086-F3FA-4405-9F50-00D7141B7F37}"/>
              </a:ext>
            </a:extLst>
          </p:cNvPr>
          <p:cNvSpPr/>
          <p:nvPr/>
        </p:nvSpPr>
        <p:spPr>
          <a:xfrm>
            <a:off x="1757982" y="737745"/>
            <a:ext cx="8347552" cy="634854"/>
          </a:xfrm>
          <a:prstGeom prst="rect">
            <a:avLst/>
          </a:prstGeom>
        </p:spPr>
        <p:txBody>
          <a:bodyPr wrap="square">
            <a:spAutoFit/>
          </a:bodyPr>
          <a:lstStyle/>
          <a:p>
            <a:pPr>
              <a:lnSpc>
                <a:spcPct val="115000"/>
              </a:lnSpc>
              <a:spcBef>
                <a:spcPts val="500"/>
              </a:spcBef>
              <a:spcAft>
                <a:spcPts val="0"/>
              </a:spcAft>
            </a:pP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 =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n_clusters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=4,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random_state</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=42,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n_init</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=10)</a:t>
            </a:r>
            <a:endParaRPr lang="it-IT" sz="1600" dirty="0">
              <a:solidFill>
                <a:srgbClr val="00B050"/>
              </a:solidFill>
              <a:latin typeface="Century Gothic" panose="020B0502020202020204" pitchFamily="34" charset="0"/>
              <a:ea typeface="Times New Roman" panose="02020603050405020304" pitchFamily="18" charset="0"/>
              <a:cs typeface="Tahoma" panose="020B0604030504040204" pitchFamily="34" charset="0"/>
            </a:endParaRPr>
          </a:p>
          <a:p>
            <a:pPr>
              <a:lnSpc>
                <a:spcPct val="115000"/>
              </a:lnSpc>
              <a:spcBef>
                <a:spcPts val="500"/>
              </a:spcBef>
              <a:spcAft>
                <a:spcPts val="0"/>
              </a:spcAft>
            </a:pP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rfm</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['Cluster'] =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a:t>
            </a:r>
            <a:r>
              <a:rPr lang="en-IN" sz="1400" dirty="0" err="1">
                <a:highlight>
                  <a:srgbClr val="00FFFF"/>
                </a:highlight>
                <a:latin typeface="Consolas" panose="020B0609020204030204" pitchFamily="49" charset="0"/>
                <a:ea typeface="Times New Roman" panose="02020603050405020304" pitchFamily="18" charset="0"/>
                <a:cs typeface="Times New Roman" panose="02020603050405020304" pitchFamily="18" charset="0"/>
              </a:rPr>
              <a:t>fit_predict</a:t>
            </a:r>
            <a:r>
              <a:rPr lang="en-IN" sz="1400" dirty="0">
                <a:highlight>
                  <a:srgbClr val="00FFFF"/>
                </a:highlight>
                <a:latin typeface="Consolas" panose="020B0609020204030204" pitchFamily="49" charset="0"/>
                <a:ea typeface="Times New Roman" panose="02020603050405020304" pitchFamily="18" charset="0"/>
                <a:cs typeface="Times New Roman" panose="02020603050405020304" pitchFamily="18" charset="0"/>
              </a:rPr>
              <a:t>(</a:t>
            </a:r>
            <a:r>
              <a:rPr lang="en-IN" sz="1400" dirty="0" err="1">
                <a:highlight>
                  <a:srgbClr val="00FFFF"/>
                </a:highlight>
                <a:latin typeface="Consolas" panose="020B0609020204030204" pitchFamily="49" charset="0"/>
                <a:ea typeface="Times New Roman" panose="02020603050405020304" pitchFamily="18" charset="0"/>
                <a:cs typeface="Times New Roman" panose="02020603050405020304" pitchFamily="18" charset="0"/>
              </a:rPr>
              <a:t>rfm_scaled</a:t>
            </a:r>
            <a:r>
              <a:rPr lang="en-IN" sz="1400" dirty="0">
                <a:highlight>
                  <a:srgbClr val="00FFFF"/>
                </a:highlight>
                <a:latin typeface="Consolas" panose="020B0609020204030204" pitchFamily="49" charset="0"/>
                <a:ea typeface="Times New Roman" panose="02020603050405020304" pitchFamily="18" charset="0"/>
                <a:cs typeface="Times New Roman" panose="02020603050405020304" pitchFamily="18" charset="0"/>
              </a:rPr>
              <a:t>) </a:t>
            </a:r>
            <a:endParaRPr lang="it-IT" sz="1600" dirty="0">
              <a:effectLst/>
              <a:highlight>
                <a:srgbClr val="00FFFF"/>
              </a:highlight>
              <a:latin typeface="Century Gothic" panose="020B0502020202020204" pitchFamily="34" charset="0"/>
              <a:ea typeface="Times New Roman" panose="02020603050405020304" pitchFamily="18" charset="0"/>
              <a:cs typeface="Tahoma" panose="020B0604030504040204" pitchFamily="34" charset="0"/>
            </a:endParaRPr>
          </a:p>
        </p:txBody>
      </p:sp>
      <p:sp>
        <p:nvSpPr>
          <p:cNvPr id="7" name="CasellaDiTesto 6">
            <a:extLst>
              <a:ext uri="{FF2B5EF4-FFF2-40B4-BE49-F238E27FC236}">
                <a16:creationId xmlns:a16="http://schemas.microsoft.com/office/drawing/2014/main" id="{B1BC4218-9B1E-48E2-92FA-0A01296EE70C}"/>
              </a:ext>
            </a:extLst>
          </p:cNvPr>
          <p:cNvSpPr txBox="1"/>
          <p:nvPr/>
        </p:nvSpPr>
        <p:spPr>
          <a:xfrm>
            <a:off x="6815579" y="1140643"/>
            <a:ext cx="5250730" cy="1569660"/>
          </a:xfrm>
          <a:prstGeom prst="rect">
            <a:avLst/>
          </a:prstGeom>
          <a:noFill/>
        </p:spPr>
        <p:txBody>
          <a:bodyPr wrap="square" rtlCol="0">
            <a:spAutoFit/>
          </a:bodyPr>
          <a:lstStyle/>
          <a:p>
            <a:r>
              <a:rPr lang="it-IT" b="1" dirty="0"/>
              <a:t>Cluster 2 — Champions</a:t>
            </a:r>
            <a:endParaRPr lang="it-IT" dirty="0"/>
          </a:p>
          <a:p>
            <a:pPr marL="285750" lvl="0" indent="-285750">
              <a:buFont typeface="Arial" panose="020B0604020202020204" pitchFamily="34" charset="0"/>
              <a:buChar char="•"/>
            </a:pPr>
            <a:r>
              <a:rPr lang="en-IN" sz="1200" dirty="0"/>
              <a:t>8,103 accounts | $10,680 </a:t>
            </a:r>
            <a:r>
              <a:rPr lang="en-IN" sz="1200" dirty="0" err="1"/>
              <a:t>avg</a:t>
            </a:r>
            <a:r>
              <a:rPr lang="en-IN" sz="1200" dirty="0"/>
              <a:t> revenue | Active within 25 days</a:t>
            </a:r>
            <a:endParaRPr lang="it-IT" sz="1200" dirty="0"/>
          </a:p>
          <a:p>
            <a:pPr marL="285750" lvl="0" indent="-285750">
              <a:buFont typeface="Arial" panose="020B0604020202020204" pitchFamily="34" charset="0"/>
              <a:buChar char="•"/>
            </a:pPr>
            <a:r>
              <a:rPr lang="en-IN" sz="1200" dirty="0"/>
              <a:t>Highest-value designers, top revenue drivers</a:t>
            </a:r>
            <a:endParaRPr lang="it-IT" sz="1200" dirty="0"/>
          </a:p>
          <a:p>
            <a:pPr marL="285750" lvl="0" indent="-285750">
              <a:buFont typeface="Arial" panose="020B0604020202020204" pitchFamily="34" charset="0"/>
              <a:buChar char="•"/>
            </a:pPr>
            <a:r>
              <a:rPr lang="en-IN" sz="1200" dirty="0"/>
              <a:t>22.8 orders on average — frequent, high-spend buyers</a:t>
            </a:r>
            <a:endParaRPr lang="it-IT" sz="1200" dirty="0"/>
          </a:p>
          <a:p>
            <a:pPr marL="285750" lvl="0" indent="-285750">
              <a:buFont typeface="Arial" panose="020B0604020202020204" pitchFamily="34" charset="0"/>
              <a:buChar char="•"/>
            </a:pPr>
            <a:r>
              <a:rPr lang="en-IN" sz="1200" dirty="0"/>
              <a:t>White-glove treatment: dedicated reps, early collection access, loyalty perks</a:t>
            </a:r>
            <a:endParaRPr lang="it-IT" sz="1200" dirty="0"/>
          </a:p>
          <a:p>
            <a:endParaRPr lang="it-IT" dirty="0"/>
          </a:p>
        </p:txBody>
      </p:sp>
      <p:sp>
        <p:nvSpPr>
          <p:cNvPr id="15" name="CasellaDiTesto 14">
            <a:extLst>
              <a:ext uri="{FF2B5EF4-FFF2-40B4-BE49-F238E27FC236}">
                <a16:creationId xmlns:a16="http://schemas.microsoft.com/office/drawing/2014/main" id="{ED8558D7-1DF8-4775-92AA-15BDA2B80D23}"/>
              </a:ext>
            </a:extLst>
          </p:cNvPr>
          <p:cNvSpPr txBox="1"/>
          <p:nvPr/>
        </p:nvSpPr>
        <p:spPr>
          <a:xfrm>
            <a:off x="6815579" y="2450042"/>
            <a:ext cx="5137608" cy="1384995"/>
          </a:xfrm>
          <a:prstGeom prst="rect">
            <a:avLst/>
          </a:prstGeom>
          <a:noFill/>
        </p:spPr>
        <p:txBody>
          <a:bodyPr wrap="square" rtlCol="0">
            <a:spAutoFit/>
          </a:bodyPr>
          <a:lstStyle/>
          <a:p>
            <a:r>
              <a:rPr lang="it-IT" b="1" dirty="0"/>
              <a:t>Cluster 0 — At-Risk / </a:t>
            </a:r>
            <a:r>
              <a:rPr lang="it-IT" b="1" dirty="0" err="1"/>
              <a:t>Lapsed</a:t>
            </a:r>
            <a:endParaRPr lang="it-IT" dirty="0"/>
          </a:p>
          <a:p>
            <a:pPr marL="171450" lvl="0" indent="-171450">
              <a:buFont typeface="Arial" panose="020B0604020202020204" pitchFamily="34" charset="0"/>
              <a:buChar char="•"/>
            </a:pPr>
            <a:r>
              <a:rPr lang="en-IN" sz="1200" dirty="0"/>
              <a:t>9,655 accounts | $2,737 </a:t>
            </a:r>
            <a:r>
              <a:rPr lang="en-IN" sz="1200" dirty="0" err="1"/>
              <a:t>avg</a:t>
            </a:r>
            <a:r>
              <a:rPr lang="en-IN" sz="1200" dirty="0"/>
              <a:t> revenue | Inactive for ~4 months</a:t>
            </a:r>
            <a:endParaRPr lang="it-IT" sz="1200" dirty="0"/>
          </a:p>
          <a:p>
            <a:pPr marL="171450" lvl="0" indent="-171450">
              <a:buFont typeface="Arial" panose="020B0604020202020204" pitchFamily="34" charset="0"/>
              <a:buChar char="•"/>
            </a:pPr>
            <a:r>
              <a:rPr lang="en-IN" sz="1200" dirty="0"/>
              <a:t>Proven buyers drifting away — highest win-back ROI</a:t>
            </a:r>
            <a:endParaRPr lang="it-IT" sz="1200" dirty="0"/>
          </a:p>
          <a:p>
            <a:pPr marL="171450" lvl="0" indent="-171450">
              <a:buFont typeface="Arial" panose="020B0604020202020204" pitchFamily="34" charset="0"/>
              <a:buChar char="•"/>
            </a:pPr>
            <a:r>
              <a:rPr lang="it-IT" sz="1200" dirty="0" err="1"/>
              <a:t>Personalized</a:t>
            </a:r>
            <a:r>
              <a:rPr lang="it-IT" sz="1200" dirty="0"/>
              <a:t> </a:t>
            </a:r>
            <a:r>
              <a:rPr lang="it-IT" sz="1200" dirty="0" err="1"/>
              <a:t>outreach</a:t>
            </a:r>
            <a:r>
              <a:rPr lang="it-IT" sz="1200" dirty="0"/>
              <a:t> </a:t>
            </a:r>
            <a:r>
              <a:rPr lang="it-IT" sz="1200" dirty="0" err="1"/>
              <a:t>referencing</a:t>
            </a:r>
            <a:r>
              <a:rPr lang="it-IT" sz="1200" dirty="0"/>
              <a:t> </a:t>
            </a:r>
            <a:r>
              <a:rPr lang="it-IT" sz="1200" dirty="0" err="1"/>
              <a:t>past</a:t>
            </a:r>
            <a:r>
              <a:rPr lang="it-IT" sz="1200" dirty="0"/>
              <a:t> </a:t>
            </a:r>
            <a:r>
              <a:rPr lang="it-IT" sz="1200" dirty="0" err="1"/>
              <a:t>purchases</a:t>
            </a:r>
            <a:endParaRPr lang="it-IT" sz="1200" dirty="0"/>
          </a:p>
          <a:p>
            <a:pPr marL="171450" lvl="0" indent="-171450">
              <a:buFont typeface="Arial" panose="020B0604020202020204" pitchFamily="34" charset="0"/>
              <a:buChar char="•"/>
            </a:pPr>
            <a:r>
              <a:rPr lang="en-IN" sz="1200" dirty="0"/>
              <a:t>Targeted sampling of new arrivals + time-limited trade incentives</a:t>
            </a:r>
            <a:endParaRPr lang="it-IT" sz="1200" dirty="0"/>
          </a:p>
          <a:p>
            <a:endParaRPr lang="it-IT" dirty="0"/>
          </a:p>
        </p:txBody>
      </p:sp>
      <p:sp>
        <p:nvSpPr>
          <p:cNvPr id="16" name="CasellaDiTesto 15">
            <a:extLst>
              <a:ext uri="{FF2B5EF4-FFF2-40B4-BE49-F238E27FC236}">
                <a16:creationId xmlns:a16="http://schemas.microsoft.com/office/drawing/2014/main" id="{F2F1C844-17B5-401F-AF1D-6B57A7333A46}"/>
              </a:ext>
            </a:extLst>
          </p:cNvPr>
          <p:cNvSpPr txBox="1"/>
          <p:nvPr/>
        </p:nvSpPr>
        <p:spPr>
          <a:xfrm>
            <a:off x="6815579" y="3529332"/>
            <a:ext cx="5376421" cy="1492716"/>
          </a:xfrm>
          <a:prstGeom prst="rect">
            <a:avLst/>
          </a:prstGeom>
          <a:noFill/>
        </p:spPr>
        <p:txBody>
          <a:bodyPr wrap="square" rtlCol="0">
            <a:spAutoFit/>
          </a:bodyPr>
          <a:lstStyle/>
          <a:p>
            <a:r>
              <a:rPr lang="it-IT" b="1" dirty="0"/>
              <a:t>Cluster 3 — New </a:t>
            </a:r>
            <a:r>
              <a:rPr lang="it-IT" b="1" dirty="0" err="1"/>
              <a:t>Prospects</a:t>
            </a:r>
            <a:endParaRPr lang="it-IT" dirty="0"/>
          </a:p>
          <a:p>
            <a:pPr marL="171450" lvl="0" indent="-171450">
              <a:buFont typeface="Arial" panose="020B0604020202020204" pitchFamily="34" charset="0"/>
              <a:buChar char="•"/>
            </a:pPr>
            <a:r>
              <a:rPr lang="en-IN" sz="1100" dirty="0"/>
              <a:t>3,316 accounts | $14 </a:t>
            </a:r>
            <a:r>
              <a:rPr lang="en-IN" sz="1100" dirty="0" err="1"/>
              <a:t>avg</a:t>
            </a:r>
            <a:r>
              <a:rPr lang="en-IN" sz="1100" dirty="0"/>
              <a:t> revenue | Active within 36 days</a:t>
            </a:r>
            <a:endParaRPr lang="it-IT" sz="1100" dirty="0"/>
          </a:p>
          <a:p>
            <a:pPr marL="171450" lvl="0" indent="-171450">
              <a:buFont typeface="Arial" panose="020B0604020202020204" pitchFamily="34" charset="0"/>
              <a:buChar char="•"/>
            </a:pPr>
            <a:r>
              <a:rPr lang="en-IN" sz="1100" dirty="0"/>
              <a:t>Sampling actively, not yet converting — normal pre-purchase </a:t>
            </a:r>
            <a:r>
              <a:rPr lang="en-IN" sz="1100" dirty="0" err="1"/>
              <a:t>behavior</a:t>
            </a:r>
            <a:endParaRPr lang="it-IT" sz="1100" dirty="0"/>
          </a:p>
          <a:p>
            <a:pPr marL="171450" lvl="0" indent="-171450">
              <a:buFont typeface="Arial" panose="020B0604020202020204" pitchFamily="34" charset="0"/>
              <a:buChar char="•"/>
            </a:pPr>
            <a:r>
              <a:rPr lang="en-IN" sz="1100" dirty="0"/>
              <a:t>Average of 37 samples needed before first sale</a:t>
            </a:r>
            <a:endParaRPr lang="it-IT" sz="1100" dirty="0"/>
          </a:p>
          <a:p>
            <a:pPr marL="171450" lvl="0" indent="-171450">
              <a:buFont typeface="Arial" panose="020B0604020202020204" pitchFamily="34" charset="0"/>
              <a:buChar char="•"/>
            </a:pPr>
            <a:r>
              <a:rPr lang="en-IN" sz="1100" dirty="0"/>
              <a:t>Nurture with product education; flag near-threshold accounts for outreach</a:t>
            </a:r>
            <a:endParaRPr lang="it-IT" sz="1100" dirty="0"/>
          </a:p>
          <a:p>
            <a:endParaRPr lang="it-IT" dirty="0"/>
          </a:p>
        </p:txBody>
      </p:sp>
    </p:spTree>
    <p:extLst>
      <p:ext uri="{BB962C8B-B14F-4D97-AF65-F5344CB8AC3E}">
        <p14:creationId xmlns:p14="http://schemas.microsoft.com/office/powerpoint/2010/main" val="1121039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5C77E54-A891-48F4-9447-F5F10B30242B}"/>
              </a:ext>
            </a:extLst>
          </p:cNvPr>
          <p:cNvSpPr>
            <a:spLocks noGrp="1"/>
          </p:cNvSpPr>
          <p:nvPr>
            <p:ph type="title"/>
          </p:nvPr>
        </p:nvSpPr>
        <p:spPr>
          <a:xfrm>
            <a:off x="3092546" y="0"/>
            <a:ext cx="6739611" cy="707010"/>
          </a:xfrm>
        </p:spPr>
        <p:txBody>
          <a:bodyPr>
            <a:normAutofit fontScale="90000"/>
          </a:bodyPr>
          <a:lstStyle/>
          <a:p>
            <a:r>
              <a:rPr lang="en-IN" b="1" cap="all" dirty="0"/>
              <a:t>PRODUCT AFFINITY AND PRICING</a:t>
            </a:r>
            <a:br>
              <a:rPr lang="it-IT" b="1" cap="all" dirty="0"/>
            </a:br>
            <a:endParaRPr lang="it-IT" dirty="0"/>
          </a:p>
        </p:txBody>
      </p:sp>
      <p:pic>
        <p:nvPicPr>
          <p:cNvPr id="4" name="Immagine 3">
            <a:extLst>
              <a:ext uri="{FF2B5EF4-FFF2-40B4-BE49-F238E27FC236}">
                <a16:creationId xmlns:a16="http://schemas.microsoft.com/office/drawing/2014/main" id="{CA972828-B319-48BB-9B24-BD6BB4678615}"/>
              </a:ext>
            </a:extLst>
          </p:cNvPr>
          <p:cNvPicPr/>
          <p:nvPr/>
        </p:nvPicPr>
        <p:blipFill>
          <a:blip r:embed="rId2">
            <a:extLst>
              <a:ext uri="{28A0092B-C50C-407E-A947-70E740481C1C}">
                <a14:useLocalDpi xmlns:a14="http://schemas.microsoft.com/office/drawing/2010/main" val="0"/>
              </a:ext>
            </a:extLst>
          </a:blip>
          <a:stretch>
            <a:fillRect/>
          </a:stretch>
        </p:blipFill>
        <p:spPr>
          <a:xfrm>
            <a:off x="717826" y="707010"/>
            <a:ext cx="4832982" cy="3577352"/>
          </a:xfrm>
          <a:prstGeom prst="rect">
            <a:avLst/>
          </a:prstGeom>
        </p:spPr>
      </p:pic>
      <p:sp>
        <p:nvSpPr>
          <p:cNvPr id="5" name="Rettangolo 4">
            <a:extLst>
              <a:ext uri="{FF2B5EF4-FFF2-40B4-BE49-F238E27FC236}">
                <a16:creationId xmlns:a16="http://schemas.microsoft.com/office/drawing/2014/main" id="{A58F2CA3-E78E-4C29-AA4B-A5F7F56BB697}"/>
              </a:ext>
            </a:extLst>
          </p:cNvPr>
          <p:cNvSpPr/>
          <p:nvPr/>
        </p:nvSpPr>
        <p:spPr>
          <a:xfrm>
            <a:off x="934643" y="4510207"/>
            <a:ext cx="4521898" cy="703334"/>
          </a:xfrm>
          <a:prstGeom prst="rect">
            <a:avLst/>
          </a:prstGeom>
        </p:spPr>
        <p:txBody>
          <a:bodyPr wrap="square">
            <a:spAutoFit/>
          </a:bodyPr>
          <a:lstStyle/>
          <a:p>
            <a:pPr lvl="0" algn="just">
              <a:lnSpc>
                <a:spcPct val="115000"/>
              </a:lnSpc>
              <a:spcBef>
                <a:spcPts val="500"/>
              </a:spcBef>
              <a:spcAft>
                <a:spcPts val="1000"/>
              </a:spcAft>
              <a:buSzPts val="1000"/>
              <a:tabLst>
                <a:tab pos="457200" algn="l"/>
              </a:tabLst>
            </a:pPr>
            <a:r>
              <a:rPr lang="en-IN" dirty="0">
                <a:latin typeface="Times New Roman" panose="02020603050405020304" pitchFamily="18" charset="0"/>
                <a:ea typeface="Times New Roman" panose="02020603050405020304" pitchFamily="18" charset="0"/>
                <a:cs typeface="Tahoma" panose="020B0604030504040204" pitchFamily="34" charset="0"/>
              </a:rPr>
              <a:t>Approximately </a:t>
            </a:r>
            <a:r>
              <a:rPr lang="en-IN" b="1" dirty="0">
                <a:latin typeface="Times New Roman" panose="02020603050405020304" pitchFamily="18" charset="0"/>
                <a:ea typeface="Times New Roman" panose="02020603050405020304" pitchFamily="18" charset="0"/>
                <a:cs typeface="Tahoma" panose="020B0604030504040204" pitchFamily="34" charset="0"/>
              </a:rPr>
              <a:t>20% of customers</a:t>
            </a:r>
            <a:r>
              <a:rPr lang="en-IN" dirty="0">
                <a:latin typeface="Times New Roman" panose="02020603050405020304" pitchFamily="18" charset="0"/>
                <a:ea typeface="Times New Roman" panose="02020603050405020304" pitchFamily="18" charset="0"/>
                <a:cs typeface="Tahoma" panose="020B0604030504040204" pitchFamily="34" charset="0"/>
              </a:rPr>
              <a:t> contribute to roughly </a:t>
            </a:r>
            <a:r>
              <a:rPr lang="en-IN" b="1" dirty="0">
                <a:latin typeface="Times New Roman" panose="02020603050405020304" pitchFamily="18" charset="0"/>
                <a:ea typeface="Times New Roman" panose="02020603050405020304" pitchFamily="18" charset="0"/>
                <a:cs typeface="Tahoma" panose="020B0604030504040204" pitchFamily="34" charset="0"/>
              </a:rPr>
              <a:t>80% of the total net revenue</a:t>
            </a:r>
            <a:r>
              <a:rPr lang="en-IN" dirty="0">
                <a:latin typeface="Times New Roman" panose="02020603050405020304" pitchFamily="18" charset="0"/>
                <a:ea typeface="Times New Roman" panose="02020603050405020304" pitchFamily="18" charset="0"/>
                <a:cs typeface="Tahoma" panose="020B0604030504040204" pitchFamily="34" charset="0"/>
              </a:rPr>
              <a:t>.</a:t>
            </a:r>
            <a:endParaRPr lang="it-IT" sz="1200" dirty="0">
              <a:effectLst/>
              <a:latin typeface="Century Gothic" panose="020B0502020202020204" pitchFamily="34" charset="0"/>
              <a:ea typeface="Times New Roman" panose="02020603050405020304" pitchFamily="18" charset="0"/>
              <a:cs typeface="Tahoma" panose="020B0604030504040204" pitchFamily="34" charset="0"/>
            </a:endParaRPr>
          </a:p>
        </p:txBody>
      </p:sp>
      <p:pic>
        <p:nvPicPr>
          <p:cNvPr id="6" name="Immagine 5">
            <a:extLst>
              <a:ext uri="{FF2B5EF4-FFF2-40B4-BE49-F238E27FC236}">
                <a16:creationId xmlns:a16="http://schemas.microsoft.com/office/drawing/2014/main" id="{59FCFF59-949F-4C91-B0E6-B86206EBCE2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6641193" y="758857"/>
            <a:ext cx="4126970" cy="3355305"/>
          </a:xfrm>
          <a:prstGeom prst="rect">
            <a:avLst/>
          </a:prstGeom>
        </p:spPr>
      </p:pic>
      <p:sp>
        <p:nvSpPr>
          <p:cNvPr id="7" name="Rettangolo 6">
            <a:extLst>
              <a:ext uri="{FF2B5EF4-FFF2-40B4-BE49-F238E27FC236}">
                <a16:creationId xmlns:a16="http://schemas.microsoft.com/office/drawing/2014/main" id="{525F692E-BF00-4903-94C8-7AFBD031E197}"/>
              </a:ext>
            </a:extLst>
          </p:cNvPr>
          <p:cNvSpPr/>
          <p:nvPr/>
        </p:nvSpPr>
        <p:spPr>
          <a:xfrm>
            <a:off x="5852465" y="4284362"/>
            <a:ext cx="6096000" cy="2169889"/>
          </a:xfrm>
          <a:prstGeom prst="rect">
            <a:avLst/>
          </a:prstGeom>
        </p:spPr>
        <p:txBody>
          <a:bodyPr>
            <a:spAutoFit/>
          </a:bodyPr>
          <a:lstStyle/>
          <a:p>
            <a:pPr algn="just">
              <a:lnSpc>
                <a:spcPct val="115000"/>
              </a:lnSpc>
              <a:spcBef>
                <a:spcPts val="500"/>
              </a:spcBef>
              <a:spcAft>
                <a:spcPts val="1000"/>
              </a:spcAft>
            </a:pPr>
            <a:r>
              <a:rPr lang="en-IN" b="1" dirty="0">
                <a:latin typeface="Times New Roman" panose="02020603050405020304" pitchFamily="18" charset="0"/>
                <a:ea typeface="Times New Roman" panose="02020603050405020304" pitchFamily="18" charset="0"/>
                <a:cs typeface="Tahoma" panose="020B0604030504040204" pitchFamily="34" charset="0"/>
              </a:rPr>
              <a:t>Distinct Segmentation:</a:t>
            </a:r>
            <a:r>
              <a:rPr lang="en-IN" dirty="0">
                <a:latin typeface="Times New Roman" panose="02020603050405020304" pitchFamily="18" charset="0"/>
                <a:ea typeface="Times New Roman" panose="02020603050405020304" pitchFamily="18" charset="0"/>
                <a:cs typeface="Tahoma" panose="020B0604030504040204" pitchFamily="34" charset="0"/>
              </a:rPr>
              <a:t> Strong negative affinity (-0.69) suggests "Fabric-first" vs. "Wallcovering-first" buyer profiles rather than a shared basket.</a:t>
            </a:r>
            <a:endParaRPr lang="it-IT" sz="1200" dirty="0">
              <a:latin typeface="Century Gothic" panose="020B0502020202020204" pitchFamily="34" charset="0"/>
              <a:ea typeface="Times New Roman" panose="02020603050405020304" pitchFamily="18" charset="0"/>
              <a:cs typeface="Tahoma" panose="020B0604030504040204" pitchFamily="34" charset="0"/>
            </a:endParaRPr>
          </a:p>
          <a:p>
            <a:pPr algn="just">
              <a:lnSpc>
                <a:spcPct val="115000"/>
              </a:lnSpc>
              <a:spcBef>
                <a:spcPts val="500"/>
              </a:spcBef>
              <a:spcAft>
                <a:spcPts val="1000"/>
              </a:spcAft>
            </a:pPr>
            <a:r>
              <a:rPr lang="en-IN" b="1" dirty="0">
                <a:latin typeface="Times New Roman" panose="02020603050405020304" pitchFamily="18" charset="0"/>
                <a:ea typeface="Times New Roman" panose="02020603050405020304" pitchFamily="18" charset="0"/>
                <a:cs typeface="Tahoma" panose="020B0604030504040204" pitchFamily="34" charset="0"/>
              </a:rPr>
              <a:t>Strategic Opportunity:</a:t>
            </a:r>
            <a:r>
              <a:rPr lang="en-IN" dirty="0">
                <a:latin typeface="Times New Roman" panose="02020603050405020304" pitchFamily="18" charset="0"/>
                <a:ea typeface="Times New Roman" panose="02020603050405020304" pitchFamily="18" charset="0"/>
                <a:cs typeface="Tahoma" panose="020B0604030504040204" pitchFamily="34" charset="0"/>
              </a:rPr>
              <a:t> High resistance to traditional cross-selling; requires bundled promotions or targeted "bridge" campaigns to capture total wallet share.</a:t>
            </a:r>
            <a:endParaRPr lang="it-IT" sz="1200" dirty="0">
              <a:effectLst/>
              <a:latin typeface="Century Gothic" panose="020B0502020202020204" pitchFamily="34" charset="0"/>
              <a:ea typeface="Times New Roman" panose="02020603050405020304" pitchFamily="18" charset="0"/>
              <a:cs typeface="Tahoma" panose="020B0604030504040204" pitchFamily="34" charset="0"/>
            </a:endParaRPr>
          </a:p>
        </p:txBody>
      </p:sp>
    </p:spTree>
    <p:extLst>
      <p:ext uri="{BB962C8B-B14F-4D97-AF65-F5344CB8AC3E}">
        <p14:creationId xmlns:p14="http://schemas.microsoft.com/office/powerpoint/2010/main" val="3921826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797287A1-0FF5-40FC-AD2A-1ED2CF0D132C}"/>
              </a:ext>
            </a:extLst>
          </p:cNvPr>
          <p:cNvPicPr/>
          <p:nvPr/>
        </p:nvPicPr>
        <p:blipFill>
          <a:blip r:embed="rId2">
            <a:extLst>
              <a:ext uri="{28A0092B-C50C-407E-A947-70E740481C1C}">
                <a14:useLocalDpi xmlns:a14="http://schemas.microsoft.com/office/drawing/2010/main" val="0"/>
              </a:ext>
            </a:extLst>
          </a:blip>
          <a:stretch>
            <a:fillRect/>
          </a:stretch>
        </p:blipFill>
        <p:spPr>
          <a:xfrm>
            <a:off x="203516" y="0"/>
            <a:ext cx="5892483" cy="3629320"/>
          </a:xfrm>
          <a:prstGeom prst="rect">
            <a:avLst/>
          </a:prstGeom>
        </p:spPr>
      </p:pic>
      <p:sp>
        <p:nvSpPr>
          <p:cNvPr id="5" name="Rettangolo 4">
            <a:extLst>
              <a:ext uri="{FF2B5EF4-FFF2-40B4-BE49-F238E27FC236}">
                <a16:creationId xmlns:a16="http://schemas.microsoft.com/office/drawing/2014/main" id="{17B9DAAB-F413-4CB1-BC5D-1AB58488F3E2}"/>
              </a:ext>
            </a:extLst>
          </p:cNvPr>
          <p:cNvSpPr/>
          <p:nvPr/>
        </p:nvSpPr>
        <p:spPr>
          <a:xfrm>
            <a:off x="6488576" y="340878"/>
            <a:ext cx="2929007" cy="369332"/>
          </a:xfrm>
          <a:prstGeom prst="rect">
            <a:avLst/>
          </a:prstGeom>
        </p:spPr>
        <p:txBody>
          <a:bodyPr wrap="none">
            <a:spAutoFit/>
          </a:bodyPr>
          <a:lstStyle/>
          <a:p>
            <a:r>
              <a:rPr lang="en-IN" b="1" dirty="0">
                <a:latin typeface="Times New Roman" panose="02020603050405020304" pitchFamily="18" charset="0"/>
                <a:ea typeface="Times New Roman" panose="02020603050405020304" pitchFamily="18" charset="0"/>
              </a:rPr>
              <a:t>Goldilocks Zone ($100–250)</a:t>
            </a:r>
            <a:endParaRPr lang="it-IT" dirty="0"/>
          </a:p>
        </p:txBody>
      </p:sp>
      <p:sp>
        <p:nvSpPr>
          <p:cNvPr id="6" name="Rettangolo 5">
            <a:extLst>
              <a:ext uri="{FF2B5EF4-FFF2-40B4-BE49-F238E27FC236}">
                <a16:creationId xmlns:a16="http://schemas.microsoft.com/office/drawing/2014/main" id="{CA1AA25B-92E3-4A4C-ACA5-91AD32654BAA}"/>
              </a:ext>
            </a:extLst>
          </p:cNvPr>
          <p:cNvSpPr/>
          <p:nvPr/>
        </p:nvSpPr>
        <p:spPr>
          <a:xfrm>
            <a:off x="6488576" y="906486"/>
            <a:ext cx="3070071" cy="369332"/>
          </a:xfrm>
          <a:prstGeom prst="rect">
            <a:avLst/>
          </a:prstGeom>
        </p:spPr>
        <p:txBody>
          <a:bodyPr wrap="none">
            <a:spAutoFit/>
          </a:bodyPr>
          <a:lstStyle/>
          <a:p>
            <a:r>
              <a:rPr lang="en-IN" b="1" dirty="0">
                <a:latin typeface="Times New Roman" panose="02020603050405020304" pitchFamily="18" charset="0"/>
                <a:ea typeface="Times New Roman" panose="02020603050405020304" pitchFamily="18" charset="0"/>
              </a:rPr>
              <a:t>Positive Momentum ($0–100)</a:t>
            </a:r>
            <a:endParaRPr lang="it-IT" dirty="0"/>
          </a:p>
        </p:txBody>
      </p:sp>
      <p:sp>
        <p:nvSpPr>
          <p:cNvPr id="7" name="Rettangolo 6">
            <a:extLst>
              <a:ext uri="{FF2B5EF4-FFF2-40B4-BE49-F238E27FC236}">
                <a16:creationId xmlns:a16="http://schemas.microsoft.com/office/drawing/2014/main" id="{E1A4F43A-9EA4-46BD-AF28-B1DCC3DCC9B2}"/>
              </a:ext>
            </a:extLst>
          </p:cNvPr>
          <p:cNvSpPr/>
          <p:nvPr/>
        </p:nvSpPr>
        <p:spPr>
          <a:xfrm>
            <a:off x="6488576" y="1472094"/>
            <a:ext cx="3533018" cy="369332"/>
          </a:xfrm>
          <a:prstGeom prst="rect">
            <a:avLst/>
          </a:prstGeom>
        </p:spPr>
        <p:txBody>
          <a:bodyPr wrap="none">
            <a:spAutoFit/>
          </a:bodyPr>
          <a:lstStyle/>
          <a:p>
            <a:r>
              <a:rPr lang="en-IN" b="1" dirty="0">
                <a:latin typeface="Times New Roman" panose="02020603050405020304" pitchFamily="18" charset="0"/>
                <a:ea typeface="Times New Roman" panose="02020603050405020304" pitchFamily="18" charset="0"/>
              </a:rPr>
              <a:t>The Resistance Threshold ($250+)</a:t>
            </a:r>
            <a:endParaRPr lang="it-IT" dirty="0"/>
          </a:p>
        </p:txBody>
      </p:sp>
      <p:sp>
        <p:nvSpPr>
          <p:cNvPr id="8" name="Rettangolo 7">
            <a:extLst>
              <a:ext uri="{FF2B5EF4-FFF2-40B4-BE49-F238E27FC236}">
                <a16:creationId xmlns:a16="http://schemas.microsoft.com/office/drawing/2014/main" id="{6721472B-5121-4275-BD4C-B776324F5071}"/>
              </a:ext>
            </a:extLst>
          </p:cNvPr>
          <p:cNvSpPr/>
          <p:nvPr/>
        </p:nvSpPr>
        <p:spPr>
          <a:xfrm>
            <a:off x="6489537" y="2037702"/>
            <a:ext cx="2928046" cy="369332"/>
          </a:xfrm>
          <a:prstGeom prst="rect">
            <a:avLst/>
          </a:prstGeom>
        </p:spPr>
        <p:txBody>
          <a:bodyPr wrap="none">
            <a:spAutoFit/>
          </a:bodyPr>
          <a:lstStyle/>
          <a:p>
            <a:r>
              <a:rPr lang="en-IN" b="1" dirty="0">
                <a:latin typeface="Times New Roman" panose="02020603050405020304" pitchFamily="18" charset="0"/>
                <a:ea typeface="Times New Roman" panose="02020603050405020304" pitchFamily="18" charset="0"/>
              </a:rPr>
              <a:t>High-Ticket Friction ($1k+)</a:t>
            </a:r>
            <a:endParaRPr lang="it-IT" dirty="0"/>
          </a:p>
        </p:txBody>
      </p:sp>
      <p:pic>
        <p:nvPicPr>
          <p:cNvPr id="9" name="Immagine 8">
            <a:extLst>
              <a:ext uri="{FF2B5EF4-FFF2-40B4-BE49-F238E27FC236}">
                <a16:creationId xmlns:a16="http://schemas.microsoft.com/office/drawing/2014/main" id="{751423F0-F71C-405E-90E7-D8D9FF22BDA6}"/>
              </a:ext>
            </a:extLst>
          </p:cNvPr>
          <p:cNvPicPr/>
          <p:nvPr/>
        </p:nvPicPr>
        <p:blipFill>
          <a:blip r:embed="rId3">
            <a:extLst>
              <a:ext uri="{28A0092B-C50C-407E-A947-70E740481C1C}">
                <a14:useLocalDpi xmlns:a14="http://schemas.microsoft.com/office/drawing/2010/main" val="0"/>
              </a:ext>
            </a:extLst>
          </a:blip>
          <a:stretch>
            <a:fillRect/>
          </a:stretch>
        </p:blipFill>
        <p:spPr>
          <a:xfrm>
            <a:off x="203516" y="3629320"/>
            <a:ext cx="5892482" cy="3217545"/>
          </a:xfrm>
          <a:prstGeom prst="rect">
            <a:avLst/>
          </a:prstGeom>
        </p:spPr>
      </p:pic>
      <p:sp>
        <p:nvSpPr>
          <p:cNvPr id="10" name="Rettangolo 9">
            <a:extLst>
              <a:ext uri="{FF2B5EF4-FFF2-40B4-BE49-F238E27FC236}">
                <a16:creationId xmlns:a16="http://schemas.microsoft.com/office/drawing/2014/main" id="{9735EFBE-E4DE-4D51-A976-2C3B9C85AB06}"/>
              </a:ext>
            </a:extLst>
          </p:cNvPr>
          <p:cNvSpPr/>
          <p:nvPr/>
        </p:nvSpPr>
        <p:spPr>
          <a:xfrm>
            <a:off x="6281394" y="4267515"/>
            <a:ext cx="5492685" cy="1754326"/>
          </a:xfrm>
          <a:prstGeom prst="rect">
            <a:avLst/>
          </a:prstGeom>
        </p:spPr>
        <p:txBody>
          <a:bodyPr wrap="square">
            <a:spAutoFit/>
          </a:bodyPr>
          <a:lstStyle/>
          <a:p>
            <a:r>
              <a:rPr lang="en-US" dirty="0"/>
              <a:t>The revenue analysis reveals a clear market preference for classic patterns, with </a:t>
            </a:r>
            <a:r>
              <a:rPr lang="en-US" b="1" dirty="0"/>
              <a:t>Botanical</a:t>
            </a:r>
            <a:r>
              <a:rPr lang="en-US" dirty="0"/>
              <a:t>, </a:t>
            </a:r>
            <a:r>
              <a:rPr lang="en-US" b="1" dirty="0"/>
              <a:t>Solid</a:t>
            </a:r>
            <a:r>
              <a:rPr lang="en-US" dirty="0"/>
              <a:t>, and </a:t>
            </a:r>
            <a:r>
              <a:rPr lang="en-US" b="1" dirty="0"/>
              <a:t>Floral</a:t>
            </a:r>
            <a:r>
              <a:rPr lang="en-US" dirty="0"/>
              <a:t> motifs emerging as the primary revenue drivers, each generating nearly double the individual revenue of mid-tier categories like </a:t>
            </a:r>
            <a:r>
              <a:rPr lang="en-US" b="1" dirty="0"/>
              <a:t>Geometric</a:t>
            </a:r>
            <a:r>
              <a:rPr lang="en-US" dirty="0"/>
              <a:t> or </a:t>
            </a:r>
            <a:r>
              <a:rPr lang="en-US" b="1" dirty="0"/>
              <a:t>Texture</a:t>
            </a:r>
            <a:r>
              <a:rPr lang="en-US" dirty="0"/>
              <a:t>.</a:t>
            </a:r>
            <a:endParaRPr lang="it-IT" dirty="0"/>
          </a:p>
        </p:txBody>
      </p:sp>
    </p:spTree>
    <p:extLst>
      <p:ext uri="{BB962C8B-B14F-4D97-AF65-F5344CB8AC3E}">
        <p14:creationId xmlns:p14="http://schemas.microsoft.com/office/powerpoint/2010/main" val="3324384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FFBCDE-EA36-44EE-B953-3DFE31E8BF5D}"/>
              </a:ext>
            </a:extLst>
          </p:cNvPr>
          <p:cNvSpPr>
            <a:spLocks noGrp="1"/>
          </p:cNvSpPr>
          <p:nvPr>
            <p:ph type="title"/>
          </p:nvPr>
        </p:nvSpPr>
        <p:spPr>
          <a:xfrm>
            <a:off x="1436017" y="111343"/>
            <a:ext cx="11274457" cy="1280890"/>
          </a:xfrm>
        </p:spPr>
        <p:txBody>
          <a:bodyPr>
            <a:normAutofit/>
          </a:bodyPr>
          <a:lstStyle/>
          <a:p>
            <a:r>
              <a:rPr lang="en-IN" sz="3200" dirty="0"/>
              <a:t>Recommendation engine (AI – NLP, CV/TORCH)</a:t>
            </a:r>
            <a:endParaRPr lang="it-IT" sz="3200" dirty="0"/>
          </a:p>
        </p:txBody>
      </p:sp>
      <p:sp>
        <p:nvSpPr>
          <p:cNvPr id="3" name="Segnaposto contenuto 2">
            <a:extLst>
              <a:ext uri="{FF2B5EF4-FFF2-40B4-BE49-F238E27FC236}">
                <a16:creationId xmlns:a16="http://schemas.microsoft.com/office/drawing/2014/main" id="{EBC174E3-4836-4FA7-98C9-B06CDA057B10}"/>
              </a:ext>
            </a:extLst>
          </p:cNvPr>
          <p:cNvSpPr>
            <a:spLocks noGrp="1"/>
          </p:cNvSpPr>
          <p:nvPr>
            <p:ph idx="1"/>
          </p:nvPr>
        </p:nvSpPr>
        <p:spPr>
          <a:xfrm>
            <a:off x="1553457" y="1128860"/>
            <a:ext cx="9551317" cy="1194062"/>
          </a:xfrm>
        </p:spPr>
        <p:txBody>
          <a:bodyPr/>
          <a:lstStyle/>
          <a:p>
            <a:pPr marL="0" indent="0" algn="just">
              <a:buNone/>
            </a:pPr>
            <a:r>
              <a:rPr lang="en-US" dirty="0"/>
              <a:t>Our </a:t>
            </a:r>
            <a:r>
              <a:rPr lang="en-US" dirty="0" err="1"/>
              <a:t>Streamlit</a:t>
            </a:r>
            <a:r>
              <a:rPr lang="en-US" dirty="0"/>
              <a:t> powered recommendation engine integrates Vision and Text AI via Hugging Face embeddings to deliver hyper-personalized curated selections, directly converting high-intent sampling into measurable revenue growth.</a:t>
            </a:r>
            <a:endParaRPr lang="it-IT" dirty="0"/>
          </a:p>
        </p:txBody>
      </p:sp>
      <p:pic>
        <p:nvPicPr>
          <p:cNvPr id="4" name="Immagine 3">
            <a:extLst>
              <a:ext uri="{FF2B5EF4-FFF2-40B4-BE49-F238E27FC236}">
                <a16:creationId xmlns:a16="http://schemas.microsoft.com/office/drawing/2014/main" id="{5368ADDA-B9C7-4EA9-A840-B6599B1F8A1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98482" y="2469822"/>
            <a:ext cx="8389856" cy="3636389"/>
          </a:xfrm>
          <a:prstGeom prst="rect">
            <a:avLst/>
          </a:prstGeom>
        </p:spPr>
      </p:pic>
    </p:spTree>
    <p:extLst>
      <p:ext uri="{BB962C8B-B14F-4D97-AF65-F5344CB8AC3E}">
        <p14:creationId xmlns:p14="http://schemas.microsoft.com/office/powerpoint/2010/main" val="2016017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389699-AC8C-40B6-AEB5-BB66E36BD5B1}"/>
              </a:ext>
            </a:extLst>
          </p:cNvPr>
          <p:cNvSpPr>
            <a:spLocks noGrp="1"/>
          </p:cNvSpPr>
          <p:nvPr>
            <p:ph type="title"/>
          </p:nvPr>
        </p:nvSpPr>
        <p:spPr>
          <a:xfrm>
            <a:off x="527901" y="235523"/>
            <a:ext cx="8911687" cy="780484"/>
          </a:xfrm>
        </p:spPr>
        <p:txBody>
          <a:bodyPr/>
          <a:lstStyle/>
          <a:p>
            <a:r>
              <a:rPr lang="en-IN" b="1" dirty="0"/>
              <a:t>Recommendations</a:t>
            </a:r>
            <a:endParaRPr lang="it-IT" b="1" dirty="0"/>
          </a:p>
        </p:txBody>
      </p:sp>
      <p:sp>
        <p:nvSpPr>
          <p:cNvPr id="3" name="Segnaposto contenuto 2">
            <a:extLst>
              <a:ext uri="{FF2B5EF4-FFF2-40B4-BE49-F238E27FC236}">
                <a16:creationId xmlns:a16="http://schemas.microsoft.com/office/drawing/2014/main" id="{369EE554-29D9-4AE5-B555-17FC308D8736}"/>
              </a:ext>
            </a:extLst>
          </p:cNvPr>
          <p:cNvSpPr>
            <a:spLocks noGrp="1"/>
          </p:cNvSpPr>
          <p:nvPr>
            <p:ph idx="1"/>
          </p:nvPr>
        </p:nvSpPr>
        <p:spPr>
          <a:xfrm>
            <a:off x="527901" y="1337020"/>
            <a:ext cx="11397006" cy="5082634"/>
          </a:xfrm>
        </p:spPr>
        <p:txBody>
          <a:bodyPr>
            <a:normAutofit fontScale="85000" lnSpcReduction="20000"/>
          </a:bodyPr>
          <a:lstStyle/>
          <a:p>
            <a:pPr algn="just"/>
            <a:r>
              <a:rPr lang="en-US" b="1" dirty="0"/>
              <a:t>Precision Sales &amp; Lifecycle Management</a:t>
            </a:r>
          </a:p>
          <a:p>
            <a:pPr marL="0" indent="0" algn="just">
              <a:buNone/>
            </a:pPr>
            <a:r>
              <a:rPr lang="en-US" b="1" dirty="0"/>
              <a:t>Predictive Lead Scoring:</a:t>
            </a:r>
            <a:r>
              <a:rPr lang="en-US" dirty="0"/>
              <a:t> Deploy a </a:t>
            </a:r>
            <a:r>
              <a:rPr lang="en-US" b="1" dirty="0"/>
              <a:t>Propensity-to-Buy Model</a:t>
            </a:r>
            <a:r>
              <a:rPr lang="en-US" dirty="0"/>
              <a:t> that analyzes request origin and historical account velocity to assign a "Lead Score" to every sample.</a:t>
            </a:r>
          </a:p>
          <a:p>
            <a:pPr marL="0" indent="0" algn="just">
              <a:buNone/>
            </a:pPr>
            <a:r>
              <a:rPr lang="en-US" b="1" dirty="0"/>
              <a:t>Automated CRM Alerts:</a:t>
            </a:r>
            <a:r>
              <a:rPr lang="en-US" dirty="0"/>
              <a:t> Trigger high-priority notifications for leads with a </a:t>
            </a:r>
            <a:r>
              <a:rPr lang="en-US" b="1" dirty="0"/>
              <a:t>score &gt; 0.8</a:t>
            </a:r>
            <a:r>
              <a:rPr lang="en-US" dirty="0"/>
              <a:t>, targeting a </a:t>
            </a:r>
            <a:r>
              <a:rPr lang="en-US" b="1" dirty="0"/>
              <a:t>10-15% increase</a:t>
            </a:r>
            <a:r>
              <a:rPr lang="en-US" dirty="0"/>
              <a:t> in conversion efficiency.</a:t>
            </a:r>
          </a:p>
          <a:p>
            <a:pPr marL="0" indent="0" algn="just">
              <a:buNone/>
            </a:pPr>
            <a:r>
              <a:rPr lang="en-US" b="1" dirty="0"/>
              <a:t>Dynamic Retention:</a:t>
            </a:r>
            <a:r>
              <a:rPr lang="en-US" dirty="0"/>
              <a:t> Use </a:t>
            </a:r>
            <a:r>
              <a:rPr lang="en-US" b="1" dirty="0"/>
              <a:t>K-Means clustering</a:t>
            </a:r>
            <a:r>
              <a:rPr lang="en-US" dirty="0"/>
              <a:t> to identify "At-Risk" accounts, triggering automated API calls for personalized inspiration outreach.</a:t>
            </a:r>
          </a:p>
          <a:p>
            <a:pPr marL="0" indent="0" algn="just">
              <a:buNone/>
            </a:pPr>
            <a:endParaRPr lang="en-US" dirty="0"/>
          </a:p>
          <a:p>
            <a:pPr algn="just"/>
            <a:r>
              <a:rPr lang="en-US" b="1" dirty="0"/>
              <a:t>Affinity-Based Intelligence</a:t>
            </a:r>
          </a:p>
          <a:p>
            <a:pPr marL="0" indent="0" algn="just">
              <a:buNone/>
            </a:pPr>
            <a:r>
              <a:rPr lang="en-US" b="1" dirty="0"/>
              <a:t>Cross-Category Penetration:</a:t>
            </a:r>
            <a:r>
              <a:rPr lang="en-US" dirty="0"/>
              <a:t> Utilize the </a:t>
            </a:r>
            <a:r>
              <a:rPr lang="en-US" b="1" dirty="0" err="1"/>
              <a:t>Apriori</a:t>
            </a:r>
            <a:r>
              <a:rPr lang="en-US" b="1" dirty="0"/>
              <a:t> algorithm</a:t>
            </a:r>
            <a:r>
              <a:rPr lang="en-US" dirty="0"/>
              <a:t> to map statistical co-occurrences between motifs and subclasses, such as wallpaper and fabric trimmings.</a:t>
            </a:r>
          </a:p>
          <a:p>
            <a:pPr marL="0" indent="0" algn="just">
              <a:buNone/>
            </a:pPr>
            <a:r>
              <a:rPr lang="en-US" b="1" dirty="0"/>
              <a:t>"Complete the Look":</a:t>
            </a:r>
            <a:r>
              <a:rPr lang="en-US" dirty="0"/>
              <a:t> Implement automated recommendations on digital Product Detail Pages (PDP) to drive </a:t>
            </a:r>
            <a:r>
              <a:rPr lang="en-US" b="1" dirty="0"/>
              <a:t>Average Order Value (AOV)</a:t>
            </a:r>
            <a:r>
              <a:rPr lang="en-US" dirty="0"/>
              <a:t>.</a:t>
            </a:r>
          </a:p>
          <a:p>
            <a:pPr marL="0" indent="0" algn="just">
              <a:buNone/>
            </a:pPr>
            <a:endParaRPr lang="en-US" dirty="0"/>
          </a:p>
          <a:p>
            <a:pPr algn="just"/>
            <a:r>
              <a:rPr lang="en-US" b="1" dirty="0"/>
              <a:t>Regional ROI &amp; Future-State AI</a:t>
            </a:r>
          </a:p>
          <a:p>
            <a:pPr marL="0" indent="0" algn="just">
              <a:buNone/>
            </a:pPr>
            <a:r>
              <a:rPr lang="en-US" b="1" dirty="0"/>
              <a:t>Resource Allocation:</a:t>
            </a:r>
            <a:r>
              <a:rPr lang="en-US" dirty="0"/>
              <a:t> Redirect marketing spend to </a:t>
            </a:r>
            <a:r>
              <a:rPr lang="en-US" b="1" dirty="0"/>
              <a:t>"High-Velocity" regions</a:t>
            </a:r>
            <a:r>
              <a:rPr lang="en-US" dirty="0"/>
              <a:t> (e.g., Gulf Coast) identified via geospatial analysis and real-time Power BI monitoring.</a:t>
            </a:r>
          </a:p>
          <a:p>
            <a:pPr marL="0" indent="0" algn="just">
              <a:buNone/>
            </a:pPr>
            <a:r>
              <a:rPr lang="en-US" b="1" dirty="0"/>
              <a:t>Vision Matcher &amp; Forecasting:</a:t>
            </a:r>
            <a:r>
              <a:rPr lang="en-US" dirty="0"/>
              <a:t> Scale the </a:t>
            </a:r>
            <a:r>
              <a:rPr lang="en-US" b="1" dirty="0"/>
              <a:t>AI engine</a:t>
            </a:r>
            <a:r>
              <a:rPr lang="en-US" dirty="0"/>
              <a:t> to allow designers to find motifs via room photos and use time-series analysis to predict demand surges for color families.</a:t>
            </a:r>
          </a:p>
          <a:p>
            <a:endParaRPr lang="it-IT" dirty="0"/>
          </a:p>
        </p:txBody>
      </p:sp>
    </p:spTree>
    <p:extLst>
      <p:ext uri="{BB962C8B-B14F-4D97-AF65-F5344CB8AC3E}">
        <p14:creationId xmlns:p14="http://schemas.microsoft.com/office/powerpoint/2010/main" val="2601389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600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10200000" scaled="0"/>
          <a:tileRect/>
        </a:gradFill>
        <a:effectLst/>
      </p:bgPr>
    </p:bg>
    <p:spTree>
      <p:nvGrpSpPr>
        <p:cNvPr id="1" name=""/>
        <p:cNvGrpSpPr/>
        <p:nvPr/>
      </p:nvGrpSpPr>
      <p:grpSpPr>
        <a:xfrm>
          <a:off x="0" y="0"/>
          <a:ext cx="0" cy="0"/>
          <a:chOff x="0" y="0"/>
          <a:chExt cx="0" cy="0"/>
        </a:xfrm>
      </p:grpSpPr>
      <p:pic>
        <p:nvPicPr>
          <p:cNvPr id="13" name="Immagine 12">
            <a:extLst>
              <a:ext uri="{FF2B5EF4-FFF2-40B4-BE49-F238E27FC236}">
                <a16:creationId xmlns:a16="http://schemas.microsoft.com/office/drawing/2014/main" id="{6AA5D33A-0FAB-4123-B7C6-12EAF2029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66443" cy="6926093"/>
          </a:xfrm>
          <a:prstGeom prst="rect">
            <a:avLst/>
          </a:prstGeom>
        </p:spPr>
      </p:pic>
    </p:spTree>
    <p:extLst>
      <p:ext uri="{BB962C8B-B14F-4D97-AF65-F5344CB8AC3E}">
        <p14:creationId xmlns:p14="http://schemas.microsoft.com/office/powerpoint/2010/main" val="2047224472"/>
      </p:ext>
    </p:extLst>
  </p:cSld>
  <p:clrMapOvr>
    <a:masterClrMapping/>
  </p:clrMapOvr>
</p:sld>
</file>

<file path=ppt/theme/theme1.xml><?xml version="1.0" encoding="utf-8"?>
<a:theme xmlns:a="http://schemas.openxmlformats.org/drawingml/2006/main" name="Fil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ilo">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ilo">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507</TotalTime>
  <Words>1126</Words>
  <Application>Microsoft Office PowerPoint</Application>
  <PresentationFormat>Widescreen</PresentationFormat>
  <Paragraphs>98</Paragraphs>
  <Slides>13</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13</vt:i4>
      </vt:variant>
    </vt:vector>
  </HeadingPairs>
  <TitlesOfParts>
    <vt:vector size="20" baseType="lpstr">
      <vt:lpstr>Arial</vt:lpstr>
      <vt:lpstr>Century Gothic</vt:lpstr>
      <vt:lpstr>Consolas</vt:lpstr>
      <vt:lpstr>Tahoma</vt:lpstr>
      <vt:lpstr>Times New Roman</vt:lpstr>
      <vt:lpstr>Wingdings 3</vt:lpstr>
      <vt:lpstr>Filo</vt:lpstr>
      <vt:lpstr>LuxeIntelligence End-to-End Analytics &amp; AI Ecosystem</vt:lpstr>
      <vt:lpstr>Objective &amp; Data Foundation (Data Audit)</vt:lpstr>
      <vt:lpstr>Conversion Funnel Analysis</vt:lpstr>
      <vt:lpstr>Presentazione standard di PowerPoint</vt:lpstr>
      <vt:lpstr>Presentazione standard di PowerPoint</vt:lpstr>
      <vt:lpstr>RFM Analysis &amp; Segmentation</vt:lpstr>
      <vt:lpstr>KNN IMPLEMENTATION</vt:lpstr>
      <vt:lpstr>KNN IMPLEMENTATION (Bug fix implemented)</vt:lpstr>
      <vt:lpstr>PRODUCT AFFINITY AND PRICING </vt:lpstr>
      <vt:lpstr>Presentazione standard di PowerPoint</vt:lpstr>
      <vt:lpstr>Recommendation engine (AI – NLP, CV/TORCH)</vt:lpstr>
      <vt:lpstr>Recommendations</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LuxeIntelligence: Technical Implementation &amp; Data Science Documentation </dc:title>
  <dc:creator>Avinash, Patnaik</dc:creator>
  <cp:lastModifiedBy>Avinash, Patnaik</cp:lastModifiedBy>
  <cp:revision>56</cp:revision>
  <dcterms:created xsi:type="dcterms:W3CDTF">2026-03-02T18:21:56Z</dcterms:created>
  <dcterms:modified xsi:type="dcterms:W3CDTF">2026-03-10T13:50:09Z</dcterms:modified>
</cp:coreProperties>
</file>