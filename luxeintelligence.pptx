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fld id="{8733D1AA-C967-485F-9C0F-3A10FB3D7970}" type="datetimeFigureOut">
              <a:rPr lang="it-IT" smtClean="0"/>
              <a:t>03/03/2026</a:t>
            </a:fld>
            <a:endParaRPr lang="it-IT"/>
          </a:p>
        </p:txBody>
      </p:sp>
      <p:sp>
        <p:nvSpPr>
          <p:cNvPr id="5" name="Footer Placeholder 4"/>
          <p:cNvSpPr>
            <a:spLocks noGrp="1"/>
          </p:cNvSpPr>
          <p:nvPr>
            <p:ph type="ftr" sz="quarter" idx="11"/>
          </p:nvPr>
        </p:nvSpPr>
        <p:spPr/>
        <p:txBody>
          <a:bodyPr/>
          <a:lstStyle/>
          <a:p>
            <a:endParaRPr lang="it-IT"/>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9432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it-IT"/>
              <a:t>Fare clic per modificare lo stile del titolo dello schema</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8733D1AA-C967-485F-9C0F-3A10FB3D7970}" type="datetimeFigureOut">
              <a:rPr lang="it-IT" smtClean="0"/>
              <a:t>03/03/2026</a:t>
            </a:fld>
            <a:endParaRPr lang="it-IT"/>
          </a:p>
        </p:txBody>
      </p:sp>
      <p:sp>
        <p:nvSpPr>
          <p:cNvPr id="5" name="Footer Placeholder 4"/>
          <p:cNvSpPr>
            <a:spLocks noGrp="1"/>
          </p:cNvSpPr>
          <p:nvPr>
            <p:ph type="ftr" sz="quarter" idx="11"/>
          </p:nvPr>
        </p:nvSpPr>
        <p:spPr/>
        <p:txBody>
          <a:bodyPr/>
          <a:lstStyle/>
          <a:p>
            <a:endParaRPr lang="it-IT"/>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8358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Modifica gli stili del testo dello schema</a:t>
            </a:r>
          </a:p>
        </p:txBody>
      </p:sp>
      <p:sp>
        <p:nvSpPr>
          <p:cNvPr id="4" name="Date Placeholder 3"/>
          <p:cNvSpPr>
            <a:spLocks noGrp="1"/>
          </p:cNvSpPr>
          <p:nvPr>
            <p:ph type="dt" sz="half" idx="10"/>
          </p:nvPr>
        </p:nvSpPr>
        <p:spPr/>
        <p:txBody>
          <a:bodyPr/>
          <a:lstStyle/>
          <a:p>
            <a:fld id="{8733D1AA-C967-485F-9C0F-3A10FB3D7970}" type="datetimeFigureOut">
              <a:rPr lang="it-IT" smtClean="0"/>
              <a:t>03/03/2026</a:t>
            </a:fld>
            <a:endParaRPr lang="it-IT"/>
          </a:p>
        </p:txBody>
      </p:sp>
      <p:sp>
        <p:nvSpPr>
          <p:cNvPr id="5" name="Footer Placeholder 4"/>
          <p:cNvSpPr>
            <a:spLocks noGrp="1"/>
          </p:cNvSpPr>
          <p:nvPr>
            <p:ph type="ftr" sz="quarter" idx="11"/>
          </p:nvPr>
        </p:nvSpPr>
        <p:spPr/>
        <p:txBody>
          <a:bodyPr/>
          <a:lstStyle/>
          <a:p>
            <a:endParaRPr lang="it-IT"/>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3464809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fld id="{8733D1AA-C967-485F-9C0F-3A10FB3D7970}" type="datetimeFigureOut">
              <a:rPr lang="it-IT" smtClean="0"/>
              <a:t>03/03/2026</a:t>
            </a:fld>
            <a:endParaRPr lang="it-IT"/>
          </a:p>
        </p:txBody>
      </p:sp>
      <p:sp>
        <p:nvSpPr>
          <p:cNvPr id="6" name="Footer Placeholder 5"/>
          <p:cNvSpPr>
            <a:spLocks noGrp="1"/>
          </p:cNvSpPr>
          <p:nvPr>
            <p:ph type="ftr" sz="quarter" idx="11"/>
          </p:nvPr>
        </p:nvSpPr>
        <p:spPr/>
        <p:txBody>
          <a:bodyPr/>
          <a:lstStyle/>
          <a:p>
            <a:endParaRPr lang="it-IT"/>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2671573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Modifica gli stili del testo dello schema</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fld id="{8733D1AA-C967-485F-9C0F-3A10FB3D7970}" type="datetimeFigureOut">
              <a:rPr lang="it-IT" smtClean="0"/>
              <a:t>03/03/2026</a:t>
            </a:fld>
            <a:endParaRPr lang="it-IT"/>
          </a:p>
        </p:txBody>
      </p:sp>
      <p:sp>
        <p:nvSpPr>
          <p:cNvPr id="8" name="Footer Placeholder 7"/>
          <p:cNvSpPr>
            <a:spLocks noGrp="1"/>
          </p:cNvSpPr>
          <p:nvPr>
            <p:ph type="ftr" sz="quarter" idx="11"/>
          </p:nvPr>
        </p:nvSpPr>
        <p:spPr/>
        <p:txBody>
          <a:bodyPr/>
          <a:lstStyle/>
          <a:p>
            <a:endParaRPr lang="it-IT"/>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1395585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Date Placeholder 2"/>
          <p:cNvSpPr>
            <a:spLocks noGrp="1"/>
          </p:cNvSpPr>
          <p:nvPr>
            <p:ph type="dt" sz="half" idx="10"/>
          </p:nvPr>
        </p:nvSpPr>
        <p:spPr/>
        <p:txBody>
          <a:bodyPr/>
          <a:lstStyle/>
          <a:p>
            <a:fld id="{8733D1AA-C967-485F-9C0F-3A10FB3D7970}" type="datetimeFigureOut">
              <a:rPr lang="it-IT" smtClean="0"/>
              <a:t>03/03/2026</a:t>
            </a:fld>
            <a:endParaRPr lang="it-IT"/>
          </a:p>
        </p:txBody>
      </p:sp>
      <p:sp>
        <p:nvSpPr>
          <p:cNvPr id="4" name="Footer Placeholder 3"/>
          <p:cNvSpPr>
            <a:spLocks noGrp="1"/>
          </p:cNvSpPr>
          <p:nvPr>
            <p:ph type="ftr" sz="quarter" idx="11"/>
          </p:nvPr>
        </p:nvSpPr>
        <p:spPr/>
        <p:txBody>
          <a:bodyPr/>
          <a:lstStyle/>
          <a:p>
            <a:endParaRPr lang="it-IT"/>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3807969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33D1AA-C967-485F-9C0F-3A10FB3D7970}" type="datetimeFigureOut">
              <a:rPr lang="it-IT" smtClean="0"/>
              <a:t>03/03/2026</a:t>
            </a:fld>
            <a:endParaRPr lang="it-IT"/>
          </a:p>
        </p:txBody>
      </p:sp>
      <p:sp>
        <p:nvSpPr>
          <p:cNvPr id="3" name="Footer Placeholder 2"/>
          <p:cNvSpPr>
            <a:spLocks noGrp="1"/>
          </p:cNvSpPr>
          <p:nvPr>
            <p:ph type="ftr" sz="quarter" idx="11"/>
          </p:nvPr>
        </p:nvSpPr>
        <p:spPr/>
        <p:txBody>
          <a:bodyPr/>
          <a:lstStyle/>
          <a:p>
            <a:endParaRPr lang="it-IT"/>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3148395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Modifica gli stili del testo dello schema</a:t>
            </a:r>
          </a:p>
        </p:txBody>
      </p:sp>
      <p:sp>
        <p:nvSpPr>
          <p:cNvPr id="5" name="Date Placeholder 4"/>
          <p:cNvSpPr>
            <a:spLocks noGrp="1"/>
          </p:cNvSpPr>
          <p:nvPr>
            <p:ph type="dt" sz="half" idx="10"/>
          </p:nvPr>
        </p:nvSpPr>
        <p:spPr/>
        <p:txBody>
          <a:bodyPr/>
          <a:lstStyle/>
          <a:p>
            <a:fld id="{8733D1AA-C967-485F-9C0F-3A10FB3D7970}" type="datetimeFigureOut">
              <a:rPr lang="it-IT" smtClean="0"/>
              <a:t>03/03/2026</a:t>
            </a:fld>
            <a:endParaRPr lang="it-IT"/>
          </a:p>
        </p:txBody>
      </p:sp>
      <p:sp>
        <p:nvSpPr>
          <p:cNvPr id="6" name="Footer Placeholder 5"/>
          <p:cNvSpPr>
            <a:spLocks noGrp="1"/>
          </p:cNvSpPr>
          <p:nvPr>
            <p:ph type="ftr" sz="quarter" idx="11"/>
          </p:nvPr>
        </p:nvSpPr>
        <p:spPr/>
        <p:txBody>
          <a:bodyPr/>
          <a:lstStyle/>
          <a:p>
            <a:endParaRPr lang="it-IT"/>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3926211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Modifica gli stili del testo dello schema</a:t>
            </a:r>
          </a:p>
        </p:txBody>
      </p:sp>
      <p:sp>
        <p:nvSpPr>
          <p:cNvPr id="5" name="Date Placeholder 4"/>
          <p:cNvSpPr>
            <a:spLocks noGrp="1"/>
          </p:cNvSpPr>
          <p:nvPr>
            <p:ph type="dt" sz="half" idx="10"/>
          </p:nvPr>
        </p:nvSpPr>
        <p:spPr/>
        <p:txBody>
          <a:bodyPr/>
          <a:lstStyle/>
          <a:p>
            <a:fld id="{8733D1AA-C967-485F-9C0F-3A10FB3D7970}" type="datetimeFigureOut">
              <a:rPr lang="it-IT" smtClean="0"/>
              <a:t>03/03/2026</a:t>
            </a:fld>
            <a:endParaRPr lang="it-IT"/>
          </a:p>
        </p:txBody>
      </p:sp>
      <p:sp>
        <p:nvSpPr>
          <p:cNvPr id="6" name="Footer Placeholder 5"/>
          <p:cNvSpPr>
            <a:spLocks noGrp="1"/>
          </p:cNvSpPr>
          <p:nvPr>
            <p:ph type="ftr" sz="quarter" idx="11"/>
          </p:nvPr>
        </p:nvSpPr>
        <p:spPr/>
        <p:txBody>
          <a:bodyPr/>
          <a:lstStyle/>
          <a:p>
            <a:endParaRPr lang="it-IT"/>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1356687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Modifica gli stili del testo dello schema</a:t>
            </a:r>
          </a:p>
        </p:txBody>
      </p:sp>
      <p:sp>
        <p:nvSpPr>
          <p:cNvPr id="4" name="Date Placeholder 3"/>
          <p:cNvSpPr>
            <a:spLocks noGrp="1"/>
          </p:cNvSpPr>
          <p:nvPr>
            <p:ph type="dt" sz="half" idx="10"/>
          </p:nvPr>
        </p:nvSpPr>
        <p:spPr/>
        <p:txBody>
          <a:bodyPr/>
          <a:lstStyle/>
          <a:p>
            <a:fld id="{8733D1AA-C967-485F-9C0F-3A10FB3D7970}" type="datetimeFigureOut">
              <a:rPr lang="it-IT" smtClean="0"/>
              <a:t>03/03/2026</a:t>
            </a:fld>
            <a:endParaRPr lang="it-IT"/>
          </a:p>
        </p:txBody>
      </p:sp>
      <p:sp>
        <p:nvSpPr>
          <p:cNvPr id="5" name="Footer Placeholder 4"/>
          <p:cNvSpPr>
            <a:spLocks noGrp="1"/>
          </p:cNvSpPr>
          <p:nvPr>
            <p:ph type="ftr" sz="quarter" idx="11"/>
          </p:nvPr>
        </p:nvSpPr>
        <p:spPr/>
        <p:txBody>
          <a:bodyPr/>
          <a:lstStyle/>
          <a:p>
            <a:endParaRPr lang="it-IT"/>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3588906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it-IT"/>
              <a:t>Fare clic per modificare lo stile del titolo dello schema</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Modifica gli stili del testo dello schema</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Modifica gli stili del testo dello schema</a:t>
            </a:r>
          </a:p>
        </p:txBody>
      </p:sp>
      <p:sp>
        <p:nvSpPr>
          <p:cNvPr id="4" name="Date Placeholder 3"/>
          <p:cNvSpPr>
            <a:spLocks noGrp="1"/>
          </p:cNvSpPr>
          <p:nvPr>
            <p:ph type="dt" sz="half" idx="10"/>
          </p:nvPr>
        </p:nvSpPr>
        <p:spPr/>
        <p:txBody>
          <a:bodyPr/>
          <a:lstStyle/>
          <a:p>
            <a:fld id="{8733D1AA-C967-485F-9C0F-3A10FB3D7970}" type="datetimeFigureOut">
              <a:rPr lang="it-IT" smtClean="0"/>
              <a:t>03/03/2026</a:t>
            </a:fld>
            <a:endParaRPr lang="it-IT"/>
          </a:p>
        </p:txBody>
      </p:sp>
      <p:sp>
        <p:nvSpPr>
          <p:cNvPr id="5" name="Footer Placeholder 4"/>
          <p:cNvSpPr>
            <a:spLocks noGrp="1"/>
          </p:cNvSpPr>
          <p:nvPr>
            <p:ph type="ftr" sz="quarter" idx="11"/>
          </p:nvPr>
        </p:nvSpPr>
        <p:spPr/>
        <p:txBody>
          <a:bodyPr/>
          <a:lstStyle/>
          <a:p>
            <a:endParaRPr lang="it-IT"/>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F7E1431-C1E0-41A9-B616-72E172E29B7F}" type="slidenum">
              <a:rPr lang="it-IT" smtClean="0"/>
              <a:t>‹N›</a:t>
            </a:fld>
            <a:endParaRPr lang="it-IT"/>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35157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it-IT"/>
              <a:t>Fare clic per modificare lo stile del titolo dello schema</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it-IT"/>
              <a:t>Modifica gli stili del testo dello schema</a:t>
            </a:r>
          </a:p>
        </p:txBody>
      </p:sp>
      <p:sp>
        <p:nvSpPr>
          <p:cNvPr id="5" name="Date Placeholder 4"/>
          <p:cNvSpPr>
            <a:spLocks noGrp="1"/>
          </p:cNvSpPr>
          <p:nvPr>
            <p:ph type="dt" sz="half" idx="10"/>
          </p:nvPr>
        </p:nvSpPr>
        <p:spPr/>
        <p:txBody>
          <a:bodyPr/>
          <a:lstStyle/>
          <a:p>
            <a:fld id="{8733D1AA-C967-485F-9C0F-3A10FB3D7970}" type="datetimeFigureOut">
              <a:rPr lang="it-IT" smtClean="0"/>
              <a:t>03/03/2026</a:t>
            </a:fld>
            <a:endParaRPr lang="it-IT"/>
          </a:p>
        </p:txBody>
      </p:sp>
      <p:sp>
        <p:nvSpPr>
          <p:cNvPr id="6" name="Footer Placeholder 5"/>
          <p:cNvSpPr>
            <a:spLocks noGrp="1"/>
          </p:cNvSpPr>
          <p:nvPr>
            <p:ph type="ftr" sz="quarter" idx="11"/>
          </p:nvPr>
        </p:nvSpPr>
        <p:spPr/>
        <p:txBody>
          <a:bodyPr/>
          <a:lstStyle/>
          <a:p>
            <a:endParaRPr lang="it-IT"/>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18346234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citazion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it-IT"/>
              <a:t>Fare clic per modificare lo stile del titolo dello schema</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Modifica gli stili del testo dello schema</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it-IT"/>
              <a:t>Modifica gli stili del testo dello schema</a:t>
            </a:r>
          </a:p>
        </p:txBody>
      </p:sp>
      <p:sp>
        <p:nvSpPr>
          <p:cNvPr id="5" name="Date Placeholder 4"/>
          <p:cNvSpPr>
            <a:spLocks noGrp="1"/>
          </p:cNvSpPr>
          <p:nvPr>
            <p:ph type="dt" sz="half" idx="10"/>
          </p:nvPr>
        </p:nvSpPr>
        <p:spPr/>
        <p:txBody>
          <a:bodyPr/>
          <a:lstStyle/>
          <a:p>
            <a:fld id="{8733D1AA-C967-485F-9C0F-3A10FB3D7970}" type="datetimeFigureOut">
              <a:rPr lang="it-IT" smtClean="0"/>
              <a:t>03/03/2026</a:t>
            </a:fld>
            <a:endParaRPr lang="it-IT"/>
          </a:p>
        </p:txBody>
      </p:sp>
      <p:sp>
        <p:nvSpPr>
          <p:cNvPr id="6" name="Footer Placeholder 5"/>
          <p:cNvSpPr>
            <a:spLocks noGrp="1"/>
          </p:cNvSpPr>
          <p:nvPr>
            <p:ph type="ftr" sz="quarter" idx="11"/>
          </p:nvPr>
        </p:nvSpPr>
        <p:spPr/>
        <p:txBody>
          <a:bodyPr/>
          <a:lstStyle/>
          <a:p>
            <a:endParaRPr lang="it-IT"/>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F7E1431-C1E0-41A9-B616-72E172E29B7F}" type="slidenum">
              <a:rPr lang="it-IT" smtClean="0"/>
              <a:t>‹N›</a:t>
            </a:fld>
            <a:endParaRPr lang="it-IT"/>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682844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it-IT"/>
              <a:t>Fare clic per modificare lo stile del titolo dello schema</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it-IT"/>
              <a:t>Modifica gli stili del testo dello schema</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it-IT"/>
              <a:t>Modifica gli stili del testo dello schema</a:t>
            </a:r>
          </a:p>
        </p:txBody>
      </p:sp>
      <p:sp>
        <p:nvSpPr>
          <p:cNvPr id="5" name="Date Placeholder 4"/>
          <p:cNvSpPr>
            <a:spLocks noGrp="1"/>
          </p:cNvSpPr>
          <p:nvPr>
            <p:ph type="dt" sz="half" idx="10"/>
          </p:nvPr>
        </p:nvSpPr>
        <p:spPr/>
        <p:txBody>
          <a:bodyPr/>
          <a:lstStyle/>
          <a:p>
            <a:fld id="{8733D1AA-C967-485F-9C0F-3A10FB3D7970}" type="datetimeFigureOut">
              <a:rPr lang="it-IT" smtClean="0"/>
              <a:t>03/03/2026</a:t>
            </a:fld>
            <a:endParaRPr lang="it-IT"/>
          </a:p>
        </p:txBody>
      </p:sp>
      <p:sp>
        <p:nvSpPr>
          <p:cNvPr id="6" name="Footer Placeholder 5"/>
          <p:cNvSpPr>
            <a:spLocks noGrp="1"/>
          </p:cNvSpPr>
          <p:nvPr>
            <p:ph type="ftr" sz="quarter" idx="11"/>
          </p:nvPr>
        </p:nvSpPr>
        <p:spPr/>
        <p:txBody>
          <a:bodyPr/>
          <a:lstStyle/>
          <a:p>
            <a:endParaRPr lang="it-IT"/>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2540501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8733D1AA-C967-485F-9C0F-3A10FB3D7970}" type="datetimeFigureOut">
              <a:rPr lang="it-IT" smtClean="0"/>
              <a:t>03/03/2026</a:t>
            </a:fld>
            <a:endParaRPr lang="it-IT"/>
          </a:p>
        </p:txBody>
      </p:sp>
      <p:sp>
        <p:nvSpPr>
          <p:cNvPr id="5" name="Footer Placeholder 4"/>
          <p:cNvSpPr>
            <a:spLocks noGrp="1"/>
          </p:cNvSpPr>
          <p:nvPr>
            <p:ph type="ftr" sz="quarter" idx="11"/>
          </p:nvPr>
        </p:nvSpPr>
        <p:spPr/>
        <p:txBody>
          <a:bodyPr/>
          <a:lstStyle/>
          <a:p>
            <a:endParaRPr lang="it-IT"/>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776972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fld id="{8733D1AA-C967-485F-9C0F-3A10FB3D7970}" type="datetimeFigureOut">
              <a:rPr lang="it-IT" smtClean="0"/>
              <a:t>03/03/2026</a:t>
            </a:fld>
            <a:endParaRPr lang="it-IT"/>
          </a:p>
        </p:txBody>
      </p:sp>
      <p:sp>
        <p:nvSpPr>
          <p:cNvPr id="5" name="Footer Placeholder 4"/>
          <p:cNvSpPr>
            <a:spLocks noGrp="1"/>
          </p:cNvSpPr>
          <p:nvPr>
            <p:ph type="ftr" sz="quarter" idx="11"/>
          </p:nvPr>
        </p:nvSpPr>
        <p:spPr/>
        <p:txBody>
          <a:bodyPr/>
          <a:lstStyle/>
          <a:p>
            <a:endParaRPr lang="it-IT"/>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F7E1431-C1E0-41A9-B616-72E172E29B7F}" type="slidenum">
              <a:rPr lang="it-IT" smtClean="0"/>
              <a:t>‹N›</a:t>
            </a:fld>
            <a:endParaRPr lang="it-IT"/>
          </a:p>
        </p:txBody>
      </p:sp>
    </p:spTree>
    <p:extLst>
      <p:ext uri="{BB962C8B-B14F-4D97-AF65-F5344CB8AC3E}">
        <p14:creationId xmlns:p14="http://schemas.microsoft.com/office/powerpoint/2010/main" val="2108179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733D1AA-C967-485F-9C0F-3A10FB3D7970}" type="datetimeFigureOut">
              <a:rPr lang="it-IT" smtClean="0"/>
              <a:t>03/03/2026</a:t>
            </a:fld>
            <a:endParaRPr lang="it-IT"/>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it-IT"/>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F7E1431-C1E0-41A9-B616-72E172E29B7F}" type="slidenum">
              <a:rPr lang="it-IT" smtClean="0"/>
              <a:t>‹N›</a:t>
            </a:fld>
            <a:endParaRPr lang="it-IT"/>
          </a:p>
        </p:txBody>
      </p:sp>
    </p:spTree>
    <p:extLst>
      <p:ext uri="{BB962C8B-B14F-4D97-AF65-F5344CB8AC3E}">
        <p14:creationId xmlns:p14="http://schemas.microsoft.com/office/powerpoint/2010/main" val="267678396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B15F93F-1E59-4795-A782-7FBC48CE51A7}"/>
              </a:ext>
            </a:extLst>
          </p:cNvPr>
          <p:cNvSpPr>
            <a:spLocks noGrp="1"/>
          </p:cNvSpPr>
          <p:nvPr>
            <p:ph type="ctrTitle"/>
          </p:nvPr>
        </p:nvSpPr>
        <p:spPr>
          <a:xfrm>
            <a:off x="1057835" y="1878109"/>
            <a:ext cx="11286564" cy="2944905"/>
          </a:xfrm>
        </p:spPr>
        <p:txBody>
          <a:bodyPr>
            <a:normAutofit/>
          </a:bodyPr>
          <a:lstStyle/>
          <a:p>
            <a:r>
              <a:rPr lang="en-IN" sz="4000" b="1" dirty="0"/>
              <a:t>LuxeIntelligence: Technical Implementation &amp; Data Science Documentation</a:t>
            </a:r>
            <a:br>
              <a:rPr lang="it-IT" dirty="0"/>
            </a:br>
            <a:endParaRPr lang="it-IT" dirty="0"/>
          </a:p>
        </p:txBody>
      </p:sp>
      <p:pic>
        <p:nvPicPr>
          <p:cNvPr id="5" name="Immagine 4">
            <a:extLst>
              <a:ext uri="{FF2B5EF4-FFF2-40B4-BE49-F238E27FC236}">
                <a16:creationId xmlns:a16="http://schemas.microsoft.com/office/drawing/2014/main" id="{05AD469A-F7E3-40A2-9700-0F03804987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158" y="77008"/>
            <a:ext cx="2316723" cy="2056591"/>
          </a:xfrm>
          <a:prstGeom prst="rect">
            <a:avLst/>
          </a:prstGeom>
          <a:ln>
            <a:solidFill>
              <a:schemeClr val="bg1"/>
            </a:solidFill>
          </a:ln>
        </p:spPr>
      </p:pic>
    </p:spTree>
    <p:extLst>
      <p:ext uri="{BB962C8B-B14F-4D97-AF65-F5344CB8AC3E}">
        <p14:creationId xmlns:p14="http://schemas.microsoft.com/office/powerpoint/2010/main" val="63349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FCA164D-326F-40BE-9102-1F1FDE9C5467}"/>
              </a:ext>
            </a:extLst>
          </p:cNvPr>
          <p:cNvSpPr>
            <a:spLocks noGrp="1"/>
          </p:cNvSpPr>
          <p:nvPr>
            <p:ph type="title"/>
          </p:nvPr>
        </p:nvSpPr>
        <p:spPr>
          <a:xfrm>
            <a:off x="2485349" y="104157"/>
            <a:ext cx="8911687" cy="720596"/>
          </a:xfrm>
        </p:spPr>
        <p:txBody>
          <a:bodyPr>
            <a:normAutofit/>
          </a:bodyPr>
          <a:lstStyle/>
          <a:p>
            <a:r>
              <a:rPr lang="en-US" sz="2800" dirty="0"/>
              <a:t>Objective &amp; Data Foundation (Data Audit)</a:t>
            </a:r>
            <a:endParaRPr lang="it-IT" sz="2800" dirty="0"/>
          </a:p>
        </p:txBody>
      </p:sp>
      <p:graphicFrame>
        <p:nvGraphicFramePr>
          <p:cNvPr id="8" name="Segnaposto contenuto 7">
            <a:extLst>
              <a:ext uri="{FF2B5EF4-FFF2-40B4-BE49-F238E27FC236}">
                <a16:creationId xmlns:a16="http://schemas.microsoft.com/office/drawing/2014/main" id="{D4BF77F2-B520-46B4-93CF-85144BFB34CF}"/>
              </a:ext>
            </a:extLst>
          </p:cNvPr>
          <p:cNvGraphicFramePr>
            <a:graphicFrameLocks noGrp="1"/>
          </p:cNvGraphicFramePr>
          <p:nvPr>
            <p:ph idx="1"/>
            <p:extLst>
              <p:ext uri="{D42A27DB-BD31-4B8C-83A1-F6EECF244321}">
                <p14:modId xmlns:p14="http://schemas.microsoft.com/office/powerpoint/2010/main" val="3217136552"/>
              </p:ext>
            </p:extLst>
          </p:nvPr>
        </p:nvGraphicFramePr>
        <p:xfrm>
          <a:off x="1352083" y="2672180"/>
          <a:ext cx="4026741" cy="3070388"/>
        </p:xfrm>
        <a:graphic>
          <a:graphicData uri="http://schemas.openxmlformats.org/drawingml/2006/table">
            <a:tbl>
              <a:tblPr firstRow="1" firstCol="1" bandRow="1">
                <a:tableStyleId>{5C22544A-7EE6-4342-B048-85BDC9FD1C3A}</a:tableStyleId>
              </a:tblPr>
              <a:tblGrid>
                <a:gridCol w="1717604">
                  <a:extLst>
                    <a:ext uri="{9D8B030D-6E8A-4147-A177-3AD203B41FA5}">
                      <a16:colId xmlns:a16="http://schemas.microsoft.com/office/drawing/2014/main" val="3785856914"/>
                    </a:ext>
                  </a:extLst>
                </a:gridCol>
                <a:gridCol w="1039805">
                  <a:extLst>
                    <a:ext uri="{9D8B030D-6E8A-4147-A177-3AD203B41FA5}">
                      <a16:colId xmlns:a16="http://schemas.microsoft.com/office/drawing/2014/main" val="343277957"/>
                    </a:ext>
                  </a:extLst>
                </a:gridCol>
                <a:gridCol w="1269332">
                  <a:extLst>
                    <a:ext uri="{9D8B030D-6E8A-4147-A177-3AD203B41FA5}">
                      <a16:colId xmlns:a16="http://schemas.microsoft.com/office/drawing/2014/main" val="4066742544"/>
                    </a:ext>
                  </a:extLst>
                </a:gridCol>
              </a:tblGrid>
              <a:tr h="1039136">
                <a:tc>
                  <a:txBody>
                    <a:bodyPr/>
                    <a:lstStyle/>
                    <a:p>
                      <a:pPr algn="ctr">
                        <a:lnSpc>
                          <a:spcPct val="115000"/>
                        </a:lnSpc>
                        <a:spcBef>
                          <a:spcPts val="500"/>
                        </a:spcBef>
                        <a:spcAft>
                          <a:spcPts val="0"/>
                        </a:spcAft>
                      </a:pPr>
                      <a:r>
                        <a:rPr lang="it-IT" sz="1200" dirty="0" err="1">
                          <a:effectLst/>
                        </a:rPr>
                        <a:t>Table</a:t>
                      </a:r>
                      <a:endParaRPr lang="it-IT" sz="1000"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200">
                          <a:effectLst/>
                        </a:rPr>
                        <a:t>Row Count</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200">
                          <a:effectLst/>
                        </a:rPr>
                        <a:t>Column Count</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extLst>
                  <a:ext uri="{0D108BD9-81ED-4DB2-BD59-A6C34878D82A}">
                    <a16:rowId xmlns:a16="http://schemas.microsoft.com/office/drawing/2014/main" val="318618129"/>
                  </a:ext>
                </a:extLst>
              </a:tr>
              <a:tr h="496058">
                <a:tc>
                  <a:txBody>
                    <a:bodyPr/>
                    <a:lstStyle/>
                    <a:p>
                      <a:pPr algn="ctr">
                        <a:lnSpc>
                          <a:spcPct val="115000"/>
                        </a:lnSpc>
                        <a:spcBef>
                          <a:spcPts val="500"/>
                        </a:spcBef>
                        <a:spcAft>
                          <a:spcPts val="0"/>
                        </a:spcAft>
                      </a:pPr>
                      <a:r>
                        <a:rPr lang="it-IT" sz="1200">
                          <a:effectLst/>
                        </a:rPr>
                        <a:t>Transactions</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400" b="1" dirty="0">
                          <a:effectLst/>
                        </a:rPr>
                        <a:t>1,983,549</a:t>
                      </a:r>
                      <a:endParaRPr lang="it-IT" sz="1050" b="1"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400" b="1" dirty="0">
                          <a:effectLst/>
                        </a:rPr>
                        <a:t>9</a:t>
                      </a:r>
                      <a:endParaRPr lang="it-IT" sz="1050" b="1"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extLst>
                  <a:ext uri="{0D108BD9-81ED-4DB2-BD59-A6C34878D82A}">
                    <a16:rowId xmlns:a16="http://schemas.microsoft.com/office/drawing/2014/main" val="106270321"/>
                  </a:ext>
                </a:extLst>
              </a:tr>
              <a:tr h="496058">
                <a:tc>
                  <a:txBody>
                    <a:bodyPr/>
                    <a:lstStyle/>
                    <a:p>
                      <a:pPr algn="ctr">
                        <a:lnSpc>
                          <a:spcPct val="115000"/>
                        </a:lnSpc>
                        <a:spcBef>
                          <a:spcPts val="500"/>
                        </a:spcBef>
                        <a:spcAft>
                          <a:spcPts val="0"/>
                        </a:spcAft>
                      </a:pPr>
                      <a:r>
                        <a:rPr lang="it-IT" sz="1200">
                          <a:effectLst/>
                        </a:rPr>
                        <a:t>Item_master</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400" b="1">
                          <a:effectLst/>
                        </a:rPr>
                        <a:t>16,064</a:t>
                      </a:r>
                      <a:endParaRPr lang="it-IT" sz="1050" b="1">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400" b="1" dirty="0">
                          <a:effectLst/>
                        </a:rPr>
                        <a:t>10</a:t>
                      </a:r>
                      <a:endParaRPr lang="it-IT" sz="1050" b="1"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extLst>
                  <a:ext uri="{0D108BD9-81ED-4DB2-BD59-A6C34878D82A}">
                    <a16:rowId xmlns:a16="http://schemas.microsoft.com/office/drawing/2014/main" val="3333876139"/>
                  </a:ext>
                </a:extLst>
              </a:tr>
              <a:tr h="1039136">
                <a:tc>
                  <a:txBody>
                    <a:bodyPr/>
                    <a:lstStyle/>
                    <a:p>
                      <a:pPr algn="ctr">
                        <a:lnSpc>
                          <a:spcPct val="115000"/>
                        </a:lnSpc>
                        <a:spcBef>
                          <a:spcPts val="500"/>
                        </a:spcBef>
                        <a:spcAft>
                          <a:spcPts val="0"/>
                        </a:spcAft>
                      </a:pPr>
                      <a:r>
                        <a:rPr lang="it-IT" sz="1200">
                          <a:effectLst/>
                        </a:rPr>
                        <a:t>Customer_master</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400" b="1">
                          <a:effectLst/>
                        </a:rPr>
                        <a:t>29,691</a:t>
                      </a:r>
                      <a:endParaRPr lang="it-IT" sz="1050" b="1">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400" b="1" dirty="0">
                          <a:effectLst/>
                        </a:rPr>
                        <a:t>4</a:t>
                      </a:r>
                      <a:endParaRPr lang="it-IT" sz="1050" b="1"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extLst>
                  <a:ext uri="{0D108BD9-81ED-4DB2-BD59-A6C34878D82A}">
                    <a16:rowId xmlns:a16="http://schemas.microsoft.com/office/drawing/2014/main" val="1794934798"/>
                  </a:ext>
                </a:extLst>
              </a:tr>
            </a:tbl>
          </a:graphicData>
        </a:graphic>
      </p:graphicFrame>
      <p:sp>
        <p:nvSpPr>
          <p:cNvPr id="7" name="Segnaposto contenuto 2">
            <a:extLst>
              <a:ext uri="{FF2B5EF4-FFF2-40B4-BE49-F238E27FC236}">
                <a16:creationId xmlns:a16="http://schemas.microsoft.com/office/drawing/2014/main" id="{8A73DBA8-E660-45CB-B2DF-3C814751B9A0}"/>
              </a:ext>
            </a:extLst>
          </p:cNvPr>
          <p:cNvSpPr txBox="1">
            <a:spLocks/>
          </p:cNvSpPr>
          <p:nvPr/>
        </p:nvSpPr>
        <p:spPr>
          <a:xfrm>
            <a:off x="1674812" y="757518"/>
            <a:ext cx="10311000" cy="1470212"/>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pPr algn="just"/>
            <a:r>
              <a:rPr lang="en-IN" dirty="0">
                <a:solidFill>
                  <a:schemeClr val="tx1"/>
                </a:solidFill>
              </a:rPr>
              <a:t>Objective:  To transform high-volume transactional and behavioural data into a </a:t>
            </a:r>
            <a:r>
              <a:rPr lang="en-IN" b="1" dirty="0">
                <a:solidFill>
                  <a:schemeClr val="tx1"/>
                </a:solidFill>
              </a:rPr>
              <a:t>360 Designer Intelligence Suite</a:t>
            </a:r>
            <a:r>
              <a:rPr lang="en-IN" dirty="0">
                <a:solidFill>
                  <a:schemeClr val="tx1"/>
                </a:solidFill>
              </a:rPr>
              <a:t>. By bridging the gap between sample intent and purchase reality, this project aims to optimize conversion velocity, personalize the luxury customer journey, and provide the sales team with predictive tools to drive measurable revenue growth.</a:t>
            </a:r>
            <a:endParaRPr lang="it-IT" dirty="0">
              <a:solidFill>
                <a:schemeClr val="tx1"/>
              </a:solidFill>
            </a:endParaRPr>
          </a:p>
          <a:p>
            <a:endParaRPr lang="it-IT" dirty="0"/>
          </a:p>
        </p:txBody>
      </p:sp>
      <p:pic>
        <p:nvPicPr>
          <p:cNvPr id="9" name="Immagine 8">
            <a:extLst>
              <a:ext uri="{FF2B5EF4-FFF2-40B4-BE49-F238E27FC236}">
                <a16:creationId xmlns:a16="http://schemas.microsoft.com/office/drawing/2014/main" id="{59621943-C8A9-4E94-A3FF-3EA0BAC36EAE}"/>
              </a:ext>
            </a:extLst>
          </p:cNvPr>
          <p:cNvPicPr/>
          <p:nvPr/>
        </p:nvPicPr>
        <p:blipFill>
          <a:blip r:embed="rId2">
            <a:extLst>
              <a:ext uri="{28A0092B-C50C-407E-A947-70E740481C1C}">
                <a14:useLocalDpi xmlns:a14="http://schemas.microsoft.com/office/drawing/2010/main" val="0"/>
              </a:ext>
            </a:extLst>
          </a:blip>
          <a:stretch>
            <a:fillRect/>
          </a:stretch>
        </p:blipFill>
        <p:spPr>
          <a:xfrm>
            <a:off x="5624382" y="2672180"/>
            <a:ext cx="6361430" cy="3140710"/>
          </a:xfrm>
          <a:prstGeom prst="rect">
            <a:avLst/>
          </a:prstGeom>
        </p:spPr>
      </p:pic>
    </p:spTree>
    <p:extLst>
      <p:ext uri="{BB962C8B-B14F-4D97-AF65-F5344CB8AC3E}">
        <p14:creationId xmlns:p14="http://schemas.microsoft.com/office/powerpoint/2010/main" val="760906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BFE241B-E8D6-4863-9E93-CF5DFF8A865B}"/>
              </a:ext>
            </a:extLst>
          </p:cNvPr>
          <p:cNvSpPr>
            <a:spLocks noGrp="1"/>
          </p:cNvSpPr>
          <p:nvPr>
            <p:ph type="title"/>
          </p:nvPr>
        </p:nvSpPr>
        <p:spPr>
          <a:xfrm>
            <a:off x="3695585" y="8965"/>
            <a:ext cx="6034821" cy="627529"/>
          </a:xfrm>
        </p:spPr>
        <p:txBody>
          <a:bodyPr>
            <a:normAutofit fontScale="90000"/>
          </a:bodyPr>
          <a:lstStyle/>
          <a:p>
            <a:r>
              <a:rPr lang="en-IN" b="1" dirty="0"/>
              <a:t>Conversion Funnel Analysis</a:t>
            </a:r>
            <a:endParaRPr lang="it-IT" b="1" dirty="0"/>
          </a:p>
        </p:txBody>
      </p:sp>
      <p:pic>
        <p:nvPicPr>
          <p:cNvPr id="4" name="Segnaposto contenuto 3">
            <a:extLst>
              <a:ext uri="{FF2B5EF4-FFF2-40B4-BE49-F238E27FC236}">
                <a16:creationId xmlns:a16="http://schemas.microsoft.com/office/drawing/2014/main" id="{761BC9EC-E744-43FF-9D13-831223EB1DD1}"/>
              </a:ext>
            </a:extLst>
          </p:cNvPr>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0889" y="512484"/>
            <a:ext cx="6034821" cy="2723775"/>
          </a:xfrm>
          <a:prstGeom prst="rect">
            <a:avLst/>
          </a:prstGeom>
        </p:spPr>
      </p:pic>
      <p:pic>
        <p:nvPicPr>
          <p:cNvPr id="5" name="Immagine 4">
            <a:extLst>
              <a:ext uri="{FF2B5EF4-FFF2-40B4-BE49-F238E27FC236}">
                <a16:creationId xmlns:a16="http://schemas.microsoft.com/office/drawing/2014/main" id="{D7C1497A-3324-4616-B0FF-1B78C6A40D67}"/>
              </a:ext>
            </a:extLst>
          </p:cNvPr>
          <p:cNvPicPr/>
          <p:nvPr/>
        </p:nvPicPr>
        <p:blipFill>
          <a:blip r:embed="rId3">
            <a:extLst>
              <a:ext uri="{28A0092B-C50C-407E-A947-70E740481C1C}">
                <a14:useLocalDpi xmlns:a14="http://schemas.microsoft.com/office/drawing/2010/main" val="0"/>
              </a:ext>
            </a:extLst>
          </a:blip>
          <a:stretch>
            <a:fillRect/>
          </a:stretch>
        </p:blipFill>
        <p:spPr>
          <a:xfrm>
            <a:off x="166629" y="4239346"/>
            <a:ext cx="6083342" cy="2274575"/>
          </a:xfrm>
          <a:prstGeom prst="rect">
            <a:avLst/>
          </a:prstGeom>
        </p:spPr>
      </p:pic>
      <p:sp>
        <p:nvSpPr>
          <p:cNvPr id="7" name="CasellaDiTesto 6">
            <a:extLst>
              <a:ext uri="{FF2B5EF4-FFF2-40B4-BE49-F238E27FC236}">
                <a16:creationId xmlns:a16="http://schemas.microsoft.com/office/drawing/2014/main" id="{881A1B7E-BD0C-4EA6-80A1-617ADC421F1A}"/>
              </a:ext>
            </a:extLst>
          </p:cNvPr>
          <p:cNvSpPr txBox="1"/>
          <p:nvPr/>
        </p:nvSpPr>
        <p:spPr>
          <a:xfrm>
            <a:off x="166629" y="3236259"/>
            <a:ext cx="6131861" cy="1200329"/>
          </a:xfrm>
          <a:prstGeom prst="rect">
            <a:avLst/>
          </a:prstGeom>
          <a:noFill/>
        </p:spPr>
        <p:txBody>
          <a:bodyPr wrap="square" rtlCol="0">
            <a:spAutoFit/>
          </a:bodyPr>
          <a:lstStyle/>
          <a:p>
            <a:r>
              <a:rPr lang="en-IN" b="1" dirty="0"/>
              <a:t>"</a:t>
            </a:r>
            <a:r>
              <a:rPr lang="en-IN" b="1" dirty="0">
                <a:highlight>
                  <a:srgbClr val="FFFF00"/>
                </a:highlight>
              </a:rPr>
              <a:t>Halo Effect</a:t>
            </a:r>
            <a:r>
              <a:rPr lang="en-IN" b="1" dirty="0"/>
              <a:t>"</a:t>
            </a:r>
            <a:r>
              <a:rPr lang="en-IN" dirty="0"/>
              <a:t> : </a:t>
            </a:r>
            <a:r>
              <a:rPr lang="en-IN" sz="1200" dirty="0"/>
              <a:t>a sample request is a high-intent signal that a design project is active. Even if the specific sampled SKU is not selected (conversion at the item level), the account remains highly likely to purchase an alternative product from the brand (conversion at the account level).</a:t>
            </a:r>
            <a:endParaRPr lang="it-IT" sz="1200" dirty="0"/>
          </a:p>
          <a:p>
            <a:endParaRPr lang="it-IT" dirty="0"/>
          </a:p>
        </p:txBody>
      </p:sp>
      <p:sp>
        <p:nvSpPr>
          <p:cNvPr id="8" name="CasellaDiTesto 7">
            <a:extLst>
              <a:ext uri="{FF2B5EF4-FFF2-40B4-BE49-F238E27FC236}">
                <a16:creationId xmlns:a16="http://schemas.microsoft.com/office/drawing/2014/main" id="{55F6E9DD-CABE-4D29-8E3B-EDD9CA1475E8}"/>
              </a:ext>
            </a:extLst>
          </p:cNvPr>
          <p:cNvSpPr txBox="1"/>
          <p:nvPr/>
        </p:nvSpPr>
        <p:spPr>
          <a:xfrm>
            <a:off x="7212280" y="4822070"/>
            <a:ext cx="4567341" cy="923330"/>
          </a:xfrm>
          <a:prstGeom prst="rect">
            <a:avLst/>
          </a:prstGeom>
          <a:noFill/>
        </p:spPr>
        <p:txBody>
          <a:bodyPr wrap="square" rtlCol="0">
            <a:spAutoFit/>
          </a:bodyPr>
          <a:lstStyle/>
          <a:p>
            <a:r>
              <a:rPr lang="en-IN" dirty="0"/>
              <a:t>On average, a new account requires approximately </a:t>
            </a:r>
            <a:r>
              <a:rPr lang="en-IN" b="1" dirty="0"/>
              <a:t>37 samples</a:t>
            </a:r>
            <a:r>
              <a:rPr lang="en-IN" dirty="0"/>
              <a:t> to convert into the successful transaction.</a:t>
            </a:r>
            <a:endParaRPr lang="it-IT" dirty="0"/>
          </a:p>
        </p:txBody>
      </p:sp>
      <p:pic>
        <p:nvPicPr>
          <p:cNvPr id="9" name="Immagine 8">
            <a:extLst>
              <a:ext uri="{FF2B5EF4-FFF2-40B4-BE49-F238E27FC236}">
                <a16:creationId xmlns:a16="http://schemas.microsoft.com/office/drawing/2014/main" id="{07C77E30-F2C4-43F4-A463-7615F1CDB0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6510" y="1739102"/>
            <a:ext cx="5436120" cy="2697486"/>
          </a:xfrm>
          <a:prstGeom prst="rect">
            <a:avLst/>
          </a:prstGeom>
        </p:spPr>
      </p:pic>
    </p:spTree>
    <p:extLst>
      <p:ext uri="{BB962C8B-B14F-4D97-AF65-F5344CB8AC3E}">
        <p14:creationId xmlns:p14="http://schemas.microsoft.com/office/powerpoint/2010/main" val="1855487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B110D968-F8CA-482B-8AA6-67F6A3E8155A}"/>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8960" y="0"/>
            <a:ext cx="6031584" cy="3346514"/>
          </a:xfrm>
          <a:prstGeom prst="rect">
            <a:avLst/>
          </a:prstGeom>
        </p:spPr>
      </p:pic>
      <p:pic>
        <p:nvPicPr>
          <p:cNvPr id="5" name="Immagine 4">
            <a:extLst>
              <a:ext uri="{FF2B5EF4-FFF2-40B4-BE49-F238E27FC236}">
                <a16:creationId xmlns:a16="http://schemas.microsoft.com/office/drawing/2014/main" id="{50323886-BE5F-4078-83FF-61DF3DF82412}"/>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6160416" y="-1"/>
            <a:ext cx="6031584" cy="3346514"/>
          </a:xfrm>
          <a:prstGeom prst="rect">
            <a:avLst/>
          </a:prstGeom>
        </p:spPr>
      </p:pic>
      <p:sp>
        <p:nvSpPr>
          <p:cNvPr id="2" name="CasellaDiTesto 1">
            <a:extLst>
              <a:ext uri="{FF2B5EF4-FFF2-40B4-BE49-F238E27FC236}">
                <a16:creationId xmlns:a16="http://schemas.microsoft.com/office/drawing/2014/main" id="{839153FA-E063-4F01-B560-83185737B7B3}"/>
              </a:ext>
            </a:extLst>
          </p:cNvPr>
          <p:cNvSpPr txBox="1"/>
          <p:nvPr/>
        </p:nvSpPr>
        <p:spPr>
          <a:xfrm>
            <a:off x="650449" y="3429000"/>
            <a:ext cx="11019935" cy="3179190"/>
          </a:xfrm>
          <a:prstGeom prst="rect">
            <a:avLst/>
          </a:prstGeom>
          <a:noFill/>
        </p:spPr>
        <p:txBody>
          <a:bodyPr wrap="square" rtlCol="0">
            <a:spAutoFit/>
          </a:bodyPr>
          <a:lstStyle/>
          <a:p>
            <a:r>
              <a:rPr lang="en-US" b="1" dirty="0"/>
              <a:t>Channel Efficiency &amp; Sales Velocity</a:t>
            </a:r>
            <a:endParaRPr lang="en-US" dirty="0"/>
          </a:p>
          <a:p>
            <a:r>
              <a:rPr lang="en-US" b="1" dirty="0"/>
              <a:t>Key Finding:</a:t>
            </a:r>
            <a:r>
              <a:rPr lang="en-US" dirty="0"/>
              <a:t> There is a strong correlation between </a:t>
            </a:r>
            <a:r>
              <a:rPr lang="en-US" b="1" dirty="0"/>
              <a:t>Human Interaction</a:t>
            </a:r>
            <a:r>
              <a:rPr lang="en-US" dirty="0"/>
              <a:t> and both </a:t>
            </a:r>
            <a:r>
              <a:rPr lang="en-US" b="1" dirty="0"/>
              <a:t>Speed</a:t>
            </a:r>
            <a:r>
              <a:rPr lang="en-US" dirty="0"/>
              <a:t> and </a:t>
            </a:r>
            <a:r>
              <a:rPr lang="en-US" b="1" dirty="0"/>
              <a:t>Probability</a:t>
            </a:r>
            <a:r>
              <a:rPr lang="en-US" dirty="0"/>
              <a:t> of sale.</a:t>
            </a:r>
          </a:p>
          <a:p>
            <a:r>
              <a:rPr lang="en-US" b="1" dirty="0"/>
              <a:t>Showroom Strength:</a:t>
            </a:r>
            <a:r>
              <a:rPr lang="en-US" dirty="0"/>
              <a:t> The Showroom is our most efficient channel, converting nearly </a:t>
            </a:r>
            <a:r>
              <a:rPr lang="en-US" b="1" dirty="0"/>
              <a:t>1 in 5 leads</a:t>
            </a:r>
            <a:r>
              <a:rPr lang="en-US" dirty="0"/>
              <a:t> in just </a:t>
            </a:r>
            <a:r>
              <a:rPr lang="en-US" b="1" dirty="0"/>
              <a:t>44 days</a:t>
            </a:r>
            <a:r>
              <a:rPr lang="en-US" dirty="0"/>
              <a:t>.</a:t>
            </a:r>
          </a:p>
          <a:p>
            <a:r>
              <a:rPr lang="en-US" b="1" dirty="0"/>
              <a:t>The Web Gap:</a:t>
            </a:r>
            <a:r>
              <a:rPr lang="en-US" dirty="0"/>
              <a:t> Web leads have the lowest conversion (13.6%) and take nearly a week longer to close than showroom leads. This represents a significant opportunity to implement digital "White Glove" services to close the gap.</a:t>
            </a:r>
          </a:p>
          <a:p>
            <a:r>
              <a:rPr lang="en-US" b="1" dirty="0"/>
              <a:t>Customer Commitment:</a:t>
            </a:r>
            <a:r>
              <a:rPr lang="en-US" dirty="0"/>
              <a:t> On average, a successful sale is preceded by </a:t>
            </a:r>
            <a:r>
              <a:rPr lang="en-US" b="1" dirty="0"/>
              <a:t>2.5 unique samples</a:t>
            </a:r>
            <a:r>
              <a:rPr lang="en-US" dirty="0"/>
              <a:t>, suggesting that our customers have a high degree of focus once they start the sampling process.</a:t>
            </a:r>
          </a:p>
          <a:p>
            <a:endParaRPr lang="it-IT" dirty="0"/>
          </a:p>
        </p:txBody>
      </p:sp>
    </p:spTree>
    <p:extLst>
      <p:ext uri="{BB962C8B-B14F-4D97-AF65-F5344CB8AC3E}">
        <p14:creationId xmlns:p14="http://schemas.microsoft.com/office/powerpoint/2010/main" val="2102711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548E83-732D-4952-BFA9-E9651FE2AEBE}"/>
              </a:ext>
            </a:extLst>
          </p:cNvPr>
          <p:cNvSpPr>
            <a:spLocks noGrp="1"/>
          </p:cNvSpPr>
          <p:nvPr>
            <p:ph type="title"/>
          </p:nvPr>
        </p:nvSpPr>
        <p:spPr>
          <a:xfrm>
            <a:off x="2951145" y="0"/>
            <a:ext cx="6909294" cy="686216"/>
          </a:xfrm>
        </p:spPr>
        <p:txBody>
          <a:bodyPr>
            <a:normAutofit/>
          </a:bodyPr>
          <a:lstStyle/>
          <a:p>
            <a:r>
              <a:rPr lang="en-IN" sz="3200" b="1" dirty="0"/>
              <a:t>RFM Analysis &amp; Segmentation</a:t>
            </a:r>
            <a:endParaRPr lang="it-IT" sz="3200" b="1" dirty="0"/>
          </a:p>
        </p:txBody>
      </p:sp>
      <p:sp>
        <p:nvSpPr>
          <p:cNvPr id="3" name="Segnaposto contenuto 2">
            <a:extLst>
              <a:ext uri="{FF2B5EF4-FFF2-40B4-BE49-F238E27FC236}">
                <a16:creationId xmlns:a16="http://schemas.microsoft.com/office/drawing/2014/main" id="{DCBE29C5-50A3-4E21-B036-BC8A3FAD9003}"/>
              </a:ext>
            </a:extLst>
          </p:cNvPr>
          <p:cNvSpPr>
            <a:spLocks noGrp="1"/>
          </p:cNvSpPr>
          <p:nvPr>
            <p:ph idx="1"/>
          </p:nvPr>
        </p:nvSpPr>
        <p:spPr>
          <a:xfrm>
            <a:off x="1684238" y="799337"/>
            <a:ext cx="6705617" cy="1295400"/>
          </a:xfrm>
        </p:spPr>
        <p:txBody>
          <a:bodyPr/>
          <a:lstStyle/>
          <a:p>
            <a:pPr lvl="0"/>
            <a:r>
              <a:rPr lang="en-IN" b="1" dirty="0"/>
              <a:t>Recency (R):</a:t>
            </a:r>
            <a:r>
              <a:rPr lang="en-IN" dirty="0"/>
              <a:t> Days since the last order.</a:t>
            </a:r>
            <a:endParaRPr lang="it-IT" dirty="0"/>
          </a:p>
          <a:p>
            <a:pPr lvl="0"/>
            <a:r>
              <a:rPr lang="en-IN" b="1" dirty="0"/>
              <a:t>Frequency (F):</a:t>
            </a:r>
            <a:r>
              <a:rPr lang="en-IN" dirty="0"/>
              <a:t> Total number of unique orders placed.</a:t>
            </a:r>
            <a:endParaRPr lang="it-IT" dirty="0"/>
          </a:p>
          <a:p>
            <a:pPr lvl="0"/>
            <a:r>
              <a:rPr lang="en-IN" b="1" dirty="0"/>
              <a:t>Monetary (M):</a:t>
            </a:r>
            <a:r>
              <a:rPr lang="en-IN" dirty="0"/>
              <a:t> Total net revenue generated.</a:t>
            </a:r>
            <a:endParaRPr lang="it-IT" dirty="0"/>
          </a:p>
          <a:p>
            <a:pPr marL="0" indent="0">
              <a:buNone/>
            </a:pPr>
            <a:endParaRPr lang="it-IT" dirty="0"/>
          </a:p>
        </p:txBody>
      </p:sp>
      <p:pic>
        <p:nvPicPr>
          <p:cNvPr id="4" name="Immagine 3">
            <a:extLst>
              <a:ext uri="{FF2B5EF4-FFF2-40B4-BE49-F238E27FC236}">
                <a16:creationId xmlns:a16="http://schemas.microsoft.com/office/drawing/2014/main" id="{776BD827-0BA0-4A9D-A33D-2F2DD24246C6}"/>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1398" y="2020685"/>
            <a:ext cx="6044367" cy="3852213"/>
          </a:xfrm>
          <a:prstGeom prst="rect">
            <a:avLst/>
          </a:prstGeom>
        </p:spPr>
      </p:pic>
      <p:graphicFrame>
        <p:nvGraphicFramePr>
          <p:cNvPr id="5" name="Tabella 4">
            <a:extLst>
              <a:ext uri="{FF2B5EF4-FFF2-40B4-BE49-F238E27FC236}">
                <a16:creationId xmlns:a16="http://schemas.microsoft.com/office/drawing/2014/main" id="{18862CF3-7321-43F7-9F80-D39A56D075ED}"/>
              </a:ext>
            </a:extLst>
          </p:cNvPr>
          <p:cNvGraphicFramePr>
            <a:graphicFrameLocks noGrp="1"/>
          </p:cNvGraphicFramePr>
          <p:nvPr>
            <p:extLst>
              <p:ext uri="{D42A27DB-BD31-4B8C-83A1-F6EECF244321}">
                <p14:modId xmlns:p14="http://schemas.microsoft.com/office/powerpoint/2010/main" val="2444372589"/>
              </p:ext>
            </p:extLst>
          </p:nvPr>
        </p:nvGraphicFramePr>
        <p:xfrm>
          <a:off x="6245766" y="2068442"/>
          <a:ext cx="5744835" cy="3664255"/>
        </p:xfrm>
        <a:graphic>
          <a:graphicData uri="http://schemas.openxmlformats.org/drawingml/2006/table">
            <a:tbl>
              <a:tblPr firstRow="1" firstCol="1" bandRow="1">
                <a:tableStyleId>{5C22544A-7EE6-4342-B048-85BDC9FD1C3A}</a:tableStyleId>
              </a:tblPr>
              <a:tblGrid>
                <a:gridCol w="1914945">
                  <a:extLst>
                    <a:ext uri="{9D8B030D-6E8A-4147-A177-3AD203B41FA5}">
                      <a16:colId xmlns:a16="http://schemas.microsoft.com/office/drawing/2014/main" val="1914478879"/>
                    </a:ext>
                  </a:extLst>
                </a:gridCol>
                <a:gridCol w="1914945">
                  <a:extLst>
                    <a:ext uri="{9D8B030D-6E8A-4147-A177-3AD203B41FA5}">
                      <a16:colId xmlns:a16="http://schemas.microsoft.com/office/drawing/2014/main" val="3356255554"/>
                    </a:ext>
                  </a:extLst>
                </a:gridCol>
                <a:gridCol w="1914945">
                  <a:extLst>
                    <a:ext uri="{9D8B030D-6E8A-4147-A177-3AD203B41FA5}">
                      <a16:colId xmlns:a16="http://schemas.microsoft.com/office/drawing/2014/main" val="4016412939"/>
                    </a:ext>
                  </a:extLst>
                </a:gridCol>
              </a:tblGrid>
              <a:tr h="326263">
                <a:tc>
                  <a:txBody>
                    <a:bodyPr/>
                    <a:lstStyle/>
                    <a:p>
                      <a:pPr algn="ctr">
                        <a:lnSpc>
                          <a:spcPct val="115000"/>
                        </a:lnSpc>
                        <a:spcBef>
                          <a:spcPts val="500"/>
                        </a:spcBef>
                        <a:spcAft>
                          <a:spcPts val="2400"/>
                        </a:spcAft>
                      </a:pPr>
                      <a:r>
                        <a:rPr lang="it-IT" sz="1000">
                          <a:effectLst/>
                        </a:rPr>
                        <a:t>Segment</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2400"/>
                        </a:spcAft>
                      </a:pPr>
                      <a:r>
                        <a:rPr lang="it-IT" sz="1000">
                          <a:effectLst/>
                        </a:rPr>
                        <a:t>Criteria (R, F, M Scores)</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2400"/>
                        </a:spcAft>
                      </a:pPr>
                      <a:r>
                        <a:rPr lang="it-IT" sz="1000">
                          <a:effectLst/>
                        </a:rPr>
                        <a:t>Business Description</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extLst>
                  <a:ext uri="{0D108BD9-81ED-4DB2-BD59-A6C34878D82A}">
                    <a16:rowId xmlns:a16="http://schemas.microsoft.com/office/drawing/2014/main" val="3430774944"/>
                  </a:ext>
                </a:extLst>
              </a:tr>
              <a:tr h="624924">
                <a:tc>
                  <a:txBody>
                    <a:bodyPr/>
                    <a:lstStyle/>
                    <a:p>
                      <a:pPr algn="ctr">
                        <a:lnSpc>
                          <a:spcPct val="115000"/>
                        </a:lnSpc>
                        <a:spcBef>
                          <a:spcPts val="500"/>
                        </a:spcBef>
                        <a:spcAft>
                          <a:spcPts val="2400"/>
                        </a:spcAft>
                      </a:pPr>
                      <a:r>
                        <a:rPr lang="it-IT" sz="1000">
                          <a:effectLst/>
                        </a:rPr>
                        <a:t>Champions (VIP)</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2400"/>
                        </a:spcAft>
                      </a:pPr>
                      <a:r>
                        <a:rPr lang="it-IT" sz="1000">
                          <a:effectLst/>
                        </a:rPr>
                        <a:t>R &gt;= 4, F &gt;= 4, M &gt;= 4</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r>
                        <a:rPr lang="en-IN" sz="1000">
                          <a:effectLst/>
                        </a:rPr>
                        <a:t>Your most valuable, active, and loyal designers.</a:t>
                      </a:r>
                      <a:endParaRPr lang="it-IT" sz="1000">
                        <a:effectLst/>
                        <a:latin typeface="Century Gothic" panose="020B0502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119530299"/>
                  </a:ext>
                </a:extLst>
              </a:tr>
              <a:tr h="624924">
                <a:tc>
                  <a:txBody>
                    <a:bodyPr/>
                    <a:lstStyle/>
                    <a:p>
                      <a:pPr algn="ctr">
                        <a:lnSpc>
                          <a:spcPct val="115000"/>
                        </a:lnSpc>
                        <a:spcBef>
                          <a:spcPts val="500"/>
                        </a:spcBef>
                        <a:spcAft>
                          <a:spcPts val="0"/>
                        </a:spcAft>
                      </a:pPr>
                      <a:r>
                        <a:rPr lang="it-IT" sz="1000">
                          <a:effectLst/>
                        </a:rPr>
                        <a:t>Loyal Customers</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000">
                          <a:effectLst/>
                        </a:rPr>
                        <a:t>R &gt;= 3, F &gt;= 3</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r>
                        <a:rPr lang="en-IN" sz="1000">
                          <a:effectLst/>
                        </a:rPr>
                        <a:t>Consistent purchasers who keep the business steady.</a:t>
                      </a:r>
                      <a:endParaRPr lang="it-IT" sz="1000">
                        <a:effectLst/>
                        <a:latin typeface="Century Gothic" panose="020B0502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396626300"/>
                  </a:ext>
                </a:extLst>
              </a:tr>
              <a:tr h="624924">
                <a:tc>
                  <a:txBody>
                    <a:bodyPr/>
                    <a:lstStyle/>
                    <a:p>
                      <a:pPr algn="ctr">
                        <a:lnSpc>
                          <a:spcPct val="115000"/>
                        </a:lnSpc>
                        <a:spcBef>
                          <a:spcPts val="500"/>
                        </a:spcBef>
                        <a:spcAft>
                          <a:spcPts val="0"/>
                        </a:spcAft>
                      </a:pPr>
                      <a:r>
                        <a:rPr lang="it-IT" sz="1000">
                          <a:effectLst/>
                        </a:rPr>
                        <a:t>New Prospects</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000">
                          <a:effectLst/>
                        </a:rPr>
                        <a:t>R &gt;= 4, F &gt;= 2</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r>
                        <a:rPr lang="en-IN" sz="1000" dirty="0">
                          <a:effectLst/>
                        </a:rPr>
                        <a:t>Recently joined or made their first small purchase.</a:t>
                      </a:r>
                      <a:endParaRPr lang="it-IT" sz="1000" dirty="0">
                        <a:effectLst/>
                        <a:latin typeface="Century Gothic" panose="020B0502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066839217"/>
                  </a:ext>
                </a:extLst>
              </a:tr>
              <a:tr h="624924">
                <a:tc>
                  <a:txBody>
                    <a:bodyPr/>
                    <a:lstStyle/>
                    <a:p>
                      <a:pPr algn="ctr">
                        <a:lnSpc>
                          <a:spcPct val="115000"/>
                        </a:lnSpc>
                        <a:spcBef>
                          <a:spcPts val="500"/>
                        </a:spcBef>
                        <a:spcAft>
                          <a:spcPts val="0"/>
                        </a:spcAft>
                      </a:pPr>
                      <a:r>
                        <a:rPr lang="it-IT" sz="1000" dirty="0">
                          <a:effectLst/>
                        </a:rPr>
                        <a:t>At Risk (High Value)</a:t>
                      </a:r>
                      <a:endParaRPr lang="it-IT" sz="1000" dirty="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000">
                          <a:effectLst/>
                        </a:rPr>
                        <a:t>R &gt;= 2, M &gt;= 4</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r>
                        <a:rPr lang="en-IN" sz="1000">
                          <a:effectLst/>
                        </a:rPr>
                        <a:t>Former big spenders who haven't ordered recently.</a:t>
                      </a:r>
                      <a:endParaRPr lang="it-IT" sz="1000">
                        <a:effectLst/>
                        <a:latin typeface="Century Gothic" panose="020B0502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3165762732"/>
                  </a:ext>
                </a:extLst>
              </a:tr>
              <a:tr h="419148">
                <a:tc>
                  <a:txBody>
                    <a:bodyPr/>
                    <a:lstStyle/>
                    <a:p>
                      <a:pPr algn="ctr">
                        <a:lnSpc>
                          <a:spcPct val="115000"/>
                        </a:lnSpc>
                        <a:spcBef>
                          <a:spcPts val="500"/>
                        </a:spcBef>
                        <a:spcAft>
                          <a:spcPts val="0"/>
                        </a:spcAft>
                      </a:pPr>
                      <a:r>
                        <a:rPr lang="it-IT" sz="1000">
                          <a:effectLst/>
                        </a:rPr>
                        <a:t>Hibernating</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000">
                          <a:effectLst/>
                        </a:rPr>
                        <a:t>R &gt;= 2, F &gt;= 2</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r>
                        <a:rPr lang="en-IN" sz="1000">
                          <a:effectLst/>
                        </a:rPr>
                        <a:t>Inactive accounts with low lifetime value.</a:t>
                      </a:r>
                      <a:endParaRPr lang="it-IT" sz="1000">
                        <a:effectLst/>
                        <a:latin typeface="Century Gothic" panose="020B0502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206439819"/>
                  </a:ext>
                </a:extLst>
              </a:tr>
              <a:tr h="419148">
                <a:tc>
                  <a:txBody>
                    <a:bodyPr/>
                    <a:lstStyle/>
                    <a:p>
                      <a:pPr algn="ctr">
                        <a:lnSpc>
                          <a:spcPct val="115000"/>
                        </a:lnSpc>
                        <a:spcBef>
                          <a:spcPts val="500"/>
                        </a:spcBef>
                        <a:spcAft>
                          <a:spcPts val="0"/>
                        </a:spcAft>
                      </a:pPr>
                      <a:r>
                        <a:rPr lang="it-IT" sz="1000">
                          <a:effectLst/>
                        </a:rPr>
                        <a:t>General Trade</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lnSpc>
                          <a:spcPct val="115000"/>
                        </a:lnSpc>
                        <a:spcBef>
                          <a:spcPts val="500"/>
                        </a:spcBef>
                        <a:spcAft>
                          <a:spcPts val="0"/>
                        </a:spcAft>
                      </a:pPr>
                      <a:r>
                        <a:rPr lang="it-IT" sz="1000">
                          <a:effectLst/>
                        </a:rPr>
                        <a:t>All Others</a:t>
                      </a:r>
                      <a:endParaRPr lang="it-IT" sz="1000">
                        <a:effectLst/>
                        <a:latin typeface="Century Gothic" panose="020B0502020202020204" pitchFamily="34" charset="0"/>
                        <a:ea typeface="Times New Roman" panose="02020603050405020304" pitchFamily="18" charset="0"/>
                        <a:cs typeface="Tahoma" panose="020B0604030504040204" pitchFamily="34" charset="0"/>
                      </a:endParaRPr>
                    </a:p>
                  </a:txBody>
                  <a:tcPr marL="68580" marR="68580" marT="0" marB="0"/>
                </a:tc>
                <a:tc>
                  <a:txBody>
                    <a:bodyPr/>
                    <a:lstStyle/>
                    <a:p>
                      <a:pPr algn="ctr"/>
                      <a:r>
                        <a:rPr lang="en-IN" sz="1000" dirty="0">
                          <a:effectLst/>
                        </a:rPr>
                        <a:t>The standard "middle" of the customer base.</a:t>
                      </a:r>
                      <a:endParaRPr lang="it-IT" sz="1000" dirty="0">
                        <a:effectLst/>
                        <a:latin typeface="Century Gothic" panose="020B0502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4265169125"/>
                  </a:ext>
                </a:extLst>
              </a:tr>
            </a:tbl>
          </a:graphicData>
        </a:graphic>
      </p:graphicFrame>
    </p:spTree>
    <p:extLst>
      <p:ext uri="{BB962C8B-B14F-4D97-AF65-F5344CB8AC3E}">
        <p14:creationId xmlns:p14="http://schemas.microsoft.com/office/powerpoint/2010/main" val="3869347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DC08E-7B83-4632-8C63-924083F5DBD2}"/>
              </a:ext>
            </a:extLst>
          </p:cNvPr>
          <p:cNvSpPr>
            <a:spLocks noGrp="1"/>
          </p:cNvSpPr>
          <p:nvPr>
            <p:ph type="title"/>
          </p:nvPr>
        </p:nvSpPr>
        <p:spPr>
          <a:xfrm>
            <a:off x="4078057" y="54223"/>
            <a:ext cx="5187901" cy="772998"/>
          </a:xfrm>
        </p:spPr>
        <p:txBody>
          <a:bodyPr>
            <a:normAutofit/>
          </a:bodyPr>
          <a:lstStyle/>
          <a:p>
            <a:r>
              <a:rPr lang="en-IN" sz="3200" b="1" dirty="0"/>
              <a:t>KNN IMPLEMENTATION</a:t>
            </a:r>
            <a:endParaRPr lang="it-IT" sz="3200" b="1" dirty="0"/>
          </a:p>
        </p:txBody>
      </p:sp>
      <p:sp>
        <p:nvSpPr>
          <p:cNvPr id="3" name="Segnaposto contenuto 2">
            <a:extLst>
              <a:ext uri="{FF2B5EF4-FFF2-40B4-BE49-F238E27FC236}">
                <a16:creationId xmlns:a16="http://schemas.microsoft.com/office/drawing/2014/main" id="{87725C53-FEA8-44B9-A8CE-A3EC0DBE8768}"/>
              </a:ext>
            </a:extLst>
          </p:cNvPr>
          <p:cNvSpPr>
            <a:spLocks noGrp="1"/>
          </p:cNvSpPr>
          <p:nvPr>
            <p:ph idx="1"/>
          </p:nvPr>
        </p:nvSpPr>
        <p:spPr>
          <a:xfrm>
            <a:off x="6485640" y="2185758"/>
            <a:ext cx="5560637" cy="4488419"/>
          </a:xfrm>
        </p:spPr>
        <p:txBody>
          <a:bodyPr>
            <a:normAutofit/>
          </a:bodyPr>
          <a:lstStyle/>
          <a:p>
            <a:pPr lvl="0"/>
            <a:r>
              <a:rPr lang="en-IN" b="1" dirty="0"/>
              <a:t>Cluster 1 (Premier Trade):</a:t>
            </a:r>
            <a:r>
              <a:rPr lang="en-IN" dirty="0"/>
              <a:t> Exhibits the highest median Frequency and Monetary values. The tight interquartile range (IQR) in Recency indicates a consistent, high-velocity purchasing pattern.</a:t>
            </a:r>
          </a:p>
          <a:p>
            <a:r>
              <a:rPr lang="en-IN" b="1" dirty="0"/>
              <a:t>Cluster 2 (High-Intent Samplers):</a:t>
            </a:r>
            <a:r>
              <a:rPr lang="en-IN" dirty="0"/>
              <a:t> Displays a disproportionately high </a:t>
            </a:r>
            <a:r>
              <a:rPr lang="en-IN" dirty="0" err="1"/>
              <a:t>Sample_Count</a:t>
            </a:r>
            <a:r>
              <a:rPr lang="en-IN" dirty="0"/>
              <a:t> relative to current Monetary value. This represents a prime conversion opportunity for the sales team.</a:t>
            </a:r>
            <a:endParaRPr lang="it-IT" dirty="0"/>
          </a:p>
          <a:p>
            <a:pPr lvl="0"/>
            <a:r>
              <a:rPr lang="en-IN" b="1" dirty="0"/>
              <a:t>Cluster 3 (Dormant/Low-Value):</a:t>
            </a:r>
            <a:r>
              <a:rPr lang="en-IN" dirty="0"/>
              <a:t> Characterized by a significantly higher median Recency and lower Monetary density, indicating churn risk or one-off residential purchasers.</a:t>
            </a:r>
            <a:endParaRPr lang="it-IT" dirty="0"/>
          </a:p>
          <a:p>
            <a:endParaRPr lang="it-IT" dirty="0"/>
          </a:p>
        </p:txBody>
      </p:sp>
      <p:sp>
        <p:nvSpPr>
          <p:cNvPr id="4" name="Rettangolo 3">
            <a:extLst>
              <a:ext uri="{FF2B5EF4-FFF2-40B4-BE49-F238E27FC236}">
                <a16:creationId xmlns:a16="http://schemas.microsoft.com/office/drawing/2014/main" id="{A5CE0E2D-2DAF-4F65-9D7B-BB5AA9234805}"/>
              </a:ext>
            </a:extLst>
          </p:cNvPr>
          <p:cNvSpPr/>
          <p:nvPr/>
        </p:nvSpPr>
        <p:spPr>
          <a:xfrm>
            <a:off x="1764500" y="772998"/>
            <a:ext cx="6136616" cy="388953"/>
          </a:xfrm>
          <a:prstGeom prst="rect">
            <a:avLst/>
          </a:prstGeom>
        </p:spPr>
        <p:txBody>
          <a:bodyPr wrap="none">
            <a:spAutoFit/>
          </a:bodyPr>
          <a:lstStyle/>
          <a:p>
            <a:pPr>
              <a:lnSpc>
                <a:spcPct val="115000"/>
              </a:lnSpc>
              <a:spcBef>
                <a:spcPts val="500"/>
              </a:spcBef>
              <a:spcAft>
                <a:spcPts val="0"/>
              </a:spcAft>
            </a:pPr>
            <a:r>
              <a:rPr lang="en-IN" dirty="0">
                <a:solidFill>
                  <a:schemeClr val="accent1">
                    <a:lumMod val="50000"/>
                  </a:schemeClr>
                </a:solidFill>
                <a:latin typeface="Consolas" panose="020B0609020204030204" pitchFamily="49" charset="0"/>
                <a:ea typeface="Times New Roman" panose="02020603050405020304" pitchFamily="18" charset="0"/>
                <a:cs typeface="Times New Roman" panose="02020603050405020304" pitchFamily="18" charset="0"/>
              </a:rPr>
              <a:t>features</a:t>
            </a:r>
            <a:r>
              <a:rPr lang="en-IN" dirty="0">
                <a:latin typeface="Consolas" panose="020B0609020204030204" pitchFamily="49" charset="0"/>
                <a:ea typeface="Times New Roman" panose="02020603050405020304" pitchFamily="18" charset="0"/>
                <a:cs typeface="Times New Roman" panose="02020603050405020304" pitchFamily="18" charset="0"/>
              </a:rPr>
              <a:t> = ['Recency', 'Frequency', 'Monetary']</a:t>
            </a:r>
            <a:endParaRPr lang="it-IT" sz="2000" dirty="0">
              <a:effectLst/>
              <a:latin typeface="Century Gothic" panose="020B0502020202020204" pitchFamily="34" charset="0"/>
              <a:ea typeface="Times New Roman" panose="02020603050405020304" pitchFamily="18" charset="0"/>
              <a:cs typeface="Tahoma" panose="020B0604030504040204" pitchFamily="34" charset="0"/>
            </a:endParaRPr>
          </a:p>
        </p:txBody>
      </p:sp>
      <p:sp>
        <p:nvSpPr>
          <p:cNvPr id="5" name="Rettangolo 4">
            <a:extLst>
              <a:ext uri="{FF2B5EF4-FFF2-40B4-BE49-F238E27FC236}">
                <a16:creationId xmlns:a16="http://schemas.microsoft.com/office/drawing/2014/main" id="{813A2561-2273-407F-99E3-3335BE1B57F0}"/>
              </a:ext>
            </a:extLst>
          </p:cNvPr>
          <p:cNvSpPr/>
          <p:nvPr/>
        </p:nvSpPr>
        <p:spPr>
          <a:xfrm>
            <a:off x="1805116" y="1161951"/>
            <a:ext cx="8347552" cy="634854"/>
          </a:xfrm>
          <a:prstGeom prst="rect">
            <a:avLst/>
          </a:prstGeom>
        </p:spPr>
        <p:txBody>
          <a:bodyPr wrap="square">
            <a:spAutoFit/>
          </a:bodyPr>
          <a:lstStyle/>
          <a:p>
            <a:pPr>
              <a:lnSpc>
                <a:spcPct val="115000"/>
              </a:lnSpc>
              <a:spcBef>
                <a:spcPts val="500"/>
              </a:spcBef>
              <a:spcAft>
                <a:spcPts val="0"/>
              </a:spcAft>
            </a:pP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kmeans</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 = </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KMeans</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n_clusters</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=4, </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random_state</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=42, </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n_init</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=10)</a:t>
            </a:r>
            <a:endParaRPr lang="it-IT" sz="1600" dirty="0">
              <a:solidFill>
                <a:srgbClr val="00B050"/>
              </a:solidFill>
              <a:latin typeface="Century Gothic" panose="020B0502020202020204" pitchFamily="34" charset="0"/>
              <a:ea typeface="Times New Roman" panose="02020603050405020304" pitchFamily="18" charset="0"/>
              <a:cs typeface="Tahoma" panose="020B0604030504040204" pitchFamily="34" charset="0"/>
            </a:endParaRPr>
          </a:p>
          <a:p>
            <a:pPr>
              <a:lnSpc>
                <a:spcPct val="115000"/>
              </a:lnSpc>
              <a:spcBef>
                <a:spcPts val="500"/>
              </a:spcBef>
              <a:spcAft>
                <a:spcPts val="0"/>
              </a:spcAft>
            </a:pP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rfm</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['Cluster'] = </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kmeans.fit_transform</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a:t>
            </a:r>
            <a:r>
              <a:rPr lang="en-IN" sz="1400" dirty="0" err="1">
                <a:solidFill>
                  <a:srgbClr val="00B050"/>
                </a:solidFill>
                <a:latin typeface="Consolas" panose="020B0609020204030204" pitchFamily="49" charset="0"/>
                <a:ea typeface="Times New Roman" panose="02020603050405020304" pitchFamily="18" charset="0"/>
                <a:cs typeface="Times New Roman" panose="02020603050405020304" pitchFamily="18" charset="0"/>
              </a:rPr>
              <a:t>rfm_scaled</a:t>
            </a:r>
            <a:r>
              <a:rPr lang="en-IN" sz="1400" dirty="0">
                <a:solidFill>
                  <a:srgbClr val="00B050"/>
                </a:solidFill>
                <a:latin typeface="Consolas" panose="020B0609020204030204" pitchFamily="49" charset="0"/>
                <a:ea typeface="Times New Roman" panose="02020603050405020304" pitchFamily="18" charset="0"/>
                <a:cs typeface="Times New Roman" panose="02020603050405020304" pitchFamily="18" charset="0"/>
              </a:rPr>
              <a:t>).argmax(axis=1) </a:t>
            </a:r>
            <a:endParaRPr lang="it-IT" sz="1600" dirty="0">
              <a:solidFill>
                <a:srgbClr val="00B050"/>
              </a:solidFill>
              <a:effectLst/>
              <a:latin typeface="Century Gothic" panose="020B0502020202020204" pitchFamily="34" charset="0"/>
              <a:ea typeface="Times New Roman" panose="02020603050405020304" pitchFamily="18" charset="0"/>
              <a:cs typeface="Tahoma" panose="020B0604030504040204" pitchFamily="34" charset="0"/>
            </a:endParaRPr>
          </a:p>
        </p:txBody>
      </p:sp>
      <p:pic>
        <p:nvPicPr>
          <p:cNvPr id="6" name="Immagine 5">
            <a:extLst>
              <a:ext uri="{FF2B5EF4-FFF2-40B4-BE49-F238E27FC236}">
                <a16:creationId xmlns:a16="http://schemas.microsoft.com/office/drawing/2014/main" id="{9117756A-327D-4BE7-8828-A177180B69B7}"/>
              </a:ext>
            </a:extLst>
          </p:cNvPr>
          <p:cNvPicPr/>
          <p:nvPr/>
        </p:nvPicPr>
        <p:blipFill>
          <a:blip r:embed="rId2">
            <a:extLst>
              <a:ext uri="{28A0092B-C50C-407E-A947-70E740481C1C}">
                <a14:useLocalDpi xmlns:a14="http://schemas.microsoft.com/office/drawing/2010/main" val="0"/>
              </a:ext>
            </a:extLst>
          </a:blip>
          <a:stretch>
            <a:fillRect/>
          </a:stretch>
        </p:blipFill>
        <p:spPr>
          <a:xfrm>
            <a:off x="216816" y="2185758"/>
            <a:ext cx="6344239" cy="4153689"/>
          </a:xfrm>
          <a:prstGeom prst="rect">
            <a:avLst/>
          </a:prstGeom>
        </p:spPr>
      </p:pic>
    </p:spTree>
    <p:extLst>
      <p:ext uri="{BB962C8B-B14F-4D97-AF65-F5344CB8AC3E}">
        <p14:creationId xmlns:p14="http://schemas.microsoft.com/office/powerpoint/2010/main" val="1264869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5C77E54-A891-48F4-9447-F5F10B30242B}"/>
              </a:ext>
            </a:extLst>
          </p:cNvPr>
          <p:cNvSpPr>
            <a:spLocks noGrp="1"/>
          </p:cNvSpPr>
          <p:nvPr>
            <p:ph type="title"/>
          </p:nvPr>
        </p:nvSpPr>
        <p:spPr>
          <a:xfrm>
            <a:off x="3092546" y="0"/>
            <a:ext cx="6739611" cy="707010"/>
          </a:xfrm>
        </p:spPr>
        <p:txBody>
          <a:bodyPr>
            <a:normAutofit fontScale="90000"/>
          </a:bodyPr>
          <a:lstStyle/>
          <a:p>
            <a:r>
              <a:rPr lang="en-IN" b="1" cap="all" dirty="0"/>
              <a:t>PRODUCT AFFINITY AND PRICING</a:t>
            </a:r>
            <a:br>
              <a:rPr lang="it-IT" b="1" cap="all" dirty="0"/>
            </a:br>
            <a:endParaRPr lang="it-IT" dirty="0"/>
          </a:p>
        </p:txBody>
      </p:sp>
      <p:pic>
        <p:nvPicPr>
          <p:cNvPr id="4" name="Immagine 3">
            <a:extLst>
              <a:ext uri="{FF2B5EF4-FFF2-40B4-BE49-F238E27FC236}">
                <a16:creationId xmlns:a16="http://schemas.microsoft.com/office/drawing/2014/main" id="{CA972828-B319-48BB-9B24-BD6BB4678615}"/>
              </a:ext>
            </a:extLst>
          </p:cNvPr>
          <p:cNvPicPr/>
          <p:nvPr/>
        </p:nvPicPr>
        <p:blipFill>
          <a:blip r:embed="rId2">
            <a:extLst>
              <a:ext uri="{28A0092B-C50C-407E-A947-70E740481C1C}">
                <a14:useLocalDpi xmlns:a14="http://schemas.microsoft.com/office/drawing/2010/main" val="0"/>
              </a:ext>
            </a:extLst>
          </a:blip>
          <a:stretch>
            <a:fillRect/>
          </a:stretch>
        </p:blipFill>
        <p:spPr>
          <a:xfrm>
            <a:off x="378461" y="655282"/>
            <a:ext cx="4521898" cy="3251609"/>
          </a:xfrm>
          <a:prstGeom prst="rect">
            <a:avLst/>
          </a:prstGeom>
        </p:spPr>
      </p:pic>
      <p:sp>
        <p:nvSpPr>
          <p:cNvPr id="5" name="Rettangolo 4">
            <a:extLst>
              <a:ext uri="{FF2B5EF4-FFF2-40B4-BE49-F238E27FC236}">
                <a16:creationId xmlns:a16="http://schemas.microsoft.com/office/drawing/2014/main" id="{A58F2CA3-E78E-4C29-AA4B-A5F7F56BB697}"/>
              </a:ext>
            </a:extLst>
          </p:cNvPr>
          <p:cNvSpPr/>
          <p:nvPr/>
        </p:nvSpPr>
        <p:spPr>
          <a:xfrm>
            <a:off x="359512" y="4010586"/>
            <a:ext cx="4521898" cy="703334"/>
          </a:xfrm>
          <a:prstGeom prst="rect">
            <a:avLst/>
          </a:prstGeom>
        </p:spPr>
        <p:txBody>
          <a:bodyPr wrap="square">
            <a:spAutoFit/>
          </a:bodyPr>
          <a:lstStyle/>
          <a:p>
            <a:pPr lvl="0" algn="just">
              <a:lnSpc>
                <a:spcPct val="115000"/>
              </a:lnSpc>
              <a:spcBef>
                <a:spcPts val="500"/>
              </a:spcBef>
              <a:spcAft>
                <a:spcPts val="1000"/>
              </a:spcAft>
              <a:buSzPts val="1000"/>
              <a:tabLst>
                <a:tab pos="457200" algn="l"/>
              </a:tabLst>
            </a:pPr>
            <a:r>
              <a:rPr lang="en-IN" dirty="0">
                <a:latin typeface="Times New Roman" panose="02020603050405020304" pitchFamily="18" charset="0"/>
                <a:ea typeface="Times New Roman" panose="02020603050405020304" pitchFamily="18" charset="0"/>
                <a:cs typeface="Tahoma" panose="020B0604030504040204" pitchFamily="34" charset="0"/>
              </a:rPr>
              <a:t>Approximately </a:t>
            </a:r>
            <a:r>
              <a:rPr lang="en-IN" b="1" dirty="0">
                <a:latin typeface="Times New Roman" panose="02020603050405020304" pitchFamily="18" charset="0"/>
                <a:ea typeface="Times New Roman" panose="02020603050405020304" pitchFamily="18" charset="0"/>
                <a:cs typeface="Tahoma" panose="020B0604030504040204" pitchFamily="34" charset="0"/>
              </a:rPr>
              <a:t>20% of customers</a:t>
            </a:r>
            <a:r>
              <a:rPr lang="en-IN" dirty="0">
                <a:latin typeface="Times New Roman" panose="02020603050405020304" pitchFamily="18" charset="0"/>
                <a:ea typeface="Times New Roman" panose="02020603050405020304" pitchFamily="18" charset="0"/>
                <a:cs typeface="Tahoma" panose="020B0604030504040204" pitchFamily="34" charset="0"/>
              </a:rPr>
              <a:t> contribute to roughly </a:t>
            </a:r>
            <a:r>
              <a:rPr lang="en-IN" b="1" dirty="0">
                <a:latin typeface="Times New Roman" panose="02020603050405020304" pitchFamily="18" charset="0"/>
                <a:ea typeface="Times New Roman" panose="02020603050405020304" pitchFamily="18" charset="0"/>
                <a:cs typeface="Tahoma" panose="020B0604030504040204" pitchFamily="34" charset="0"/>
              </a:rPr>
              <a:t>80% of the total net revenue</a:t>
            </a:r>
            <a:r>
              <a:rPr lang="en-IN" dirty="0">
                <a:latin typeface="Times New Roman" panose="02020603050405020304" pitchFamily="18" charset="0"/>
                <a:ea typeface="Times New Roman" panose="02020603050405020304" pitchFamily="18" charset="0"/>
                <a:cs typeface="Tahoma" panose="020B0604030504040204" pitchFamily="34" charset="0"/>
              </a:rPr>
              <a:t>.</a:t>
            </a:r>
            <a:endParaRPr lang="it-IT" sz="1200" dirty="0">
              <a:effectLst/>
              <a:latin typeface="Century Gothic" panose="020B0502020202020204" pitchFamily="34" charset="0"/>
              <a:ea typeface="Times New Roman" panose="02020603050405020304" pitchFamily="18" charset="0"/>
              <a:cs typeface="Tahoma" panose="020B0604030504040204" pitchFamily="34" charset="0"/>
            </a:endParaRPr>
          </a:p>
        </p:txBody>
      </p:sp>
      <p:pic>
        <p:nvPicPr>
          <p:cNvPr id="6" name="Immagine 5">
            <a:extLst>
              <a:ext uri="{FF2B5EF4-FFF2-40B4-BE49-F238E27FC236}">
                <a16:creationId xmlns:a16="http://schemas.microsoft.com/office/drawing/2014/main" id="{59FCFF59-949F-4C91-B0E6-B86206EBCE2B}"/>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6881567" y="551586"/>
            <a:ext cx="4126970" cy="3355305"/>
          </a:xfrm>
          <a:prstGeom prst="rect">
            <a:avLst/>
          </a:prstGeom>
        </p:spPr>
      </p:pic>
    </p:spTree>
    <p:extLst>
      <p:ext uri="{BB962C8B-B14F-4D97-AF65-F5344CB8AC3E}">
        <p14:creationId xmlns:p14="http://schemas.microsoft.com/office/powerpoint/2010/main" val="3921826632"/>
      </p:ext>
    </p:extLst>
  </p:cSld>
  <p:clrMapOvr>
    <a:masterClrMapping/>
  </p:clrMapOvr>
</p:sld>
</file>

<file path=ppt/theme/theme1.xml><?xml version="1.0" encoding="utf-8"?>
<a:theme xmlns:a="http://schemas.openxmlformats.org/drawingml/2006/main" name="Fil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ilo">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ilo">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278</TotalTime>
  <Words>608</Words>
  <Application>Microsoft Office PowerPoint</Application>
  <PresentationFormat>Widescreen</PresentationFormat>
  <Paragraphs>57</Paragraphs>
  <Slides>7</Slides>
  <Notes>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7</vt:i4>
      </vt:variant>
    </vt:vector>
  </HeadingPairs>
  <TitlesOfParts>
    <vt:vector size="14" baseType="lpstr">
      <vt:lpstr>Arial</vt:lpstr>
      <vt:lpstr>Century Gothic</vt:lpstr>
      <vt:lpstr>Consolas</vt:lpstr>
      <vt:lpstr>Tahoma</vt:lpstr>
      <vt:lpstr>Times New Roman</vt:lpstr>
      <vt:lpstr>Wingdings 3</vt:lpstr>
      <vt:lpstr>Filo</vt:lpstr>
      <vt:lpstr>LuxeIntelligence: Technical Implementation &amp; Data Science Documentation </vt:lpstr>
      <vt:lpstr>Objective &amp; Data Foundation (Data Audit)</vt:lpstr>
      <vt:lpstr>Conversion Funnel Analysis</vt:lpstr>
      <vt:lpstr>Presentazione standard di PowerPoint</vt:lpstr>
      <vt:lpstr>RFM Analysis &amp; Segmentation</vt:lpstr>
      <vt:lpstr>KNN IMPLEMENTATION</vt:lpstr>
      <vt:lpstr>PRODUCT AFFINITY AND PRICING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LuxeIntelligence: Technical Implementation &amp; Data Science Documentation </dc:title>
  <dc:creator>Avinash, Patnaik</dc:creator>
  <cp:lastModifiedBy>Avinash, Patnaik</cp:lastModifiedBy>
  <cp:revision>26</cp:revision>
  <dcterms:created xsi:type="dcterms:W3CDTF">2026-03-02T18:21:56Z</dcterms:created>
  <dcterms:modified xsi:type="dcterms:W3CDTF">2026-03-03T12:02:20Z</dcterms:modified>
</cp:coreProperties>
</file>