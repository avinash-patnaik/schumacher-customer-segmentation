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725"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94329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it-IT"/>
              <a:t>Fare clic per modificare lo stile del titolo dello schema</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8358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464809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6715736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8733D1AA-C967-485F-9C0F-3A10FB3D7970}" type="datetimeFigureOut">
              <a:rPr lang="it-IT" smtClean="0"/>
              <a:t>03/03/2026</a:t>
            </a:fld>
            <a:endParaRPr lang="it-IT"/>
          </a:p>
        </p:txBody>
      </p:sp>
      <p:sp>
        <p:nvSpPr>
          <p:cNvPr id="8" name="Footer Placeholder 7"/>
          <p:cNvSpPr>
            <a:spLocks noGrp="1"/>
          </p:cNvSpPr>
          <p:nvPr>
            <p:ph type="ftr" sz="quarter" idx="11"/>
          </p:nvPr>
        </p:nvSpPr>
        <p:spPr/>
        <p:txBody>
          <a:bodyPr/>
          <a:lstStyle/>
          <a:p>
            <a:endParaRPr lang="it-IT"/>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95585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8733D1AA-C967-485F-9C0F-3A10FB3D7970}" type="datetimeFigureOut">
              <a:rPr lang="it-IT" smtClean="0"/>
              <a:t>03/03/2026</a:t>
            </a:fld>
            <a:endParaRPr lang="it-IT"/>
          </a:p>
        </p:txBody>
      </p:sp>
      <p:sp>
        <p:nvSpPr>
          <p:cNvPr id="4" name="Footer Placeholder 3"/>
          <p:cNvSpPr>
            <a:spLocks noGrp="1"/>
          </p:cNvSpPr>
          <p:nvPr>
            <p:ph type="ftr" sz="quarter" idx="11"/>
          </p:nvPr>
        </p:nvSpPr>
        <p:spPr/>
        <p:txBody>
          <a:bodyPr/>
          <a:lstStyle/>
          <a:p>
            <a:endParaRPr lang="it-IT"/>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807969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33D1AA-C967-485F-9C0F-3A10FB3D7970}" type="datetimeFigureOut">
              <a:rPr lang="it-IT" smtClean="0"/>
              <a:t>03/03/2026</a:t>
            </a:fld>
            <a:endParaRPr lang="it-IT"/>
          </a:p>
        </p:txBody>
      </p:sp>
      <p:sp>
        <p:nvSpPr>
          <p:cNvPr id="3" name="Footer Placeholder 2"/>
          <p:cNvSpPr>
            <a:spLocks noGrp="1"/>
          </p:cNvSpPr>
          <p:nvPr>
            <p:ph type="ftr" sz="quarter" idx="11"/>
          </p:nvPr>
        </p:nvSpPr>
        <p:spPr/>
        <p:txBody>
          <a:bodyPr/>
          <a:lstStyle/>
          <a:p>
            <a:endParaRPr lang="it-IT"/>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1483954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926211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56687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588906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35157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8346234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682844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03/03/2026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5405015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776972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03/03/2026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108179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733D1AA-C967-485F-9C0F-3A10FB3D7970}" type="datetimeFigureOut">
              <a:rPr lang="it-IT" smtClean="0"/>
              <a:t>03/03/2026</a:t>
            </a:fld>
            <a:endParaRPr lang="it-IT"/>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it-IT"/>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F7E1431-C1E0-41A9-B616-72E172E29B7F}" type="slidenum">
              <a:rPr lang="it-IT" smtClean="0"/>
              <a:t>‹N›</a:t>
            </a:fld>
            <a:endParaRPr lang="it-IT"/>
          </a:p>
        </p:txBody>
      </p:sp>
    </p:spTree>
    <p:extLst>
      <p:ext uri="{BB962C8B-B14F-4D97-AF65-F5344CB8AC3E}">
        <p14:creationId xmlns:p14="http://schemas.microsoft.com/office/powerpoint/2010/main" val="267678396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15F93F-1E59-4795-A782-7FBC48CE51A7}"/>
              </a:ext>
            </a:extLst>
          </p:cNvPr>
          <p:cNvSpPr>
            <a:spLocks noGrp="1"/>
          </p:cNvSpPr>
          <p:nvPr>
            <p:ph type="ctrTitle"/>
          </p:nvPr>
        </p:nvSpPr>
        <p:spPr>
          <a:xfrm>
            <a:off x="1057835" y="1878109"/>
            <a:ext cx="11286564" cy="2944905"/>
          </a:xfrm>
        </p:spPr>
        <p:txBody>
          <a:bodyPr>
            <a:normAutofit/>
          </a:bodyPr>
          <a:lstStyle/>
          <a:p>
            <a:r>
              <a:rPr lang="en-IN" sz="4000" b="1" dirty="0"/>
              <a:t>LuxeIntelligence: Technical Implementation &amp; Data Science Documentation</a:t>
            </a:r>
            <a:br>
              <a:rPr lang="it-IT" dirty="0"/>
            </a:br>
            <a:endParaRPr lang="it-IT" dirty="0"/>
          </a:p>
        </p:txBody>
      </p:sp>
      <p:pic>
        <p:nvPicPr>
          <p:cNvPr id="5" name="Immagine 4">
            <a:extLst>
              <a:ext uri="{FF2B5EF4-FFF2-40B4-BE49-F238E27FC236}">
                <a16:creationId xmlns:a16="http://schemas.microsoft.com/office/drawing/2014/main" id="{05AD469A-F7E3-40A2-9700-0F03804987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158" y="77008"/>
            <a:ext cx="2316723" cy="2056591"/>
          </a:xfrm>
          <a:prstGeom prst="rect">
            <a:avLst/>
          </a:prstGeom>
          <a:ln>
            <a:solidFill>
              <a:schemeClr val="bg1"/>
            </a:solidFill>
          </a:ln>
        </p:spPr>
      </p:pic>
    </p:spTree>
    <p:extLst>
      <p:ext uri="{BB962C8B-B14F-4D97-AF65-F5344CB8AC3E}">
        <p14:creationId xmlns:p14="http://schemas.microsoft.com/office/powerpoint/2010/main" val="633496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CA164D-326F-40BE-9102-1F1FDE9C5467}"/>
              </a:ext>
            </a:extLst>
          </p:cNvPr>
          <p:cNvSpPr>
            <a:spLocks noGrp="1"/>
          </p:cNvSpPr>
          <p:nvPr>
            <p:ph type="title"/>
          </p:nvPr>
        </p:nvSpPr>
        <p:spPr>
          <a:xfrm>
            <a:off x="2485349" y="104157"/>
            <a:ext cx="8911687" cy="720596"/>
          </a:xfrm>
        </p:spPr>
        <p:txBody>
          <a:bodyPr>
            <a:normAutofit/>
          </a:bodyPr>
          <a:lstStyle/>
          <a:p>
            <a:r>
              <a:rPr lang="en-US" sz="2800" dirty="0"/>
              <a:t>Objective &amp; Data Foundation (Data Audit)</a:t>
            </a:r>
            <a:endParaRPr lang="it-IT" sz="2800" dirty="0"/>
          </a:p>
        </p:txBody>
      </p:sp>
      <p:graphicFrame>
        <p:nvGraphicFramePr>
          <p:cNvPr id="8" name="Segnaposto contenuto 7">
            <a:extLst>
              <a:ext uri="{FF2B5EF4-FFF2-40B4-BE49-F238E27FC236}">
                <a16:creationId xmlns:a16="http://schemas.microsoft.com/office/drawing/2014/main" id="{D4BF77F2-B520-46B4-93CF-85144BFB34CF}"/>
              </a:ext>
            </a:extLst>
          </p:cNvPr>
          <p:cNvGraphicFramePr>
            <a:graphicFrameLocks noGrp="1"/>
          </p:cNvGraphicFramePr>
          <p:nvPr>
            <p:ph idx="1"/>
            <p:extLst>
              <p:ext uri="{D42A27DB-BD31-4B8C-83A1-F6EECF244321}">
                <p14:modId xmlns:p14="http://schemas.microsoft.com/office/powerpoint/2010/main" val="3217136552"/>
              </p:ext>
            </p:extLst>
          </p:nvPr>
        </p:nvGraphicFramePr>
        <p:xfrm>
          <a:off x="1352083" y="2672180"/>
          <a:ext cx="4026741" cy="3070388"/>
        </p:xfrm>
        <a:graphic>
          <a:graphicData uri="http://schemas.openxmlformats.org/drawingml/2006/table">
            <a:tbl>
              <a:tblPr firstRow="1" firstCol="1" bandRow="1">
                <a:tableStyleId>{5C22544A-7EE6-4342-B048-85BDC9FD1C3A}</a:tableStyleId>
              </a:tblPr>
              <a:tblGrid>
                <a:gridCol w="1717604">
                  <a:extLst>
                    <a:ext uri="{9D8B030D-6E8A-4147-A177-3AD203B41FA5}">
                      <a16:colId xmlns:a16="http://schemas.microsoft.com/office/drawing/2014/main" val="3785856914"/>
                    </a:ext>
                  </a:extLst>
                </a:gridCol>
                <a:gridCol w="1039805">
                  <a:extLst>
                    <a:ext uri="{9D8B030D-6E8A-4147-A177-3AD203B41FA5}">
                      <a16:colId xmlns:a16="http://schemas.microsoft.com/office/drawing/2014/main" val="343277957"/>
                    </a:ext>
                  </a:extLst>
                </a:gridCol>
                <a:gridCol w="1269332">
                  <a:extLst>
                    <a:ext uri="{9D8B030D-6E8A-4147-A177-3AD203B41FA5}">
                      <a16:colId xmlns:a16="http://schemas.microsoft.com/office/drawing/2014/main" val="4066742544"/>
                    </a:ext>
                  </a:extLst>
                </a:gridCol>
              </a:tblGrid>
              <a:tr h="1039136">
                <a:tc>
                  <a:txBody>
                    <a:bodyPr/>
                    <a:lstStyle/>
                    <a:p>
                      <a:pPr algn="ctr">
                        <a:lnSpc>
                          <a:spcPct val="115000"/>
                        </a:lnSpc>
                        <a:spcBef>
                          <a:spcPts val="500"/>
                        </a:spcBef>
                        <a:spcAft>
                          <a:spcPts val="0"/>
                        </a:spcAft>
                      </a:pPr>
                      <a:r>
                        <a:rPr lang="it-IT" sz="1200" dirty="0" err="1">
                          <a:effectLst/>
                        </a:rPr>
                        <a:t>Table</a:t>
                      </a:r>
                      <a:endParaRPr lang="it-IT" sz="100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Row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Column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18618129"/>
                  </a:ext>
                </a:extLst>
              </a:tr>
              <a:tr h="496058">
                <a:tc>
                  <a:txBody>
                    <a:bodyPr/>
                    <a:lstStyle/>
                    <a:p>
                      <a:pPr algn="ctr">
                        <a:lnSpc>
                          <a:spcPct val="115000"/>
                        </a:lnSpc>
                        <a:spcBef>
                          <a:spcPts val="500"/>
                        </a:spcBef>
                        <a:spcAft>
                          <a:spcPts val="0"/>
                        </a:spcAft>
                      </a:pPr>
                      <a:r>
                        <a:rPr lang="it-IT" sz="1200">
                          <a:effectLst/>
                        </a:rPr>
                        <a:t>Transactions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1,983,549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06270321"/>
                  </a:ext>
                </a:extLst>
              </a:tr>
              <a:tr h="496058">
                <a:tc>
                  <a:txBody>
                    <a:bodyPr/>
                    <a:lstStyle/>
                    <a:p>
                      <a:pPr algn="ctr">
                        <a:lnSpc>
                          <a:spcPct val="115000"/>
                        </a:lnSpc>
                        <a:spcBef>
                          <a:spcPts val="500"/>
                        </a:spcBef>
                        <a:spcAft>
                          <a:spcPts val="0"/>
                        </a:spcAft>
                      </a:pPr>
                      <a:r>
                        <a:rPr lang="it-IT" sz="1200">
                          <a:effectLst/>
                        </a:rPr>
                        <a:t>Item_master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16,064</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10</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333876139"/>
                  </a:ext>
                </a:extLst>
              </a:tr>
              <a:tr h="1039136">
                <a:tc>
                  <a:txBody>
                    <a:bodyPr/>
                    <a:lstStyle/>
                    <a:p>
                      <a:pPr algn="ctr">
                        <a:lnSpc>
                          <a:spcPct val="115000"/>
                        </a:lnSpc>
                        <a:spcBef>
                          <a:spcPts val="500"/>
                        </a:spcBef>
                        <a:spcAft>
                          <a:spcPts val="0"/>
                        </a:spcAft>
                      </a:pPr>
                      <a:r>
                        <a:rPr lang="it-IT" sz="1200">
                          <a:effectLst/>
                        </a:rPr>
                        <a:t>Customer_master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29,691</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4</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794934798"/>
                  </a:ext>
                </a:extLst>
              </a:tr>
            </a:tbl>
          </a:graphicData>
        </a:graphic>
      </p:graphicFrame>
      <p:sp>
        <p:nvSpPr>
          <p:cNvPr id="7" name="Segnaposto contenuto 2">
            <a:extLst>
              <a:ext uri="{FF2B5EF4-FFF2-40B4-BE49-F238E27FC236}">
                <a16:creationId xmlns:a16="http://schemas.microsoft.com/office/drawing/2014/main" id="{8A73DBA8-E660-45CB-B2DF-3C814751B9A0}"/>
              </a:ext>
            </a:extLst>
          </p:cNvPr>
          <p:cNvSpPr txBox="1">
            <a:spLocks/>
          </p:cNvSpPr>
          <p:nvPr/>
        </p:nvSpPr>
        <p:spPr>
          <a:xfrm>
            <a:off x="1674812" y="757518"/>
            <a:ext cx="10311000" cy="1470212"/>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9pPr>
          </a:lstStyle>
          <a:p>
            <a:pPr algn="just"/>
            <a:r>
              <a:rPr lang="en-IN" dirty="0">
                <a:solidFill>
                  <a:schemeClr val="tx1"/>
                </a:solidFill>
              </a:rPr>
              <a:t>Objective:  To transform high-volume transactional and behavioural data into a </a:t>
            </a:r>
            <a:r>
              <a:rPr lang="en-IN" b="1" dirty="0">
                <a:solidFill>
                  <a:schemeClr val="tx1"/>
                </a:solidFill>
              </a:rPr>
              <a:t>360 Designer Intelligence Suite</a:t>
            </a:r>
            <a:r>
              <a:rPr lang="en-IN" dirty="0">
                <a:solidFill>
                  <a:schemeClr val="tx1"/>
                </a:solidFill>
              </a:rPr>
              <a:t>. By bridging the gap between sample intent and purchase reality, this project aims to optimize conversion velocity, personalize the luxury customer journey, and provide the sales team with predictive tools to drive measurable revenue growth.</a:t>
            </a:r>
            <a:endParaRPr lang="it-IT" dirty="0">
              <a:solidFill>
                <a:schemeClr val="tx1"/>
              </a:solidFill>
            </a:endParaRPr>
          </a:p>
          <a:p>
            <a:endParaRPr lang="it-IT" dirty="0"/>
          </a:p>
        </p:txBody>
      </p:sp>
      <p:pic>
        <p:nvPicPr>
          <p:cNvPr id="9" name="Immagine 8">
            <a:extLst>
              <a:ext uri="{FF2B5EF4-FFF2-40B4-BE49-F238E27FC236}">
                <a16:creationId xmlns:a16="http://schemas.microsoft.com/office/drawing/2014/main" id="{59621943-C8A9-4E94-A3FF-3EA0BAC36EAE}"/>
              </a:ext>
            </a:extLst>
          </p:cNvPr>
          <p:cNvPicPr/>
          <p:nvPr/>
        </p:nvPicPr>
        <p:blipFill>
          <a:blip r:embed="rId2">
            <a:extLst>
              <a:ext uri="{28A0092B-C50C-407E-A947-70E740481C1C}">
                <a14:useLocalDpi xmlns:a14="http://schemas.microsoft.com/office/drawing/2010/main" val="0"/>
              </a:ext>
            </a:extLst>
          </a:blip>
          <a:stretch>
            <a:fillRect/>
          </a:stretch>
        </p:blipFill>
        <p:spPr>
          <a:xfrm>
            <a:off x="5624382" y="2672180"/>
            <a:ext cx="6361430" cy="3140710"/>
          </a:xfrm>
          <a:prstGeom prst="rect">
            <a:avLst/>
          </a:prstGeom>
        </p:spPr>
      </p:pic>
    </p:spTree>
    <p:extLst>
      <p:ext uri="{BB962C8B-B14F-4D97-AF65-F5344CB8AC3E}">
        <p14:creationId xmlns:p14="http://schemas.microsoft.com/office/powerpoint/2010/main" val="760906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BFE241B-E8D6-4863-9E93-CF5DFF8A865B}"/>
              </a:ext>
            </a:extLst>
          </p:cNvPr>
          <p:cNvSpPr>
            <a:spLocks noGrp="1"/>
          </p:cNvSpPr>
          <p:nvPr>
            <p:ph type="title"/>
          </p:nvPr>
        </p:nvSpPr>
        <p:spPr>
          <a:xfrm>
            <a:off x="3695585" y="8965"/>
            <a:ext cx="7295145" cy="627529"/>
          </a:xfrm>
        </p:spPr>
        <p:txBody>
          <a:bodyPr>
            <a:normAutofit/>
          </a:bodyPr>
          <a:lstStyle/>
          <a:p>
            <a:r>
              <a:rPr lang="en-IN" sz="2800" dirty="0"/>
              <a:t>Conversion Funnel Analysis</a:t>
            </a:r>
            <a:endParaRPr lang="it-IT" sz="2800" dirty="0"/>
          </a:p>
        </p:txBody>
      </p:sp>
      <p:pic>
        <p:nvPicPr>
          <p:cNvPr id="4" name="Segnaposto contenuto 3">
            <a:extLst>
              <a:ext uri="{FF2B5EF4-FFF2-40B4-BE49-F238E27FC236}">
                <a16:creationId xmlns:a16="http://schemas.microsoft.com/office/drawing/2014/main" id="{761BC9EC-E744-43FF-9D13-831223EB1DD1}"/>
              </a:ext>
            </a:extLst>
          </p:cNvPr>
          <p:cNvPicPr>
            <a:picLocks noGrp="1"/>
          </p:cNvPicPr>
          <p:nvPr>
            <p:ph idx="1"/>
          </p:nvPr>
        </p:nvPicPr>
        <p:blipFill>
          <a:blip r:embed="rId2" cstate="print">
            <a:extLst>
              <a:ext uri="{28A0092B-C50C-407E-A947-70E740481C1C}">
                <a14:useLocalDpi xmlns:a14="http://schemas.microsoft.com/office/drawing/2010/main" val="0"/>
              </a:ext>
            </a:extLst>
          </a:blip>
          <a:stretch>
            <a:fillRect/>
          </a:stretch>
        </p:blipFill>
        <p:spPr>
          <a:xfrm>
            <a:off x="190889" y="512484"/>
            <a:ext cx="6034821" cy="2723775"/>
          </a:xfrm>
          <a:prstGeom prst="rect">
            <a:avLst/>
          </a:prstGeom>
        </p:spPr>
      </p:pic>
      <p:pic>
        <p:nvPicPr>
          <p:cNvPr id="5" name="Immagine 4">
            <a:extLst>
              <a:ext uri="{FF2B5EF4-FFF2-40B4-BE49-F238E27FC236}">
                <a16:creationId xmlns:a16="http://schemas.microsoft.com/office/drawing/2014/main" id="{D7C1497A-3324-4616-B0FF-1B78C6A40D67}"/>
              </a:ext>
            </a:extLst>
          </p:cNvPr>
          <p:cNvPicPr/>
          <p:nvPr/>
        </p:nvPicPr>
        <p:blipFill>
          <a:blip r:embed="rId3">
            <a:extLst>
              <a:ext uri="{28A0092B-C50C-407E-A947-70E740481C1C}">
                <a14:useLocalDpi xmlns:a14="http://schemas.microsoft.com/office/drawing/2010/main" val="0"/>
              </a:ext>
            </a:extLst>
          </a:blip>
          <a:stretch>
            <a:fillRect/>
          </a:stretch>
        </p:blipFill>
        <p:spPr>
          <a:xfrm>
            <a:off x="166629" y="4239346"/>
            <a:ext cx="6083342" cy="2274575"/>
          </a:xfrm>
          <a:prstGeom prst="rect">
            <a:avLst/>
          </a:prstGeom>
        </p:spPr>
      </p:pic>
      <p:pic>
        <p:nvPicPr>
          <p:cNvPr id="6" name="Immagine 5">
            <a:extLst>
              <a:ext uri="{FF2B5EF4-FFF2-40B4-BE49-F238E27FC236}">
                <a16:creationId xmlns:a16="http://schemas.microsoft.com/office/drawing/2014/main" id="{63CE051E-D2CE-4241-BF57-23875F634AC6}"/>
              </a:ext>
            </a:extLst>
          </p:cNvPr>
          <p:cNvPicPr/>
          <p:nvPr/>
        </p:nvPicPr>
        <p:blipFill>
          <a:blip r:embed="rId4">
            <a:extLst>
              <a:ext uri="{28A0092B-C50C-407E-A947-70E740481C1C}">
                <a14:useLocalDpi xmlns:a14="http://schemas.microsoft.com/office/drawing/2010/main" val="0"/>
              </a:ext>
            </a:extLst>
          </a:blip>
          <a:stretch>
            <a:fillRect/>
          </a:stretch>
        </p:blipFill>
        <p:spPr>
          <a:xfrm>
            <a:off x="6646282" y="1197204"/>
            <a:ext cx="4704144" cy="3415921"/>
          </a:xfrm>
          <a:prstGeom prst="rect">
            <a:avLst/>
          </a:prstGeom>
        </p:spPr>
      </p:pic>
      <p:sp>
        <p:nvSpPr>
          <p:cNvPr id="7" name="CasellaDiTesto 6">
            <a:extLst>
              <a:ext uri="{FF2B5EF4-FFF2-40B4-BE49-F238E27FC236}">
                <a16:creationId xmlns:a16="http://schemas.microsoft.com/office/drawing/2014/main" id="{881A1B7E-BD0C-4EA6-80A1-617ADC421F1A}"/>
              </a:ext>
            </a:extLst>
          </p:cNvPr>
          <p:cNvSpPr txBox="1"/>
          <p:nvPr/>
        </p:nvSpPr>
        <p:spPr>
          <a:xfrm>
            <a:off x="166629" y="3236259"/>
            <a:ext cx="6131861" cy="1200329"/>
          </a:xfrm>
          <a:prstGeom prst="rect">
            <a:avLst/>
          </a:prstGeom>
          <a:noFill/>
        </p:spPr>
        <p:txBody>
          <a:bodyPr wrap="square" rtlCol="0">
            <a:spAutoFit/>
          </a:bodyPr>
          <a:lstStyle/>
          <a:p>
            <a:r>
              <a:rPr lang="en-IN" b="1" dirty="0"/>
              <a:t>"</a:t>
            </a:r>
            <a:r>
              <a:rPr lang="en-IN" b="1" dirty="0">
                <a:highlight>
                  <a:srgbClr val="FFFF00"/>
                </a:highlight>
              </a:rPr>
              <a:t>Halo Effect</a:t>
            </a:r>
            <a:r>
              <a:rPr lang="en-IN" b="1" dirty="0"/>
              <a:t>"</a:t>
            </a:r>
            <a:r>
              <a:rPr lang="en-IN" dirty="0"/>
              <a:t> : </a:t>
            </a:r>
            <a:r>
              <a:rPr lang="en-IN" sz="1200" dirty="0"/>
              <a:t>a sample request is a high-intent signal that a design project is active. Even if the specific sampled SKU is not selected (conversion at the item level), the account remains highly likely to purchase an alternative product from the brand (conversion at the account level).</a:t>
            </a:r>
            <a:endParaRPr lang="it-IT" sz="1200" dirty="0"/>
          </a:p>
          <a:p>
            <a:endParaRPr lang="it-IT" dirty="0"/>
          </a:p>
        </p:txBody>
      </p:sp>
      <p:sp>
        <p:nvSpPr>
          <p:cNvPr id="8" name="CasellaDiTesto 7">
            <a:extLst>
              <a:ext uri="{FF2B5EF4-FFF2-40B4-BE49-F238E27FC236}">
                <a16:creationId xmlns:a16="http://schemas.microsoft.com/office/drawing/2014/main" id="{55F6E9DD-CABE-4D29-8E3B-EDD9CA1475E8}"/>
              </a:ext>
            </a:extLst>
          </p:cNvPr>
          <p:cNvSpPr txBox="1"/>
          <p:nvPr/>
        </p:nvSpPr>
        <p:spPr>
          <a:xfrm>
            <a:off x="7212280" y="4822070"/>
            <a:ext cx="4567341" cy="923330"/>
          </a:xfrm>
          <a:prstGeom prst="rect">
            <a:avLst/>
          </a:prstGeom>
          <a:noFill/>
        </p:spPr>
        <p:txBody>
          <a:bodyPr wrap="square" rtlCol="0">
            <a:spAutoFit/>
          </a:bodyPr>
          <a:lstStyle/>
          <a:p>
            <a:r>
              <a:rPr lang="en-IN" dirty="0"/>
              <a:t>On average, a new account requires approximately </a:t>
            </a:r>
            <a:r>
              <a:rPr lang="en-IN" b="1" dirty="0"/>
              <a:t>37 samples</a:t>
            </a:r>
            <a:r>
              <a:rPr lang="en-IN" dirty="0"/>
              <a:t> to convert into the successful transaction.</a:t>
            </a:r>
            <a:endParaRPr lang="it-IT" dirty="0"/>
          </a:p>
        </p:txBody>
      </p:sp>
    </p:spTree>
    <p:extLst>
      <p:ext uri="{BB962C8B-B14F-4D97-AF65-F5344CB8AC3E}">
        <p14:creationId xmlns:p14="http://schemas.microsoft.com/office/powerpoint/2010/main" val="1855487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B110D968-F8CA-482B-8AA6-67F6A3E8155A}"/>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08960" y="0"/>
            <a:ext cx="6031584" cy="3346514"/>
          </a:xfrm>
          <a:prstGeom prst="rect">
            <a:avLst/>
          </a:prstGeom>
        </p:spPr>
      </p:pic>
      <p:pic>
        <p:nvPicPr>
          <p:cNvPr id="5" name="Immagine 4">
            <a:extLst>
              <a:ext uri="{FF2B5EF4-FFF2-40B4-BE49-F238E27FC236}">
                <a16:creationId xmlns:a16="http://schemas.microsoft.com/office/drawing/2014/main" id="{50323886-BE5F-4078-83FF-61DF3DF8241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6160416" y="-1"/>
            <a:ext cx="6031584" cy="3346514"/>
          </a:xfrm>
          <a:prstGeom prst="rect">
            <a:avLst/>
          </a:prstGeom>
        </p:spPr>
      </p:pic>
      <p:sp>
        <p:nvSpPr>
          <p:cNvPr id="2" name="CasellaDiTesto 1">
            <a:extLst>
              <a:ext uri="{FF2B5EF4-FFF2-40B4-BE49-F238E27FC236}">
                <a16:creationId xmlns:a16="http://schemas.microsoft.com/office/drawing/2014/main" id="{839153FA-E063-4F01-B560-83185737B7B3}"/>
              </a:ext>
            </a:extLst>
          </p:cNvPr>
          <p:cNvSpPr txBox="1"/>
          <p:nvPr/>
        </p:nvSpPr>
        <p:spPr>
          <a:xfrm>
            <a:off x="650449" y="3429000"/>
            <a:ext cx="11019935" cy="3179190"/>
          </a:xfrm>
          <a:prstGeom prst="rect">
            <a:avLst/>
          </a:prstGeom>
          <a:noFill/>
        </p:spPr>
        <p:txBody>
          <a:bodyPr wrap="square" rtlCol="0">
            <a:spAutoFit/>
          </a:bodyPr>
          <a:lstStyle/>
          <a:p>
            <a:r>
              <a:rPr lang="en-US" b="1" dirty="0"/>
              <a:t>Channel Efficiency &amp; Sales Velocity</a:t>
            </a:r>
            <a:endParaRPr lang="en-US" dirty="0"/>
          </a:p>
          <a:p>
            <a:r>
              <a:rPr lang="en-US" b="1" dirty="0"/>
              <a:t>Key Finding:</a:t>
            </a:r>
            <a:r>
              <a:rPr lang="en-US" dirty="0"/>
              <a:t> There is a strong correlation between </a:t>
            </a:r>
            <a:r>
              <a:rPr lang="en-US" b="1" dirty="0"/>
              <a:t>Human Interaction</a:t>
            </a:r>
            <a:r>
              <a:rPr lang="en-US" dirty="0"/>
              <a:t> and both </a:t>
            </a:r>
            <a:r>
              <a:rPr lang="en-US" b="1" dirty="0"/>
              <a:t>Speed</a:t>
            </a:r>
            <a:r>
              <a:rPr lang="en-US" dirty="0"/>
              <a:t> and </a:t>
            </a:r>
            <a:r>
              <a:rPr lang="en-US" b="1" dirty="0"/>
              <a:t>Probability</a:t>
            </a:r>
            <a:r>
              <a:rPr lang="en-US" dirty="0"/>
              <a:t> of sale.</a:t>
            </a:r>
          </a:p>
          <a:p>
            <a:r>
              <a:rPr lang="en-US" b="1" dirty="0"/>
              <a:t>Showroom Strength:</a:t>
            </a:r>
            <a:r>
              <a:rPr lang="en-US" dirty="0"/>
              <a:t> The Showroom is our most efficient channel, converting nearly </a:t>
            </a:r>
            <a:r>
              <a:rPr lang="en-US" b="1" dirty="0"/>
              <a:t>1 in 5 leads</a:t>
            </a:r>
            <a:r>
              <a:rPr lang="en-US" dirty="0"/>
              <a:t> in just </a:t>
            </a:r>
            <a:r>
              <a:rPr lang="en-US" b="1" dirty="0"/>
              <a:t>44 days</a:t>
            </a:r>
            <a:r>
              <a:rPr lang="en-US" dirty="0"/>
              <a:t>.</a:t>
            </a:r>
          </a:p>
          <a:p>
            <a:r>
              <a:rPr lang="en-US" b="1" dirty="0"/>
              <a:t>The Web Gap:</a:t>
            </a:r>
            <a:r>
              <a:rPr lang="en-US" dirty="0"/>
              <a:t> Web leads have the lowest conversion (13.6%) and take nearly a week longer to close than showroom leads. This represents a significant opportunity to implement digital "White Glove" services to close the gap.</a:t>
            </a:r>
          </a:p>
          <a:p>
            <a:r>
              <a:rPr lang="en-US" b="1" dirty="0"/>
              <a:t>Customer Commitment:</a:t>
            </a:r>
            <a:r>
              <a:rPr lang="en-US" dirty="0"/>
              <a:t> On average, a successful sale is preceded by </a:t>
            </a:r>
            <a:r>
              <a:rPr lang="en-US" b="1" dirty="0"/>
              <a:t>2.5 unique samples</a:t>
            </a:r>
            <a:r>
              <a:rPr lang="en-US" dirty="0"/>
              <a:t>, suggesting that our customers have a high degree of focus once they start the sampling process.</a:t>
            </a:r>
          </a:p>
          <a:p>
            <a:endParaRPr lang="it-IT" dirty="0"/>
          </a:p>
        </p:txBody>
      </p:sp>
    </p:spTree>
    <p:extLst>
      <p:ext uri="{BB962C8B-B14F-4D97-AF65-F5344CB8AC3E}">
        <p14:creationId xmlns:p14="http://schemas.microsoft.com/office/powerpoint/2010/main" val="21027117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548E83-732D-4952-BFA9-E9651FE2AEBE}"/>
              </a:ext>
            </a:extLst>
          </p:cNvPr>
          <p:cNvSpPr>
            <a:spLocks noGrp="1"/>
          </p:cNvSpPr>
          <p:nvPr>
            <p:ph type="title"/>
          </p:nvPr>
        </p:nvSpPr>
        <p:spPr/>
        <p:txBody>
          <a:bodyPr/>
          <a:lstStyle/>
          <a:p>
            <a:endParaRPr lang="it-IT"/>
          </a:p>
        </p:txBody>
      </p:sp>
      <p:sp>
        <p:nvSpPr>
          <p:cNvPr id="3" name="Segnaposto contenuto 2">
            <a:extLst>
              <a:ext uri="{FF2B5EF4-FFF2-40B4-BE49-F238E27FC236}">
                <a16:creationId xmlns:a16="http://schemas.microsoft.com/office/drawing/2014/main" id="{DCBE29C5-50A3-4E21-B036-BC8A3FAD9003}"/>
              </a:ext>
            </a:extLst>
          </p:cNvPr>
          <p:cNvSpPr>
            <a:spLocks noGrp="1"/>
          </p:cNvSpPr>
          <p:nvPr>
            <p:ph idx="1"/>
          </p:nvPr>
        </p:nvSpPr>
        <p:spPr/>
        <p:txBody>
          <a:bodyPr/>
          <a:lstStyle/>
          <a:p>
            <a:endParaRPr lang="it-IT"/>
          </a:p>
        </p:txBody>
      </p:sp>
    </p:spTree>
    <p:extLst>
      <p:ext uri="{BB962C8B-B14F-4D97-AF65-F5344CB8AC3E}">
        <p14:creationId xmlns:p14="http://schemas.microsoft.com/office/powerpoint/2010/main" val="3869347827"/>
      </p:ext>
    </p:extLst>
  </p:cSld>
  <p:clrMapOvr>
    <a:masterClrMapping/>
  </p:clrMapOvr>
</p:sld>
</file>

<file path=ppt/theme/theme1.xml><?xml version="1.0" encoding="utf-8"?>
<a:theme xmlns:a="http://schemas.openxmlformats.org/drawingml/2006/main" name="Fil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ilo">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Filo">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171</TotalTime>
  <Words>288</Words>
  <Application>Microsoft Office PowerPoint</Application>
  <PresentationFormat>Widescreen</PresentationFormat>
  <Paragraphs>23</Paragraphs>
  <Slides>5</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vt:i4>
      </vt:variant>
    </vt:vector>
  </HeadingPairs>
  <TitlesOfParts>
    <vt:vector size="11" baseType="lpstr">
      <vt:lpstr>Arial</vt:lpstr>
      <vt:lpstr>Century Gothic</vt:lpstr>
      <vt:lpstr>Tahoma</vt:lpstr>
      <vt:lpstr>Times New Roman</vt:lpstr>
      <vt:lpstr>Wingdings 3</vt:lpstr>
      <vt:lpstr>Filo</vt:lpstr>
      <vt:lpstr>LuxeIntelligence: Technical Implementation &amp; Data Science Documentation </vt:lpstr>
      <vt:lpstr>Objective &amp; Data Foundation (Data Audit)</vt:lpstr>
      <vt:lpstr>Conversion Funnel Analysis</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LuxeIntelligence: Technical Implementation &amp; Data Science Documentation </dc:title>
  <dc:creator>Avinash, Patnaik</dc:creator>
  <cp:lastModifiedBy>Avinash, Patnaik</cp:lastModifiedBy>
  <cp:revision>13</cp:revision>
  <dcterms:created xsi:type="dcterms:W3CDTF">2026-03-02T18:21:56Z</dcterms:created>
  <dcterms:modified xsi:type="dcterms:W3CDTF">2026-03-03T10:08:50Z</dcterms:modified>
</cp:coreProperties>
</file>